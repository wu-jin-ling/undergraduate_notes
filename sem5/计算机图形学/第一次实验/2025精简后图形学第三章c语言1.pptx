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382" r:id="rId5"/>
    <p:sldId id="390" r:id="rId6"/>
    <p:sldId id="389" r:id="rId7"/>
    <p:sldId id="391" r:id="rId8"/>
    <p:sldId id="392" r:id="rId9"/>
    <p:sldId id="393" r:id="rId10"/>
    <p:sldId id="394" r:id="rId11"/>
    <p:sldId id="257" r:id="rId12"/>
    <p:sldId id="258" r:id="rId13"/>
    <p:sldId id="259" r:id="rId14"/>
    <p:sldId id="260" r:id="rId15"/>
    <p:sldId id="263" r:id="rId16"/>
    <p:sldId id="265" r:id="rId17"/>
    <p:sldId id="312" r:id="rId18"/>
    <p:sldId id="313" r:id="rId19"/>
    <p:sldId id="311" r:id="rId20"/>
    <p:sldId id="266" r:id="rId21"/>
    <p:sldId id="269" r:id="rId22"/>
    <p:sldId id="270" r:id="rId23"/>
    <p:sldId id="314" r:id="rId24"/>
    <p:sldId id="319" r:id="rId25"/>
    <p:sldId id="315" r:id="rId26"/>
    <p:sldId id="339" r:id="rId27"/>
    <p:sldId id="338" r:id="rId28"/>
    <p:sldId id="340" r:id="rId29"/>
    <p:sldId id="341" r:id="rId30"/>
    <p:sldId id="343" r:id="rId31"/>
    <p:sldId id="344" r:id="rId32"/>
    <p:sldId id="325" r:id="rId33"/>
    <p:sldId id="347" r:id="rId34"/>
    <p:sldId id="326" r:id="rId35"/>
    <p:sldId id="383" r:id="rId36"/>
    <p:sldId id="384" r:id="rId37"/>
    <p:sldId id="386" r:id="rId38"/>
    <p:sldId id="331" r:id="rId39"/>
    <p:sldId id="345" r:id="rId40"/>
    <p:sldId id="387" r:id="rId41"/>
    <p:sldId id="337" r:id="rId42"/>
    <p:sldId id="327" r:id="rId43"/>
    <p:sldId id="267" r:id="rId44"/>
    <p:sldId id="317" r:id="rId45"/>
    <p:sldId id="268" r:id="rId46"/>
    <p:sldId id="318" r:id="rId47"/>
    <p:sldId id="273" r:id="rId48"/>
    <p:sldId id="274" r:id="rId49"/>
    <p:sldId id="288" r:id="rId50"/>
    <p:sldId id="289" r:id="rId51"/>
    <p:sldId id="280" r:id="rId52"/>
    <p:sldId id="281" r:id="rId53"/>
    <p:sldId id="320" r:id="rId54"/>
    <p:sldId id="321" r:id="rId55"/>
    <p:sldId id="334" r:id="rId56"/>
    <p:sldId id="282" r:id="rId57"/>
    <p:sldId id="329" r:id="rId58"/>
    <p:sldId id="306" r:id="rId59"/>
    <p:sldId id="336" r:id="rId60"/>
    <p:sldId id="304" r:id="rId61"/>
    <p:sldId id="307" r:id="rId62"/>
    <p:sldId id="333" r:id="rId63"/>
    <p:sldId id="286" r:id="rId64"/>
    <p:sldId id="300" r:id="rId65"/>
    <p:sldId id="335" r:id="rId66"/>
    <p:sldId id="301" r:id="rId67"/>
    <p:sldId id="297" r:id="rId68"/>
    <p:sldId id="298" r:id="rId69"/>
    <p:sldId id="346" r:id="rId70"/>
  </p:sldIdLst>
  <p:sldSz cx="9144000" cy="6858000" type="screen4x3"/>
  <p:notesSz cx="6858000" cy="9144000"/>
  <p:custDataLst>
    <p:tags r:id="rId7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FF"/>
    <a:srgbClr val="FFFF66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4"/>
    <p:restoredTop sz="94669"/>
  </p:normalViewPr>
  <p:slideViewPr>
    <p:cSldViewPr showGuides="1">
      <p:cViewPr varScale="1">
        <p:scale>
          <a:sx n="69" d="100"/>
          <a:sy n="69" d="100"/>
        </p:scale>
        <p:origin x="-198" y="-90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4" Type="http://schemas.openxmlformats.org/officeDocument/2006/relationships/tags" Target="tags/tag4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7522" name="任意多边形 107521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7523" name="标题 107522"/>
          <p:cNvSpPr>
            <a:spLocks noGrp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prstGeom prst="rect">
            <a:avLst/>
          </a:prstGeom>
          <a:noFill/>
          <a:ln w="9525"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 anchor="b" anchorCtr="0"/>
          <a:lstStyle>
            <a:lvl1pPr lvl="0">
              <a:buClrTx/>
              <a:buSzTx/>
              <a:buFontTx/>
              <a:defRPr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7524" name="副标题 107523"/>
          <p:cNvSpPr>
            <a:spLocks noGrp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914400" lvl="2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371600" lvl="3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1828800" lvl="4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7525" name="日期占位符 107524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400">
                <a:latin typeface="Comic Sans MS" panose="030F0702030302020204" pitchFamily="66" charset="0"/>
              </a:defRPr>
            </a:lvl1pPr>
          </a:lstStyle>
          <a:p>
            <a:fld id="{BB962C8B-B14F-4D97-AF65-F5344CB8AC3E}" type="datetime1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26" name="页脚占位符 10752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>
                <a:latin typeface="Comic Sans MS" panose="030F0702030302020204" pitchFamily="66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07527" name="灯片编号占位符 10752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>
                <a:latin typeface="Comic Sans MS" panose="030F0702030302020204" pitchFamily="66" charset="0"/>
              </a:defRPr>
            </a:lvl1pPr>
          </a:lstStyle>
          <a:p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7528" name="组合 107527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107529" name="任意多边形 107528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30" name="任意多边形 107529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31" name="任意多边形 107530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7532" name="组合 107531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7533" name="任意多边形 107532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4" name="任意多边形 107533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5" name="任意多边形 107534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6" name="任意多边形 107535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7" name="任意多边形 107536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107538" name="组合 107537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107539" name="任意多边形 107538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40" name="任意多边形 107539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41" name="任意多边形 107540"/>
            <p:cNvSpPr/>
            <p:nvPr userDrawn="1"/>
          </p:nvSpPr>
          <p:spPr>
            <a:xfrm rot="7320404">
              <a:off x="4999" y="2912"/>
              <a:ext cx="416" cy="265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7542" name="组合 107541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107543" name="任意多边形 107542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4" name="任意多边形 107543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5" name="任意多边形 107544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6" name="任意多边形 107545"/>
              <p:cNvSpPr/>
              <p:nvPr userDrawn="1"/>
            </p:nvSpPr>
            <p:spPr>
              <a:xfrm rot="7320404">
                <a:off x="5363" y="2873"/>
                <a:ext cx="63" cy="118"/>
              </a:xfrm>
              <a:custGeom>
                <a:avLst/>
                <a:gdLst/>
                <a:ahLst/>
                <a:cxnLst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7" name="任意多边形 107546"/>
              <p:cNvSpPr/>
              <p:nvPr userDrawn="1"/>
            </p:nvSpPr>
            <p:spPr>
              <a:xfrm rot="7320404">
                <a:off x="5136" y="2999"/>
                <a:ext cx="193" cy="104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7548" name="任意多边形 107547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7549" name="任意多边形 107548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138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862" y="1828800"/>
            <a:ext cx="3771138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60611" cy="533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7522" name="任意多边形 107521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7523" name="标题 107522"/>
          <p:cNvSpPr>
            <a:spLocks noGrp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prstGeom prst="rect">
            <a:avLst/>
          </a:prstGeom>
          <a:noFill/>
          <a:ln w="9525"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 anchor="b" anchorCtr="0"/>
          <a:lstStyle>
            <a:lvl1pPr lvl="0">
              <a:buClrTx/>
              <a:buSzTx/>
              <a:buFontTx/>
              <a:defRPr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7524" name="副标题 107523"/>
          <p:cNvSpPr>
            <a:spLocks noGrp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914400" lvl="2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371600" lvl="3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1828800" lvl="4" indent="0" algn="ctr">
              <a:buClrTx/>
              <a:buSzTx/>
              <a:buFontTx/>
              <a:buNone/>
              <a:defRPr sz="2800"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7525" name="日期占位符 107524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400">
                <a:latin typeface="Comic Sans MS" panose="030F0702030302020204" pitchFamily="66" charset="0"/>
              </a:defRPr>
            </a:lvl1pPr>
          </a:lstStyle>
          <a:p>
            <a:fld id="{BB962C8B-B14F-4D97-AF65-F5344CB8AC3E}" type="datetime1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26" name="页脚占位符 10752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>
                <a:latin typeface="Comic Sans MS" panose="030F0702030302020204" pitchFamily="66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07527" name="灯片编号占位符 10752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>
                <a:latin typeface="Comic Sans MS" panose="030F0702030302020204" pitchFamily="66" charset="0"/>
              </a:defRPr>
            </a:lvl1pPr>
          </a:lstStyle>
          <a:p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7528" name="组合 107527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107529" name="任意多边形 107528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30" name="任意多边形 107529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31" name="任意多边形 107530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7532" name="组合 107531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7533" name="任意多边形 107532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4" name="任意多边形 107533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5" name="任意多边形 107534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6" name="任意多边形 107535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37" name="任意多边形 107536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107538" name="组合 107537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107539" name="任意多边形 107538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40" name="任意多边形 107539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41" name="任意多边形 107540"/>
            <p:cNvSpPr/>
            <p:nvPr userDrawn="1"/>
          </p:nvSpPr>
          <p:spPr>
            <a:xfrm rot="7320404">
              <a:off x="4999" y="2912"/>
              <a:ext cx="416" cy="265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7542" name="组合 107541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107543" name="任意多边形 107542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4" name="任意多边形 107543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5" name="任意多边形 107544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6" name="任意多边形 107545"/>
              <p:cNvSpPr/>
              <p:nvPr userDrawn="1"/>
            </p:nvSpPr>
            <p:spPr>
              <a:xfrm rot="7320404">
                <a:off x="5363" y="2873"/>
                <a:ext cx="63" cy="118"/>
              </a:xfrm>
              <a:custGeom>
                <a:avLst/>
                <a:gdLst/>
                <a:ahLst/>
                <a:cxnLst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547" name="任意多边形 107546"/>
              <p:cNvSpPr/>
              <p:nvPr userDrawn="1"/>
            </p:nvSpPr>
            <p:spPr>
              <a:xfrm rot="7320404">
                <a:off x="5136" y="2999"/>
                <a:ext cx="193" cy="104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7548" name="任意多边形 107547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7549" name="任意多边形 107548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138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862" y="1828800"/>
            <a:ext cx="3771138" cy="3657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60611" cy="533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498" name="任意多边形 106497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6499" name="标题 106498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6500" name="文本占位符 106499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6501" name="日期占位符 106500"/>
          <p:cNvSpPr>
            <a:spLocks noGrp="1"/>
          </p:cNvSpPr>
          <p:nvPr>
            <p:ph type="dt" sz="half" idx="2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502" name="页脚占位符 106501"/>
          <p:cNvSpPr>
            <a:spLocks noGrp="1"/>
          </p:cNvSpPr>
          <p:nvPr>
            <p:ph type="ftr" sz="quarter" idx="3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6503" name="灯片编号占位符 106502"/>
          <p:cNvSpPr>
            <a:spLocks noGrp="1"/>
          </p:cNvSpPr>
          <p:nvPr>
            <p:ph type="sldNum" sz="quarter" idx="4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504" name="任意多边形 106503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6505" name="任意多边形 106504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6506" name="组合 106505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6507" name="任意多边形 106506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08" name="任意多边形 106507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09" name="任意多边形 106508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0" name="任意多边形 106509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1" name="任意多边形 106510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2" name="任意多边形 106511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3" name="任意多边形 106512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4" name="任意多边形 106513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5" name="任意多边形 106514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516" name="组合 106515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517" name="组合 106516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6518" name="任意多边形 106517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19" name="任意多边形 106518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0" name="任意多边形 106519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521" name="任意多边形 106520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22" name="任意多边形 106521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23" name="任意多边形 106522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24" name="组合 106523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525" name="任意多边形 106524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6" name="任意多边形 106525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7" name="任意多边形 106526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8" name="任意多边形 106527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9" name="任意多边形 106528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0" name="任意多边形 106529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1" name="任意多边形 106530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2" name="任意多边形 106531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6533" name="组合 106532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534" name="任意多边形 106533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35" name="任意多边形 106534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6536" name="组合 106535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6537" name="组合 106536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538" name="任意多边形 106537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39" name="组合 106538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540" name="任意多边形 106539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1" name="任意多边形 106540"/>
                <p:cNvSpPr/>
                <p:nvPr userDrawn="1"/>
              </p:nvSpPr>
              <p:spPr>
                <a:xfrm rot="-3172564">
                  <a:off x="5048" y="331"/>
                  <a:ext cx="269" cy="438"/>
                </a:xfrm>
                <a:custGeom>
                  <a:avLst/>
                  <a:gdLst/>
                  <a:ahLst/>
                  <a:cxnLst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2" name="任意多边形 106541"/>
                <p:cNvSpPr/>
                <p:nvPr userDrawn="1"/>
              </p:nvSpPr>
              <p:spPr>
                <a:xfrm rot="-3172564">
                  <a:off x="4858" y="181"/>
                  <a:ext cx="505" cy="898"/>
                </a:xfrm>
                <a:custGeom>
                  <a:avLst/>
                  <a:gdLst/>
                  <a:ahLst/>
                  <a:cxnLst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3" name="任意多边形 106542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4" name="任意多边形 106543"/>
                <p:cNvSpPr/>
                <p:nvPr userDrawn="1"/>
              </p:nvSpPr>
              <p:spPr>
                <a:xfrm rot="-3172564">
                  <a:off x="5297" y="896"/>
                  <a:ext cx="169" cy="122"/>
                </a:xfrm>
                <a:custGeom>
                  <a:avLst/>
                  <a:gdLst/>
                  <a:ahLst/>
                  <a:cxnLst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5" name="任意多边形 106544"/>
                <p:cNvSpPr/>
                <p:nvPr userDrawn="1"/>
              </p:nvSpPr>
              <p:spPr>
                <a:xfrm rot="-3172564">
                  <a:off x="5253" y="805"/>
                  <a:ext cx="181" cy="144"/>
                </a:xfrm>
                <a:custGeom>
                  <a:avLst/>
                  <a:gdLst/>
                  <a:ahLst/>
                  <a:cxnLst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6" name="任意多边形 106545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7" name="任意多边形 106546"/>
                <p:cNvSpPr/>
                <p:nvPr userDrawn="1"/>
              </p:nvSpPr>
              <p:spPr>
                <a:xfrm rot="-3172564">
                  <a:off x="4948" y="141"/>
                  <a:ext cx="179" cy="138"/>
                </a:xfrm>
                <a:custGeom>
                  <a:avLst/>
                  <a:gdLst/>
                  <a:ahLst/>
                  <a:cxnLst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6548" name="直接连接符 106547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498" name="任意多边形 106497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6499" name="标题 106498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6500" name="文本占位符 106499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6501" name="日期占位符 106500"/>
          <p:cNvSpPr>
            <a:spLocks noGrp="1"/>
          </p:cNvSpPr>
          <p:nvPr>
            <p:ph type="dt" sz="half" idx="2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502" name="页脚占位符 106501"/>
          <p:cNvSpPr>
            <a:spLocks noGrp="1"/>
          </p:cNvSpPr>
          <p:nvPr>
            <p:ph type="ftr" sz="quarter" idx="3"/>
          </p:nvPr>
        </p:nvSpPr>
        <p:spPr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6503" name="灯片编号占位符 106502"/>
          <p:cNvSpPr>
            <a:spLocks noGrp="1"/>
          </p:cNvSpPr>
          <p:nvPr>
            <p:ph type="sldNum" sz="quarter" idx="4"/>
          </p:nvPr>
        </p:nvSpPr>
        <p:spPr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Comic Sans MS" panose="030F0702030302020204" pitchFamily="66" charset="0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504" name="任意多边形 106503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6505" name="任意多边形 106504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6506" name="组合 106505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6507" name="任意多边形 106506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08" name="任意多边形 106507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09" name="任意多边形 106508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0" name="任意多边形 106509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1" name="任意多边形 106510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2" name="任意多边形 106511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3" name="任意多边形 106512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4" name="任意多边形 106513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15" name="任意多边形 106514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516" name="组合 106515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517" name="组合 106516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6518" name="任意多边形 106517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19" name="任意多边形 106518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0" name="任意多边形 106519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521" name="任意多边形 106520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22" name="任意多边形 106521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23" name="任意多边形 106522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24" name="组合 106523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525" name="任意多边形 106524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6" name="任意多边形 106525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7" name="任意多边形 106526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8" name="任意多边形 106527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29" name="任意多边形 106528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0" name="任意多边形 106529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1" name="任意多边形 106530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32" name="任意多边形 106531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6533" name="组合 106532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534" name="任意多边形 106533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35" name="任意多边形 106534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6536" name="组合 106535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6537" name="组合 106536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538" name="任意多边形 106537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39" name="组合 106538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540" name="任意多边形 106539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1" name="任意多边形 106540"/>
                <p:cNvSpPr/>
                <p:nvPr userDrawn="1"/>
              </p:nvSpPr>
              <p:spPr>
                <a:xfrm rot="-3172564">
                  <a:off x="5048" y="331"/>
                  <a:ext cx="269" cy="438"/>
                </a:xfrm>
                <a:custGeom>
                  <a:avLst/>
                  <a:gdLst/>
                  <a:ahLst/>
                  <a:cxnLst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2" name="任意多边形 106541"/>
                <p:cNvSpPr/>
                <p:nvPr userDrawn="1"/>
              </p:nvSpPr>
              <p:spPr>
                <a:xfrm rot="-3172564">
                  <a:off x="4858" y="181"/>
                  <a:ext cx="505" cy="898"/>
                </a:xfrm>
                <a:custGeom>
                  <a:avLst/>
                  <a:gdLst/>
                  <a:ahLst/>
                  <a:cxnLst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3" name="任意多边形 106542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4" name="任意多边形 106543"/>
                <p:cNvSpPr/>
                <p:nvPr userDrawn="1"/>
              </p:nvSpPr>
              <p:spPr>
                <a:xfrm rot="-3172564">
                  <a:off x="5297" y="896"/>
                  <a:ext cx="169" cy="122"/>
                </a:xfrm>
                <a:custGeom>
                  <a:avLst/>
                  <a:gdLst/>
                  <a:ahLst/>
                  <a:cxnLst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5" name="任意多边形 106544"/>
                <p:cNvSpPr/>
                <p:nvPr userDrawn="1"/>
              </p:nvSpPr>
              <p:spPr>
                <a:xfrm rot="-3172564">
                  <a:off x="5253" y="805"/>
                  <a:ext cx="181" cy="144"/>
                </a:xfrm>
                <a:custGeom>
                  <a:avLst/>
                  <a:gdLst/>
                  <a:ahLst/>
                  <a:cxnLst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6" name="任意多边形 106545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547" name="任意多边形 106546"/>
                <p:cNvSpPr/>
                <p:nvPr userDrawn="1"/>
              </p:nvSpPr>
              <p:spPr>
                <a:xfrm rot="-3172564">
                  <a:off x="4948" y="141"/>
                  <a:ext cx="179" cy="138"/>
                </a:xfrm>
                <a:custGeom>
                  <a:avLst/>
                  <a:gdLst/>
                  <a:ahLst/>
                  <a:cxnLst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6548" name="直接连接符 106547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w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hyperlink" Target="https://www.baidu.com/s?sa=re_dqa_generate&amp;wd=NVIDIA RTX 4090D&amp;rsv_pq=80f70eb8001cfe83&amp;oq=2024%E6%9C%80%E5%A5%BD%E7%9A%84%E6%98%BE%E5%8D%A1&amp;rsv_t=5370i5ljrs05Y7W3pWN4bS/SMYDF2BkMAs3lFlfZ7aNVZTzsrOzZ7PRRFOs&amp;tn=baidu&amp;ie=utf-8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20351;&#29992;&#25991;&#26412;&#27169;&#24335;&#30340;&#21407;&#22240;.doc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22270;&#24418;&#31243;&#24207;&#21021;&#22987;&#21270;.doc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22270;&#24418;&#21021;&#22987;&#21270;&#26159;&#20010;&#21442;&#25968;&#30340;&#23450;&#20041;.doc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DETECT&#20989;&#25968;&#30340;&#21442;&#25968;.doc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info&#30340;&#23450;&#20041;.doc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8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9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3.bin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3.x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14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7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20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21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22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oleObject" Target="../embeddings/oleObject23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oleObject" Target="../embeddings/oleObject24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标题 2049"/>
          <p:cNvSpPr>
            <a:spLocks noGrp="1"/>
          </p:cNvSpPr>
          <p:nvPr>
            <p:ph type="ctrTitle"/>
          </p:nvPr>
        </p:nvSpPr>
        <p:spPr>
          <a:ln/>
        </p:spPr>
        <p:txBody>
          <a:bodyPr anchor="b" anchorCtr="0"/>
          <a:p>
            <a:pPr defTabSz="914400">
              <a:buSzTx/>
              <a:buFontTx/>
              <a:buNone/>
            </a:pPr>
            <a:r>
              <a:rPr lang="zh-CN" altLang="en-US" sz="5400" b="1" kern="1200" baseline="0" dirty="0">
                <a:latin typeface="Comic Sans MS" panose="030F0702030302020204" pitchFamily="66" charset="0"/>
                <a:ea typeface="宋体" panose="02010600030101010101" pitchFamily="2" charset="-122"/>
              </a:rPr>
              <a:t>计算机图形学</a:t>
            </a:r>
            <a:endParaRPr lang="zh-CN" altLang="en-US" sz="5400" b="1" kern="1200" baseline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51" name="副标题 2050"/>
          <p:cNvSpPr>
            <a:spLocks noGrp="1"/>
          </p:cNvSpPr>
          <p:nvPr>
            <p:ph type="subTitle" idx="1"/>
          </p:nvPr>
        </p:nvSpPr>
        <p:spPr>
          <a:ln/>
        </p:spPr>
        <p:txBody>
          <a:bodyPr anchor="t" anchorCtr="0"/>
          <a:p>
            <a:pPr defTabSz="914400">
              <a:buSzTx/>
            </a:pPr>
            <a:r>
              <a:rPr lang="en-US" altLang="zh-CN" sz="4000" b="1" kern="1200" baseline="0">
                <a:latin typeface="Comic Sans MS" panose="030F0702030302020204" pitchFamily="66" charset="0"/>
                <a:ea typeface="宋体" panose="02010600030101010101" pitchFamily="2" charset="-122"/>
              </a:rPr>
              <a:t>C</a:t>
            </a:r>
            <a:r>
              <a:rPr lang="zh-CN" altLang="en-US" sz="4000" b="1" kern="1200" baseline="0" dirty="0">
                <a:latin typeface="Comic Sans MS" panose="030F0702030302020204" pitchFamily="66" charset="0"/>
                <a:ea typeface="宋体" panose="02010600030101010101" pitchFamily="2" charset="-122"/>
              </a:rPr>
              <a:t>语言图形程序设计基础</a:t>
            </a:r>
            <a:endParaRPr lang="zh-CN" altLang="en-US" sz="4000" b="1" kern="1200" baseline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（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366" name="AutoShape 6"/>
          <p:cNvSpPr/>
          <p:nvPr/>
        </p:nvSpPr>
        <p:spPr>
          <a:xfrm>
            <a:off x="1475740" y="3860800"/>
            <a:ext cx="6590030" cy="1508760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）什么是图形学？硬件？软件？</a:t>
            </a:r>
            <a:r>
              <a:rPr lang="zh-CN" altLang="en-US" sz="2800" b="1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？</a:t>
            </a:r>
            <a:endParaRPr lang="zh-CN" altLang="en-US" sz="2800" b="1" dirty="0">
              <a:solidFill>
                <a:srgbClr val="0000FF"/>
              </a:solidFill>
              <a:highlight>
                <a:srgbClr val="FFFF00"/>
              </a:highlight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AutoShape 6"/>
          <p:cNvSpPr/>
          <p:nvPr/>
        </p:nvSpPr>
        <p:spPr>
          <a:xfrm>
            <a:off x="1331595" y="404495"/>
            <a:ext cx="6590030" cy="1508760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</a:t>
            </a:r>
            <a:r>
              <a:rPr lang="en-US" altLang="zh-CN" sz="2800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）什么是数字地球，</a:t>
            </a:r>
            <a:endParaRPr lang="zh-CN" altLang="en-US" sz="2800">
              <a:highlight>
                <a:srgbClr val="FFFF00"/>
              </a:highlight>
              <a:sym typeface="+mn-ea"/>
            </a:endParaRPr>
          </a:p>
          <a:p>
            <a:pPr algn="ctr"/>
            <a:r>
              <a:rPr lang="zh-CN" altLang="en-US" sz="2800">
                <a:highlight>
                  <a:srgbClr val="FFFF00"/>
                </a:highlight>
                <a:sym typeface="+mn-ea"/>
              </a:rPr>
              <a:t>什么是元宇宙？</a:t>
            </a:r>
            <a:r>
              <a:rPr lang="zh-CN" altLang="en-US" sz="2800" b="1" dirty="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？</a:t>
            </a:r>
            <a:endParaRPr lang="zh-CN" altLang="en-US" sz="2800" b="1" dirty="0">
              <a:solidFill>
                <a:srgbClr val="0000FF"/>
              </a:solidFill>
              <a:highlight>
                <a:srgbClr val="FFFF00"/>
              </a:highlight>
              <a:sym typeface="+mn-ea"/>
            </a:endParaRPr>
          </a:p>
          <a:p>
            <a:pPr algn="ctr"/>
            <a:endParaRPr lang="zh-CN" altLang="en-US" sz="2800" b="1" dirty="0">
              <a:solidFill>
                <a:srgbClr val="0000FF"/>
              </a:solidFill>
              <a:highlight>
                <a:srgbClr val="FFFF00"/>
              </a:highlight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2348865"/>
            <a:ext cx="8250555" cy="3931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kern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sym typeface="+mn-ea"/>
              </a:rPr>
              <a:t>元宇宙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是一个在线可与现实世界交互的虚拟空间。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元宇宙具备以下一个或全部特点：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1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共享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的社交空间，有代表用户的化身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2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）一个可供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化身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居住与互动的，持久的“世界”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3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）拥有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虚拟财产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的能力，就像拥有实物财产一样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4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）创建自己的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虚拟财产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的能力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5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交换及/或出售虚拟财产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的能力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6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）来自多家大公司的IP共享宇宙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7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）通过 </a:t>
            </a:r>
            <a:r>
              <a:rPr lang="zh-CN" altLang="en-US" sz="2400" ker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VR 或 AR 眼镜</a:t>
            </a:r>
            <a:r>
              <a:rPr lang="zh-CN" altLang="en-US" sz="2400" kern="0">
                <a:ln>
                  <a:noFill/>
                </a:ln>
                <a:effectLst/>
                <a:uLnTx/>
                <a:uFillTx/>
                <a:latin typeface="+mn-lt"/>
                <a:ea typeface="+mn-ea"/>
                <a:sym typeface="+mn-ea"/>
              </a:rPr>
              <a:t>实现全 3D 远程呈现</a:t>
            </a:r>
            <a:endParaRPr lang="zh-CN" altLang="en-US" sz="2400" kern="0">
              <a:ln>
                <a:noFill/>
              </a:ln>
              <a:effectLst/>
              <a:uLnTx/>
              <a:uFillTx/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366" name="AutoShape 6"/>
          <p:cNvSpPr/>
          <p:nvPr/>
        </p:nvSpPr>
        <p:spPr>
          <a:xfrm>
            <a:off x="1764030" y="1556385"/>
            <a:ext cx="6590030" cy="1508760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计算机图形学的应用领域举例说明</a:t>
            </a:r>
            <a:endParaRPr lang="zh-CN" altLang="en-US" sz="2800" b="1" dirty="0">
              <a:solidFill>
                <a:srgbClr val="0000FF"/>
              </a:solidFill>
              <a:highlight>
                <a:srgbClr val="FFFF00"/>
              </a:highlight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985" y="2833370"/>
            <a:ext cx="8729980" cy="3249295"/>
          </a:xfrm>
        </p:spPr>
        <p:txBody>
          <a:bodyPr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sym typeface="+mn-ea"/>
              </a:rPr>
              <a:t>第一阶段：</a:t>
            </a:r>
            <a:r>
              <a:rPr lang="zh-CN" altLang="en-US" sz="2800" b="1">
                <a:sym typeface="+mn-ea"/>
              </a:rPr>
              <a:t>  控制开关、穿孔纸带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sym typeface="+mn-ea"/>
              </a:rPr>
              <a:t>第二阶段：</a:t>
            </a:r>
            <a:r>
              <a:rPr lang="zh-CN" altLang="en-US" sz="2800" b="1">
                <a:sym typeface="+mn-ea"/>
              </a:rPr>
              <a:t>  键盘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sym typeface="+mn-ea"/>
              </a:rPr>
              <a:t>第三阶段：</a:t>
            </a:r>
            <a:r>
              <a:rPr lang="zh-CN" altLang="en-US" sz="2800" b="1">
                <a:sym typeface="+mn-ea"/>
              </a:rPr>
              <a:t> 二维定位设备，如：鼠标、光笔、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ym typeface="+mn-ea"/>
              </a:rPr>
              <a:t>                     图形输入板、触摸屏、扫描仪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sym typeface="+mn-ea"/>
              </a:rPr>
              <a:t>第四阶段：</a:t>
            </a:r>
            <a:r>
              <a:rPr lang="zh-CN" altLang="en-US" sz="2800" b="1">
                <a:sym typeface="+mn-ea"/>
              </a:rPr>
              <a:t>三维输入设备，（空间球，数据手套，数据衣，三维扫描仪）</a:t>
            </a:r>
            <a:endParaRPr lang="zh-CN" altLang="en-US" sz="2800" b="1"/>
          </a:p>
          <a:p>
            <a:endParaRPr lang="zh-CN" altLang="en-US" sz="2800"/>
          </a:p>
        </p:txBody>
      </p:sp>
      <p:sp>
        <p:nvSpPr>
          <p:cNvPr id="15366" name="AutoShape 6"/>
          <p:cNvSpPr/>
          <p:nvPr/>
        </p:nvSpPr>
        <p:spPr>
          <a:xfrm>
            <a:off x="1764030" y="188595"/>
            <a:ext cx="6590030" cy="1508760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en-US" sz="2800" b="1">
                <a:highlight>
                  <a:srgbClr val="FFFF00"/>
                </a:highlight>
                <a:sym typeface="+mn-ea"/>
              </a:rPr>
              <a:t>输入设备经历了那几个发展阶段？</a:t>
            </a:r>
            <a:endParaRPr lang="zh-CN" altLang="en-US" sz="2800" b="1">
              <a:highlight>
                <a:srgbClr val="FFFF00"/>
              </a:highlight>
              <a:sym typeface="+mn-ea"/>
            </a:endParaRP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b="1">
                <a:highlight>
                  <a:srgbClr val="FFFF00"/>
                </a:highlight>
                <a:sym typeface="+mn-ea"/>
              </a:rPr>
              <a:t>举例说明</a:t>
            </a:r>
            <a:endParaRPr lang="zh-CN" altLang="en-US" sz="2800" b="1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pPr eaLnBrk="1" hangingPunct="1"/>
            <a:r>
              <a:rPr lang="en-US" altLang="zh-CN" b="1" dirty="0">
                <a:solidFill>
                  <a:srgbClr val="5A2FF7"/>
                </a:solidFill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DEF: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即显示控制适配器，</a:t>
            </a:r>
            <a:r>
              <a:rPr lang="zh-CN" altLang="en-US" b="1" smtClean="0">
                <a:sym typeface="+mn-ea"/>
              </a:rPr>
              <a:t>简称显卡，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它将显示存储器，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CRT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控制器制作在一个芯片上。</a:t>
            </a:r>
            <a:endParaRPr lang="zh-CN" altLang="en-US" b="1" dirty="0">
              <a:latin typeface="黑体" panose="02010609060101010101" pitchFamily="2" charset="-122"/>
              <a:ea typeface="黑体" panose="02010609060101010101" pitchFamily="2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作用：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增强图形显示和汉字显示功能，，</a:t>
            </a:r>
            <a:r>
              <a:rPr lang="zh-CN" altLang="en-US" b="1">
                <a:sym typeface="+mn-ea"/>
              </a:rPr>
              <a:t>承担输出显示图形的任务</a:t>
            </a:r>
            <a:endParaRPr lang="zh-CN" altLang="en-US" b="1"/>
          </a:p>
          <a:p>
            <a:pPr eaLnBrk="1" hangingPunct="1"/>
            <a:endParaRPr lang="zh-CN" altLang="en-US" b="1"/>
          </a:p>
        </p:txBody>
      </p:sp>
      <p:sp>
        <p:nvSpPr>
          <p:cNvPr id="15366" name="AutoShape 6"/>
          <p:cNvSpPr/>
          <p:nvPr/>
        </p:nvSpPr>
        <p:spPr>
          <a:xfrm>
            <a:off x="1764030" y="188595"/>
            <a:ext cx="6590030" cy="1508760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4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）显卡的主要功能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是什么？</a:t>
            </a:r>
            <a:endParaRPr lang="zh-CN" altLang="en-US" sz="2800" b="1">
              <a:solidFill>
                <a:srgbClr val="0000FF"/>
              </a:solidFill>
              <a:highlight>
                <a:srgbClr val="FFFF00"/>
              </a:highlight>
              <a:sym typeface="+mn-ea"/>
            </a:endParaRP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有哪些主流的</a:t>
            </a:r>
            <a:r>
              <a:rPr lang="zh-CN" altLang="en-US" sz="28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生产厂商？</a:t>
            </a:r>
            <a:endParaRPr lang="zh-CN" altLang="en-US" sz="2800" b="1">
              <a:solidFill>
                <a:srgbClr val="0000FF"/>
              </a:solidFill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01190" y="260985"/>
            <a:ext cx="141224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英伟达</a:t>
            </a:r>
            <a:r>
              <a:rPr lang="en-US" altLang="zh-CN" sz="24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NVIDIA</a:t>
            </a:r>
            <a:endParaRPr lang="en-US" altLang="zh-CN" sz="24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76035" y="188595"/>
            <a:ext cx="1325880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AMD</a:t>
            </a:r>
            <a:endParaRPr lang="en-US" altLang="zh-CN" sz="32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4" name="对象 3"/>
          <p:cNvGraphicFramePr/>
          <p:nvPr>
            <p:custDataLst>
              <p:tags r:id="rId1"/>
            </p:custDataLst>
          </p:nvPr>
        </p:nvGraphicFramePr>
        <p:xfrm>
          <a:off x="5723890" y="1052830"/>
          <a:ext cx="2415540" cy="461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10287000" imgH="732790" progId="Paint.Picture">
                  <p:embed/>
                </p:oleObj>
              </mc:Choice>
              <mc:Fallback>
                <p:oleObj name="" r:id="rId2" imgW="10287000" imgH="73279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3890" y="1052830"/>
                        <a:ext cx="2415540" cy="4610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>
            <p:custDataLst>
              <p:tags r:id="rId4"/>
            </p:custDataLst>
          </p:nvPr>
        </p:nvGraphicFramePr>
        <p:xfrm>
          <a:off x="1115695" y="1268730"/>
          <a:ext cx="2413000" cy="462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0287000" imgH="732790" progId="Paint.Picture">
                  <p:embed/>
                </p:oleObj>
              </mc:Choice>
              <mc:Fallback>
                <p:oleObj name="" r:id="rId5" imgW="10287000" imgH="73279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95" y="1268730"/>
                        <a:ext cx="2413000" cy="4629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>
            <p:custDataLst>
              <p:tags r:id="rId7"/>
            </p:custDataLst>
          </p:nvPr>
        </p:nvGraphicFramePr>
        <p:xfrm>
          <a:off x="2195830" y="5733415"/>
          <a:ext cx="4747260" cy="70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8" imgW="4743450" imgH="704850" progId="Paint.Picture">
                  <p:embed/>
                </p:oleObj>
              </mc:Choice>
              <mc:Fallback>
                <p:oleObj name="" r:id="rId8" imgW="4743450" imgH="70485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95830" y="5733415"/>
                        <a:ext cx="4747260" cy="705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3305" y="908685"/>
            <a:ext cx="7396480" cy="74041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400" b="1" i="0">
                <a:solidFill>
                  <a:srgbClr val="333333"/>
                </a:solidFill>
                <a:latin typeface="-apple-system"/>
                <a:ea typeface="-apple-system"/>
              </a:rPr>
              <a:t>‌2024</a:t>
            </a:r>
            <a:r>
              <a:rPr lang="zh-CN" altLang="en-US" sz="2400" b="1" i="0">
                <a:solidFill>
                  <a:srgbClr val="333333"/>
                </a:solidFill>
                <a:latin typeface="-apple-system"/>
                <a:ea typeface="-apple-system"/>
              </a:rPr>
              <a:t>年最好的显卡是</a:t>
            </a:r>
            <a:r>
              <a:rPr lang="en-US" altLang="zh-CN" sz="2400" b="1" i="0">
                <a:solidFill>
                  <a:srgbClr val="333333"/>
                </a:solidFill>
                <a:latin typeface="-apple-system"/>
                <a:ea typeface="-apple-system"/>
                <a:hlinkClick r:id="rId1"/>
              </a:rPr>
              <a:t>NVIDIA RTX 4090</a:t>
            </a:r>
            <a:r>
              <a:rPr lang="en-US" altLang="zh-CN" sz="2400" b="1" i="0">
                <a:solidFill>
                  <a:srgbClr val="333333"/>
                </a:solidFill>
                <a:latin typeface="-apple-system"/>
                <a:ea typeface="-apple-system"/>
                <a:hlinkClick r:id="rId1"/>
              </a:rPr>
              <a:t>D</a:t>
            </a:r>
            <a:r>
              <a:rPr lang="zh-CN" altLang="en-US" sz="2400" b="1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r>
              <a:rPr lang="en-US" altLang="zh-CN" sz="2400" b="1" i="0">
                <a:solidFill>
                  <a:srgbClr val="333333"/>
                </a:solidFill>
                <a:latin typeface="-apple-system"/>
                <a:ea typeface="-apple-system"/>
              </a:rPr>
              <a:t>‌</a:t>
            </a:r>
            <a:r>
              <a:rPr lang="zh-CN" altLang="en-US" sz="2400" b="1" i="0">
                <a:solidFill>
                  <a:srgbClr val="333333"/>
                </a:solidFill>
                <a:latin typeface="-apple-system"/>
                <a:ea typeface="-apple-system"/>
              </a:rPr>
              <a:t>这款显卡以其强大的性能和卓越的图形处理能力，成为了目前市场上最强的游戏显卡</a:t>
            </a:r>
            <a:endParaRPr lang="zh-CN" altLang="en-US" sz="2400" b="1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852170" y="2346960"/>
          <a:ext cx="7455535" cy="376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4362450" imgH="2762250" progId="Paint.Picture">
                  <p:embed/>
                </p:oleObj>
              </mc:Choice>
              <mc:Fallback>
                <p:oleObj name="" r:id="rId2" imgW="4362450" imgH="2762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2170" y="2346960"/>
                        <a:ext cx="7455535" cy="3768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11188" y="404813"/>
            <a:ext cx="8532812" cy="1370012"/>
          </a:xfrm>
          <a:ln/>
        </p:spPr>
        <p:txBody>
          <a:bodyPr anchor="b" anchorCtr="0"/>
          <a:p>
            <a:r>
              <a:rPr lang="zh-CN" altLang="en-US" sz="4000" b="1" dirty="0">
                <a:solidFill>
                  <a:srgbClr val="0000FF"/>
                </a:solidFill>
              </a:rPr>
              <a:t>第三章</a:t>
            </a:r>
            <a:r>
              <a:rPr lang="en-US" altLang="zh-CN" sz="4000" b="1">
                <a:solidFill>
                  <a:srgbClr val="0000FF"/>
                </a:solidFill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</a:rPr>
              <a:t>语言图形程序设计基础</a:t>
            </a:r>
            <a:br>
              <a:rPr lang="zh-CN" altLang="en-US" sz="4000" b="1" dirty="0">
                <a:solidFill>
                  <a:srgbClr val="0000FF"/>
                </a:solidFill>
              </a:rPr>
            </a:b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71438" y="1125538"/>
            <a:ext cx="8964612" cy="5638800"/>
          </a:xfrm>
          <a:ln/>
        </p:spPr>
        <p:txBody>
          <a:bodyPr/>
          <a:p>
            <a:r>
              <a:rPr lang="en-US" altLang="zh-CN" b="1">
                <a:solidFill>
                  <a:srgbClr val="0000FF"/>
                </a:solidFill>
              </a:rPr>
              <a:t>3.1</a:t>
            </a:r>
            <a:r>
              <a:rPr lang="zh-CN" altLang="en-US" b="1" dirty="0">
                <a:solidFill>
                  <a:srgbClr val="0000FF"/>
                </a:solidFill>
              </a:rPr>
              <a:t>屏幕显示模式和坐标系</a:t>
            </a:r>
            <a:endParaRPr lang="zh-CN" altLang="en-US" b="1" dirty="0">
              <a:solidFill>
                <a:srgbClr val="0000FF"/>
              </a:solidFill>
            </a:endParaRPr>
          </a:p>
          <a:p>
            <a:r>
              <a:rPr lang="en-US" altLang="zh-CN" b="1">
                <a:solidFill>
                  <a:srgbClr val="0000FF"/>
                </a:solidFill>
              </a:rPr>
              <a:t>1.</a:t>
            </a:r>
            <a:r>
              <a:rPr lang="zh-CN" altLang="en-US" b="1" dirty="0">
                <a:solidFill>
                  <a:srgbClr val="0000FF"/>
                </a:solidFill>
              </a:rPr>
              <a:t>文本模式：</a:t>
            </a:r>
            <a:endParaRPr lang="zh-CN" altLang="en-US" b="1" dirty="0">
              <a:solidFill>
                <a:srgbClr val="0000FF"/>
              </a:solidFill>
            </a:endParaRPr>
          </a:p>
          <a:p>
            <a:r>
              <a:rPr lang="en-US" altLang="zh-CN" sz="2800" b="1"/>
              <a:t>DEF</a:t>
            </a:r>
            <a:r>
              <a:rPr lang="zh-CN" altLang="en-US" sz="2800" b="1" dirty="0"/>
              <a:t>在屏模上只能显示文本的显示模式</a:t>
            </a:r>
            <a:endParaRPr lang="zh-CN" altLang="en-US" sz="2800" b="1" dirty="0"/>
          </a:p>
          <a:p>
            <a:r>
              <a:rPr lang="zh-CN" altLang="en-US" sz="2800" dirty="0">
                <a:hlinkClick r:id="rId1" action="ppaction://hlinkfile"/>
              </a:rPr>
              <a:t>历史原因</a:t>
            </a:r>
            <a:endParaRPr lang="zh-CN" altLang="en-US" sz="2800"/>
          </a:p>
          <a:p>
            <a:r>
              <a:rPr lang="en-US" altLang="zh-CN" sz="2800" b="1"/>
              <a:t>Turbo C</a:t>
            </a:r>
            <a:r>
              <a:rPr lang="zh-CN" altLang="en-US" sz="2800" b="1" dirty="0"/>
              <a:t>的默认的显示模式是文本模式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r>
              <a:rPr lang="en-US" altLang="zh-CN" b="1">
                <a:solidFill>
                  <a:srgbClr val="0000FF"/>
                </a:solidFill>
              </a:rPr>
              <a:t>2.</a:t>
            </a:r>
            <a:r>
              <a:rPr lang="zh-CN" altLang="en-US" b="1" dirty="0">
                <a:solidFill>
                  <a:srgbClr val="0000FF"/>
                </a:solidFill>
              </a:rPr>
              <a:t>图形模式和点坐标</a:t>
            </a:r>
            <a:endParaRPr lang="zh-CN" altLang="en-US" b="1" dirty="0">
              <a:solidFill>
                <a:srgbClr val="0000FF"/>
              </a:solidFill>
            </a:endParaRPr>
          </a:p>
          <a:p>
            <a:r>
              <a:rPr lang="zh-CN" altLang="en-US" sz="2800" b="1" dirty="0">
                <a:solidFill>
                  <a:schemeClr val="hlink"/>
                </a:solidFill>
              </a:rPr>
              <a:t>图形模式：</a:t>
            </a:r>
            <a:endParaRPr lang="zh-CN" altLang="en-US" sz="2800" b="1" dirty="0">
              <a:solidFill>
                <a:schemeClr val="hlink"/>
              </a:solidFill>
            </a:endParaRPr>
          </a:p>
          <a:p>
            <a:r>
              <a:rPr lang="en-US" altLang="zh-CN" sz="2800" b="1"/>
              <a:t>DEF</a:t>
            </a:r>
            <a:r>
              <a:rPr lang="zh-CN" altLang="en-US" sz="2800" b="1" dirty="0"/>
              <a:t>在屏幕上显示图形的方式，称为图形模式。</a:t>
            </a:r>
            <a:endParaRPr lang="zh-CN" altLang="en-US" sz="2800" b="1" dirty="0"/>
          </a:p>
          <a:p>
            <a:r>
              <a:rPr lang="zh-CN" altLang="en-US" sz="2800" b="1" dirty="0">
                <a:solidFill>
                  <a:schemeClr val="hlink"/>
                </a:solidFill>
              </a:rPr>
              <a:t>点坐标：</a:t>
            </a:r>
            <a:r>
              <a:rPr lang="zh-CN" altLang="en-US" sz="2800" b="1" dirty="0"/>
              <a:t>屏幕是由像素点组成的，在图形模式下，屏幕上每个像素的显示位置用点坐标来描述。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1258888" y="5445125"/>
            <a:ext cx="7620000" cy="990600"/>
          </a:xfrm>
          <a:ln/>
        </p:spPr>
        <p:txBody>
          <a:bodyPr/>
          <a:p>
            <a:r>
              <a:rPr lang="zh-CN" altLang="en-US" sz="2800" b="1" dirty="0">
                <a:solidFill>
                  <a:schemeClr val="tx2"/>
                </a:solidFill>
              </a:rPr>
              <a:t>例：</a:t>
            </a:r>
            <a:r>
              <a:rPr lang="zh-CN" altLang="en-US" sz="2800" b="1" dirty="0">
                <a:solidFill>
                  <a:schemeClr val="accent2"/>
                </a:solidFill>
              </a:rPr>
              <a:t>一个分辨率为</a:t>
            </a:r>
            <a:r>
              <a:rPr lang="en-US" altLang="zh-CN" sz="2800" b="1">
                <a:solidFill>
                  <a:schemeClr val="accent2"/>
                </a:solidFill>
              </a:rPr>
              <a:t>800*600</a:t>
            </a:r>
            <a:r>
              <a:rPr lang="zh-CN" altLang="en-US" sz="2800" b="1" dirty="0">
                <a:solidFill>
                  <a:schemeClr val="accent2"/>
                </a:solidFill>
              </a:rPr>
              <a:t>的分辨率的显示屏（</a:t>
            </a:r>
            <a:r>
              <a:rPr lang="en-US" altLang="zh-CN" sz="2800" b="1">
                <a:solidFill>
                  <a:schemeClr val="accent2"/>
                </a:solidFill>
              </a:rPr>
              <a:t>800</a:t>
            </a:r>
            <a:r>
              <a:rPr lang="zh-CN" altLang="en-US" sz="2800" b="1" dirty="0">
                <a:solidFill>
                  <a:schemeClr val="accent2"/>
                </a:solidFill>
              </a:rPr>
              <a:t>列，</a:t>
            </a:r>
            <a:r>
              <a:rPr lang="en-US" altLang="zh-CN" sz="2800" b="1">
                <a:solidFill>
                  <a:schemeClr val="accent2"/>
                </a:solidFill>
              </a:rPr>
              <a:t>600</a:t>
            </a:r>
            <a:r>
              <a:rPr lang="zh-CN" altLang="en-US" sz="2800" b="1" dirty="0">
                <a:solidFill>
                  <a:schemeClr val="accent2"/>
                </a:solidFill>
              </a:rPr>
              <a:t>行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pSp>
        <p:nvGrpSpPr>
          <p:cNvPr id="5140" name="组合 5139"/>
          <p:cNvGrpSpPr/>
          <p:nvPr/>
        </p:nvGrpSpPr>
        <p:grpSpPr>
          <a:xfrm>
            <a:off x="914400" y="1600200"/>
            <a:ext cx="4419600" cy="3657600"/>
            <a:chOff x="576" y="288"/>
            <a:chExt cx="2784" cy="2304"/>
          </a:xfrm>
        </p:grpSpPr>
        <p:sp>
          <p:nvSpPr>
            <p:cNvPr id="5124" name="矩形 5123"/>
            <p:cNvSpPr/>
            <p:nvPr/>
          </p:nvSpPr>
          <p:spPr>
            <a:xfrm>
              <a:off x="624" y="336"/>
              <a:ext cx="2592" cy="2256"/>
            </a:xfrm>
            <a:prstGeom prst="rect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6" name="直接连接符 5125"/>
            <p:cNvSpPr/>
            <p:nvPr/>
          </p:nvSpPr>
          <p:spPr>
            <a:xfrm>
              <a:off x="624" y="336"/>
              <a:ext cx="2448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7" name="直接连接符 5126"/>
            <p:cNvSpPr/>
            <p:nvPr/>
          </p:nvSpPr>
          <p:spPr>
            <a:xfrm>
              <a:off x="624" y="336"/>
              <a:ext cx="0" cy="220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8" name="文本框 5127"/>
            <p:cNvSpPr txBox="1"/>
            <p:nvPr/>
          </p:nvSpPr>
          <p:spPr>
            <a:xfrm>
              <a:off x="576" y="336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29" name="文本框 5128"/>
            <p:cNvSpPr txBox="1"/>
            <p:nvPr/>
          </p:nvSpPr>
          <p:spPr>
            <a:xfrm>
              <a:off x="2496" y="288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Max x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30" name="文本框 5129"/>
            <p:cNvSpPr txBox="1"/>
            <p:nvPr/>
          </p:nvSpPr>
          <p:spPr>
            <a:xfrm>
              <a:off x="612" y="2220"/>
              <a:ext cx="7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Max y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41" name="组合 5140"/>
          <p:cNvGrpSpPr/>
          <p:nvPr/>
        </p:nvGrpSpPr>
        <p:grpSpPr>
          <a:xfrm>
            <a:off x="5334000" y="1885950"/>
            <a:ext cx="3352800" cy="3143250"/>
            <a:chOff x="3360" y="432"/>
            <a:chExt cx="2112" cy="1980"/>
          </a:xfrm>
        </p:grpSpPr>
        <p:sp>
          <p:nvSpPr>
            <p:cNvPr id="5132" name="直接连接符 5131"/>
            <p:cNvSpPr/>
            <p:nvPr/>
          </p:nvSpPr>
          <p:spPr>
            <a:xfrm>
              <a:off x="3384" y="432"/>
              <a:ext cx="1968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5133" name="直接连接符 5132"/>
            <p:cNvSpPr/>
            <p:nvPr/>
          </p:nvSpPr>
          <p:spPr>
            <a:xfrm>
              <a:off x="3396" y="444"/>
              <a:ext cx="0" cy="1968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5134" name="椭圆 5133"/>
            <p:cNvSpPr/>
            <p:nvPr/>
          </p:nvSpPr>
          <p:spPr>
            <a:xfrm>
              <a:off x="3792" y="1296"/>
              <a:ext cx="48" cy="48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5" name="文本框 5134"/>
            <p:cNvSpPr txBox="1"/>
            <p:nvPr/>
          </p:nvSpPr>
          <p:spPr>
            <a:xfrm>
              <a:off x="5016" y="432"/>
              <a:ext cx="45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799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36" name="文本框 5135"/>
            <p:cNvSpPr txBox="1"/>
            <p:nvPr/>
          </p:nvSpPr>
          <p:spPr>
            <a:xfrm>
              <a:off x="3456" y="2112"/>
              <a:ext cx="3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599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38" name="文本框 5137"/>
            <p:cNvSpPr txBox="1"/>
            <p:nvPr/>
          </p:nvSpPr>
          <p:spPr>
            <a:xfrm>
              <a:off x="3504" y="1344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10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>
                  <a:latin typeface="Times New Roman" panose="02020603050405020304" pitchFamily="18" charset="0"/>
                </a:rPr>
                <a:t>4</a:t>
              </a:r>
              <a:r>
                <a:rPr lang="zh-CN" altLang="en-US" dirty="0">
                  <a:latin typeface="Times New Roman" panose="02020603050405020304" pitchFamily="18" charset="0"/>
                </a:rPr>
                <a:t>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39" name="文本框 5138"/>
            <p:cNvSpPr txBox="1"/>
            <p:nvPr/>
          </p:nvSpPr>
          <p:spPr>
            <a:xfrm>
              <a:off x="3360" y="432"/>
              <a:ext cx="8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（</a:t>
              </a:r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r>
                <a:rPr lang="zh-CN" altLang="en-US" dirty="0">
                  <a:latin typeface="Times New Roman" panose="02020603050405020304" pitchFamily="18" charset="0"/>
                </a:rPr>
                <a:t>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142" name="文本框 5141"/>
          <p:cNvSpPr txBox="1"/>
          <p:nvPr/>
        </p:nvSpPr>
        <p:spPr>
          <a:xfrm>
            <a:off x="838200" y="457200"/>
            <a:ext cx="7924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在图形模式下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以屏幕的左上角为坐标原点</a:t>
            </a:r>
            <a:r>
              <a:rPr lang="en-US" altLang="zh-CN" sz="2800" b="1">
                <a:latin typeface="Times New Roman" panose="02020603050405020304" pitchFamily="18" charset="0"/>
              </a:rPr>
              <a:t>(0,0)</a:t>
            </a:r>
            <a:r>
              <a:rPr lang="zh-CN" altLang="en-US" sz="2800" b="1" dirty="0">
                <a:latin typeface="Times New Roman" panose="02020603050405020304" pitchFamily="18" charset="0"/>
              </a:rPr>
              <a:t>水平方向为</a:t>
            </a:r>
            <a:r>
              <a:rPr lang="en-US" altLang="zh-CN" sz="2800" b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轴，垂直方向为</a:t>
            </a:r>
            <a:r>
              <a:rPr lang="en-US" altLang="zh-CN" sz="2800" b="1">
                <a:latin typeface="Times New Roman" panose="02020603050405020304" pitchFamily="18" charset="0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</a:rPr>
              <a:t>轴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611188" y="404813"/>
            <a:ext cx="8208962" cy="60198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</a:rPr>
              <a:t>3.</a:t>
            </a:r>
            <a:r>
              <a:rPr lang="zh-CN" altLang="en-US" b="1" dirty="0">
                <a:solidFill>
                  <a:srgbClr val="0000FF"/>
                </a:solidFill>
              </a:rPr>
              <a:t>图形系统的初始化</a:t>
            </a:r>
            <a:endParaRPr lang="zh-CN" alt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  <a:hlinkClick r:id="rId1" action="ppaction://hlinkfile"/>
              </a:rPr>
              <a:t>一个简单的图形程序</a:t>
            </a:r>
            <a:endParaRPr lang="zh-CN" altLang="en-US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#include   “graphics.h”  </a:t>
            </a:r>
            <a:r>
              <a:rPr lang="en-US" altLang="zh-CN" sz="2800">
                <a:solidFill>
                  <a:schemeClr val="hlink"/>
                </a:solidFill>
              </a:rPr>
              <a:t>/</a:t>
            </a:r>
            <a:r>
              <a:rPr lang="en-US" altLang="zh-CN" sz="2800" b="1">
                <a:solidFill>
                  <a:schemeClr val="hlink"/>
                </a:solidFill>
              </a:rPr>
              <a:t>/</a:t>
            </a:r>
            <a:r>
              <a:rPr lang="en-US" altLang="zh-CN" sz="1800" b="1">
                <a:solidFill>
                  <a:schemeClr val="hlink"/>
                </a:solidFill>
              </a:rPr>
              <a:t>    </a:t>
            </a:r>
            <a:r>
              <a:rPr lang="zh-CN" altLang="en-US" sz="1800" b="1" dirty="0">
                <a:solidFill>
                  <a:schemeClr val="hlink"/>
                </a:solidFill>
              </a:rPr>
              <a:t>图形函数库</a:t>
            </a:r>
            <a:endParaRPr lang="zh-CN" altLang="en-US" sz="1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#include    “</a:t>
            </a:r>
            <a:r>
              <a:rPr lang="en-US" altLang="zh-CN" sz="2800" b="1" err="1"/>
              <a:t>stdio.h</a:t>
            </a:r>
            <a:r>
              <a:rPr lang="en-US" altLang="zh-CN" sz="2800" b="1"/>
              <a:t>”      </a:t>
            </a:r>
            <a:r>
              <a:rPr lang="en-US" altLang="zh-CN" sz="1800" b="1">
                <a:solidFill>
                  <a:schemeClr val="hlink"/>
                </a:solidFill>
              </a:rPr>
              <a:t>//</a:t>
            </a:r>
            <a:r>
              <a:rPr lang="zh-CN" altLang="en-US" sz="1800" b="1" dirty="0">
                <a:solidFill>
                  <a:schemeClr val="hlink"/>
                </a:solidFill>
              </a:rPr>
              <a:t>标准输入输出函数库</a:t>
            </a:r>
            <a:endParaRPr lang="zh-CN" altLang="en-US" sz="18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400" b="1"/>
              <a:t>#include             “</a:t>
            </a:r>
            <a:r>
              <a:rPr lang="en-US" altLang="zh-CN" sz="2400" b="1" err="1"/>
              <a:t>conio.h</a:t>
            </a:r>
            <a:r>
              <a:rPr lang="en-US" altLang="zh-CN" sz="2400" b="1"/>
              <a:t>”  </a:t>
            </a:r>
            <a:r>
              <a:rPr lang="en-US" altLang="zh-CN" sz="2400" b="1">
                <a:solidFill>
                  <a:schemeClr val="hlink"/>
                </a:solidFill>
              </a:rPr>
              <a:t>//</a:t>
            </a:r>
            <a:r>
              <a:rPr lang="zh-CN" altLang="en-US" sz="2400" b="1" dirty="0">
                <a:solidFill>
                  <a:schemeClr val="hlink"/>
                </a:solidFill>
              </a:rPr>
              <a:t>控制台输入输出</a:t>
            </a:r>
            <a:endParaRPr lang="zh-CN" altLang="en-US" sz="24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main()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{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int</a:t>
            </a:r>
            <a:r>
              <a:rPr lang="en-US" altLang="zh-CN" sz="2800" b="1"/>
              <a:t>  </a:t>
            </a:r>
            <a:r>
              <a:rPr lang="en-US" altLang="zh-CN" sz="2800" b="1" err="1"/>
              <a:t>gdriver,gmode</a:t>
            </a:r>
            <a:r>
              <a:rPr lang="en-US" altLang="zh-CN" sz="2800" b="1"/>
              <a:t>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detectgraph(&amp;gdriver,&amp;gmode</a:t>
            </a:r>
            <a:r>
              <a:rPr lang="en-US" altLang="zh-CN" sz="2800" b="1"/>
              <a:t>) 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if(gdriver</a:t>
            </a:r>
            <a:r>
              <a:rPr lang="en-US" altLang="zh-CN" sz="2800" b="1"/>
              <a:t>&lt;0)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exit(1) 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  initgraph(&amp;gdriver,&amp;gmode,"C:\\TURBOC2") ;</a:t>
            </a:r>
            <a:endParaRPr lang="en-US" altLang="zh-CN" sz="2400" b="1"/>
          </a:p>
          <a:p>
            <a:pPr>
              <a:lnSpc>
                <a:spcPct val="90000"/>
              </a:lnSpc>
            </a:pPr>
            <a:endParaRPr lang="en-US" altLang="zh-CN" sz="2400" b="1"/>
          </a:p>
        </p:txBody>
      </p:sp>
      <p:sp>
        <p:nvSpPr>
          <p:cNvPr id="6148" name="右大括号 6147"/>
          <p:cNvSpPr/>
          <p:nvPr/>
        </p:nvSpPr>
        <p:spPr>
          <a:xfrm>
            <a:off x="7812088" y="3429000"/>
            <a:ext cx="228600" cy="2644775"/>
          </a:xfrm>
          <a:prstGeom prst="rightBrace">
            <a:avLst>
              <a:gd name="adj1" fmla="val 9641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49" name="文本框 6148"/>
          <p:cNvSpPr txBox="1"/>
          <p:nvPr/>
        </p:nvSpPr>
        <p:spPr>
          <a:xfrm>
            <a:off x="8001000" y="4365625"/>
            <a:ext cx="1143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初始化图形系统</a:t>
            </a:r>
            <a:endParaRPr lang="zh-CN" altLang="en-US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112713" y="603250"/>
            <a:ext cx="9031287" cy="6065838"/>
          </a:xfrm>
          <a:ln/>
        </p:spPr>
        <p:txBody>
          <a:bodyPr/>
          <a:p>
            <a:r>
              <a:rPr lang="en-US" altLang="zh-CN" sz="2800" b="1"/>
              <a:t> </a:t>
            </a:r>
            <a:r>
              <a:rPr lang="en-US" altLang="zh-CN" sz="2800" b="1" dirty="0"/>
              <a:t>  </a:t>
            </a:r>
            <a:r>
              <a:rPr lang="en-US" altLang="zh-CN" sz="2800" b="1"/>
              <a:t> bar3d(100,200,300,400,10,1) ;</a:t>
            </a:r>
            <a:endParaRPr lang="en-US" altLang="zh-CN" sz="2800" b="1"/>
          </a:p>
          <a:p>
            <a:r>
              <a:rPr lang="en-US" altLang="zh-CN" sz="2800" b="1"/>
              <a:t>  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r>
              <a:rPr lang="en-US" altLang="zh-CN" sz="2800" b="1"/>
              <a:t>    </a:t>
            </a:r>
            <a:r>
              <a:rPr lang="en-US" altLang="zh-CN" sz="2800" b="1" err="1"/>
              <a:t>closegraph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r>
              <a:rPr lang="en-US" altLang="zh-CN" sz="2800" b="1"/>
              <a:t>    }_x001A_</a:t>
            </a:r>
            <a:endParaRPr lang="en-US" altLang="zh-CN" sz="2800" b="1"/>
          </a:p>
          <a:p>
            <a:pPr>
              <a:buNone/>
            </a:pPr>
            <a:r>
              <a:rPr lang="en-US" altLang="zh-CN" b="1">
                <a:solidFill>
                  <a:srgbClr val="0000FF"/>
                </a:solidFill>
              </a:rPr>
              <a:t>      </a:t>
            </a:r>
            <a:r>
              <a:rPr lang="zh-CN" altLang="en-US" b="1" dirty="0">
                <a:solidFill>
                  <a:srgbClr val="0000FF"/>
                </a:solidFill>
              </a:rPr>
              <a:t>如何实现图形模式初始化？</a:t>
            </a:r>
            <a:endParaRPr lang="zh-CN" altLang="en-US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zh-CN" altLang="en-US" b="1" dirty="0"/>
              <a:t>   </a:t>
            </a:r>
            <a:r>
              <a:rPr lang="en-US" altLang="zh-CN" b="1" err="1">
                <a:solidFill>
                  <a:schemeClr val="hlink"/>
                </a:solidFill>
              </a:rPr>
              <a:t>initgraph(</a:t>
            </a:r>
            <a:r>
              <a:rPr lang="en-US" altLang="zh-CN" sz="2800" b="1" err="1">
                <a:solidFill>
                  <a:schemeClr val="hlink"/>
                </a:solidFill>
              </a:rPr>
              <a:t>int</a:t>
            </a:r>
            <a:r>
              <a:rPr lang="en-US" altLang="zh-CN" sz="2800" b="1">
                <a:solidFill>
                  <a:schemeClr val="hlink"/>
                </a:solidFill>
              </a:rPr>
              <a:t> *</a:t>
            </a:r>
            <a:r>
              <a:rPr lang="en-US" altLang="zh-CN" sz="2800" b="1" err="1">
                <a:solidFill>
                  <a:schemeClr val="hlink"/>
                </a:solidFill>
              </a:rPr>
              <a:t>gdriver,int</a:t>
            </a:r>
            <a:r>
              <a:rPr lang="en-US" altLang="zh-CN" sz="2800" b="1">
                <a:solidFill>
                  <a:schemeClr val="hlink"/>
                </a:solidFill>
              </a:rPr>
              <a:t> *</a:t>
            </a:r>
            <a:r>
              <a:rPr lang="en-US" altLang="zh-CN" sz="2800" b="1" err="1">
                <a:solidFill>
                  <a:schemeClr val="hlink"/>
                </a:solidFill>
              </a:rPr>
              <a:t>gmode,char</a:t>
            </a:r>
            <a:r>
              <a:rPr lang="en-US" altLang="zh-CN" sz="2800" b="1">
                <a:solidFill>
                  <a:schemeClr val="hlink"/>
                </a:solidFill>
              </a:rPr>
              <a:t> *path</a:t>
            </a:r>
            <a:r>
              <a:rPr lang="en-US" altLang="zh-CN" b="1">
                <a:solidFill>
                  <a:schemeClr val="hlink"/>
                </a:solidFill>
              </a:rPr>
              <a:t>) </a:t>
            </a:r>
            <a:endParaRPr lang="en-US" altLang="zh-CN" b="1">
              <a:solidFill>
                <a:schemeClr val="hlink"/>
              </a:solidFill>
            </a:endParaRPr>
          </a:p>
          <a:p>
            <a:pPr>
              <a:buNone/>
            </a:pPr>
            <a:r>
              <a:rPr lang="en-US" altLang="zh-CN" b="1">
                <a:solidFill>
                  <a:schemeClr val="hlink"/>
                </a:solidFill>
              </a:rPr>
              <a:t>     </a:t>
            </a:r>
            <a:r>
              <a:rPr lang="zh-CN" altLang="en-US" b="1" dirty="0">
                <a:solidFill>
                  <a:schemeClr val="hlink"/>
                </a:solidFill>
                <a:hlinkClick r:id="rId1" action="ppaction://hlinkfile"/>
              </a:rPr>
              <a:t>作用：</a:t>
            </a:r>
            <a:r>
              <a:rPr lang="zh-CN" altLang="en-US" b="1" dirty="0"/>
              <a:t>初始化图形系统，从磁盘装入一个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 图形驱动程序并设置图形显示模式。</a:t>
            </a:r>
            <a:endParaRPr lang="zh-CN" altLang="en-US" b="1" dirty="0"/>
          </a:p>
        </p:txBody>
      </p:sp>
      <p:sp>
        <p:nvSpPr>
          <p:cNvPr id="7172" name="右大括号 7171"/>
          <p:cNvSpPr/>
          <p:nvPr/>
        </p:nvSpPr>
        <p:spPr>
          <a:xfrm>
            <a:off x="6872288" y="476250"/>
            <a:ext cx="76200" cy="838200"/>
          </a:xfrm>
          <a:prstGeom prst="rightBrace">
            <a:avLst>
              <a:gd name="adj1" fmla="val 91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173" name="文本框 7172"/>
          <p:cNvSpPr txBox="1"/>
          <p:nvPr/>
        </p:nvSpPr>
        <p:spPr>
          <a:xfrm>
            <a:off x="7177088" y="333375"/>
            <a:ext cx="1066800" cy="822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图形程序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4" name="右大括号 7173"/>
          <p:cNvSpPr/>
          <p:nvPr/>
        </p:nvSpPr>
        <p:spPr>
          <a:xfrm>
            <a:off x="6872288" y="1466850"/>
            <a:ext cx="76200" cy="457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175" name="文本框 7174"/>
          <p:cNvSpPr txBox="1"/>
          <p:nvPr/>
        </p:nvSpPr>
        <p:spPr>
          <a:xfrm>
            <a:off x="7164388" y="1276350"/>
            <a:ext cx="1295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关闭图形系统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文本占位符 10242"/>
          <p:cNvSpPr>
            <a:spLocks noGrp="1"/>
          </p:cNvSpPr>
          <p:nvPr>
            <p:ph type="body" idx="1"/>
          </p:nvPr>
        </p:nvSpPr>
        <p:spPr>
          <a:xfrm>
            <a:off x="34925" y="1411288"/>
            <a:ext cx="8966200" cy="5257800"/>
          </a:xfrm>
          <a:ln/>
        </p:spPr>
        <p:txBody>
          <a:bodyPr/>
          <a:p>
            <a:r>
              <a:rPr lang="en-US" altLang="zh-CN" sz="2800" b="1">
                <a:solidFill>
                  <a:schemeClr val="hlink"/>
                </a:solidFill>
              </a:rPr>
              <a:t>Void  far  </a:t>
            </a:r>
            <a:r>
              <a:rPr lang="en-US" altLang="zh-CN" sz="2800" b="1" err="1">
                <a:solidFill>
                  <a:schemeClr val="hlink"/>
                </a:solidFill>
              </a:rPr>
              <a:t>detectgraph(int</a:t>
            </a:r>
            <a:r>
              <a:rPr lang="en-US" altLang="zh-CN" sz="2800" b="1">
                <a:solidFill>
                  <a:schemeClr val="hlink"/>
                </a:solidFill>
              </a:rPr>
              <a:t> *</a:t>
            </a:r>
            <a:r>
              <a:rPr lang="en-US" altLang="zh-CN" sz="2800" b="1" err="1">
                <a:solidFill>
                  <a:schemeClr val="hlink"/>
                </a:solidFill>
              </a:rPr>
              <a:t>gdriver,int</a:t>
            </a:r>
            <a:r>
              <a:rPr lang="en-US" altLang="zh-CN" sz="2800" b="1">
                <a:solidFill>
                  <a:schemeClr val="hlink"/>
                </a:solidFill>
              </a:rPr>
              <a:t> *</a:t>
            </a:r>
            <a:r>
              <a:rPr lang="en-US" altLang="zh-CN" sz="2800" b="1" err="1">
                <a:solidFill>
                  <a:schemeClr val="hlink"/>
                </a:solidFill>
              </a:rPr>
              <a:t>gmode</a:t>
            </a:r>
            <a:r>
              <a:rPr lang="en-US" altLang="zh-CN" sz="2800" b="1">
                <a:solidFill>
                  <a:schemeClr val="hlink"/>
                </a:solidFill>
              </a:rPr>
              <a:t>)</a:t>
            </a:r>
            <a:endParaRPr lang="en-US" altLang="zh-CN" sz="2800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  <a:hlinkClick r:id="rId1" action="ppaction://hlinkfile"/>
              </a:rPr>
              <a:t>作用：</a:t>
            </a:r>
            <a:r>
              <a:rPr lang="zh-CN" altLang="en-US" sz="2800" b="1" dirty="0"/>
              <a:t>硬件检测，该函数用来检测图形适配器的类型。</a:t>
            </a:r>
            <a:endParaRPr lang="zh-CN" altLang="en-US" sz="2800" b="1" dirty="0"/>
          </a:p>
          <a:p>
            <a:r>
              <a:rPr lang="zh-CN" altLang="en-US" b="1" dirty="0">
                <a:solidFill>
                  <a:schemeClr val="hlink"/>
                </a:solidFill>
              </a:rPr>
              <a:t>关闭图形系统</a:t>
            </a:r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chemeClr val="hlink"/>
                </a:solidFill>
              </a:rPr>
              <a:t>Void far </a:t>
            </a:r>
            <a:r>
              <a:rPr lang="en-US" altLang="zh-CN" b="1" err="1">
                <a:solidFill>
                  <a:schemeClr val="hlink"/>
                </a:solidFill>
              </a:rPr>
              <a:t>closegraph</a:t>
            </a:r>
            <a:r>
              <a:rPr lang="en-US" altLang="zh-CN" b="1">
                <a:solidFill>
                  <a:schemeClr val="hlink"/>
                </a:solidFill>
              </a:rPr>
              <a:t>()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关闭图形系统，释放图形驱动程序所占的内存空间，使系统返回到文本模式。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dirty="0"/>
          </a:p>
          <a:p>
            <a:endParaRPr lang="zh-CN" altLang="en-US" sz="28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107950" y="209550"/>
            <a:ext cx="8820150" cy="6172200"/>
          </a:xfrm>
          <a:ln/>
        </p:spPr>
        <p:txBody>
          <a:bodyPr/>
          <a:p>
            <a:pPr eaLnBrk="0" hangingPunct="0">
              <a:lnSpc>
                <a:spcPct val="90000"/>
              </a:lnSpc>
            </a:pPr>
            <a:r>
              <a:rPr lang="en-US" altLang="zh-CN" sz="3600" b="1">
                <a:solidFill>
                  <a:srgbClr val="0000FF"/>
                </a:solidFill>
              </a:rPr>
              <a:t>3.2</a:t>
            </a:r>
            <a:r>
              <a:rPr lang="zh-CN" altLang="en-US" sz="3600" b="1" dirty="0">
                <a:solidFill>
                  <a:srgbClr val="0000FF"/>
                </a:solidFill>
              </a:rPr>
              <a:t>常用绘图函数简介</a:t>
            </a:r>
            <a:endParaRPr lang="zh-CN" altLang="en-US" sz="3600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FF0066"/>
                </a:solidFill>
              </a:rPr>
              <a:t>1.</a:t>
            </a:r>
            <a:r>
              <a:rPr lang="zh-CN" altLang="en-US" b="1" dirty="0">
                <a:solidFill>
                  <a:srgbClr val="FF0066"/>
                </a:solidFill>
              </a:rPr>
              <a:t>图形视口函数</a:t>
            </a:r>
            <a:endParaRPr lang="zh-CN" altLang="en-US" b="1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setviewport(left,top,right,bottom,clip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/>
              <a:t>Clip:</a:t>
            </a:r>
            <a:r>
              <a:rPr lang="zh-CN" altLang="en-US" sz="2400" b="1" dirty="0"/>
              <a:t>如果</a:t>
            </a:r>
            <a:r>
              <a:rPr lang="en-US" altLang="zh-CN" sz="2400" b="1"/>
              <a:t>clip=1</a:t>
            </a:r>
            <a:r>
              <a:rPr lang="zh-CN" altLang="en-US" sz="2400" b="1" dirty="0"/>
              <a:t>则超出视口的图形自动剪裁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例： </a:t>
            </a:r>
            <a:r>
              <a:rPr lang="en-US" altLang="zh-CN" b="1"/>
              <a:t>setviewport(100,100,300,300,1)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clearviewport</a:t>
            </a:r>
            <a:r>
              <a:rPr lang="en-US" altLang="zh-CN" b="1">
                <a:solidFill>
                  <a:schemeClr val="hlink"/>
                </a:solidFill>
              </a:rPr>
              <a:t>()</a:t>
            </a:r>
            <a:endParaRPr lang="en-US" altLang="zh-CN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/>
              <a:t>作用：清除图形视口中的图形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getviewsetting(struct</a:t>
            </a:r>
            <a:r>
              <a:rPr lang="en-US" altLang="zh-CN" b="1">
                <a:solidFill>
                  <a:schemeClr val="hlink"/>
                </a:solidFill>
              </a:rPr>
              <a:t> * info)</a:t>
            </a:r>
            <a:endParaRPr lang="en-US" altLang="zh-CN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/>
              <a:t>作用：返回当前视口的绝对坐标及剪裁标志。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66"/>
                </a:solidFill>
              </a:rPr>
              <a:t>问题：</a:t>
            </a:r>
            <a:r>
              <a:rPr lang="en-US" altLang="zh-CN" b="1">
                <a:solidFill>
                  <a:schemeClr val="hlink"/>
                </a:solidFill>
                <a:hlinkClick r:id="rId1" action="ppaction://hlinkfile"/>
              </a:rPr>
              <a:t>info</a:t>
            </a:r>
            <a:r>
              <a:rPr lang="zh-CN" altLang="en-US" b="1" dirty="0">
                <a:solidFill>
                  <a:schemeClr val="hlink"/>
                </a:solidFill>
                <a:hlinkClick r:id="rId1" action="ppaction://hlinkfile"/>
              </a:rPr>
              <a:t>该如何定义？</a:t>
            </a:r>
            <a:endParaRPr lang="zh-CN" altLang="en-US" b="1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3" name="文本占位符 61442"/>
          <p:cNvSpPr>
            <a:spLocks noGrp="1"/>
          </p:cNvSpPr>
          <p:nvPr>
            <p:ph type="body" idx="1"/>
          </p:nvPr>
        </p:nvSpPr>
        <p:spPr>
          <a:xfrm>
            <a:off x="501650" y="115888"/>
            <a:ext cx="8534400" cy="6553200"/>
          </a:xfrm>
          <a:ln/>
        </p:spPr>
        <p:txBody>
          <a:bodyPr/>
          <a:p>
            <a:pPr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main()</a:t>
            </a:r>
            <a:r>
              <a:rPr lang="en-US" altLang="zh-CN" sz="2400">
                <a:latin typeface="Times New Roman" panose="02020603050405020304" pitchFamily="18" charset="0"/>
              </a:rPr>
              <a:t>[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运行</a:t>
            </a:r>
            <a:r>
              <a:rPr lang="en-US" altLang="zh-CN" sz="2800" b="1" err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viewport.c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{   </a:t>
            </a:r>
            <a:r>
              <a:rPr lang="en-US" altLang="zh-CN" sz="2400" b="1" err="1">
                <a:latin typeface="Times New Roman" panose="02020603050405020304" pitchFamily="18" charset="0"/>
              </a:rPr>
              <a:t>struct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latin typeface="Times New Roman" panose="02020603050405020304" pitchFamily="18" charset="0"/>
              </a:rPr>
              <a:t>viewporttype</a:t>
            </a:r>
            <a:r>
              <a:rPr lang="en-US" altLang="zh-CN" sz="2400" b="1">
                <a:latin typeface="Times New Roman" panose="02020603050405020304" pitchFamily="18" charset="0"/>
              </a:rPr>
              <a:t>  info;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latin typeface="Times New Roman" panose="02020603050405020304" pitchFamily="18" charset="0"/>
              </a:rPr>
              <a:t>int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latin typeface="Times New Roman" panose="02020603050405020304" pitchFamily="18" charset="0"/>
              </a:rPr>
              <a:t>gdriver</a:t>
            </a:r>
            <a:r>
              <a:rPr lang="en-US" altLang="zh-CN" sz="2400" b="1">
                <a:latin typeface="Times New Roman" panose="02020603050405020304" pitchFamily="18" charset="0"/>
              </a:rPr>
              <a:t>=DETECT  ,</a:t>
            </a:r>
            <a:r>
              <a:rPr lang="en-US" altLang="zh-CN" sz="2400" b="1" err="1">
                <a:latin typeface="Times New Roman" panose="02020603050405020304" pitchFamily="18" charset="0"/>
              </a:rPr>
              <a:t>gmode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en-US" altLang="zh-CN" sz="2400" b="1">
                <a:latin typeface="Times New Roman" panose="02020603050405020304" pitchFamily="18" charset="0"/>
              </a:rPr>
              <a:t> initgraph(&amp;gdriver,&amp;gmode,"C:\\tc3\\BGI");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setcolor(4);//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红色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setviewport(100,100,200,200,1);/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将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参数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clip=0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结果如何？</a:t>
            </a:r>
            <a:endParaRPr lang="zh-CN" altLang="en-US" sz="2400" b="1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circle(60,60,60);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getviewsettings(&amp;info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rectangle(0,0,info.right-info.left,info.bottom- info.top);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getch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();   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clearviewport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();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</a:rPr>
              <a:t>getch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();  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latin typeface="Times New Roman" panose="02020603050405020304" pitchFamily="18" charset="0"/>
              </a:rPr>
              <a:t>closegraph</a:t>
            </a:r>
            <a:r>
              <a:rPr lang="en-US" altLang="zh-CN" sz="2400" b="1">
                <a:latin typeface="Times New Roman" panose="02020603050405020304" pitchFamily="18" charset="0"/>
              </a:rPr>
              <a:t>();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}</a:t>
            </a:r>
            <a:r>
              <a:rPr lang="zh-CN" altLang="en-US" sz="2800" b="1" dirty="0">
                <a:solidFill>
                  <a:srgbClr val="FF0066"/>
                </a:solidFill>
              </a:rPr>
              <a:t>问题</a:t>
            </a:r>
            <a:r>
              <a:rPr lang="en-US" altLang="zh-CN" sz="2800" b="1">
                <a:solidFill>
                  <a:srgbClr val="FF0066"/>
                </a:solidFill>
              </a:rPr>
              <a:t>1</a:t>
            </a:r>
            <a:r>
              <a:rPr lang="zh-CN" altLang="en-US" sz="2800" b="1" dirty="0">
                <a:solidFill>
                  <a:srgbClr val="FF0066"/>
                </a:solidFill>
              </a:rPr>
              <a:t>：</a:t>
            </a:r>
            <a:r>
              <a:rPr lang="zh-CN" altLang="en-US" sz="2400" b="1" dirty="0"/>
              <a:t>程序运行结果？如果该为</a:t>
            </a:r>
            <a:r>
              <a:rPr lang="en-US" altLang="zh-CN" sz="2400" b="1"/>
              <a:t>circle(50,50</a:t>
            </a:r>
            <a:r>
              <a:rPr lang="zh-CN" altLang="en-US" sz="2400" b="1"/>
              <a:t>，</a:t>
            </a:r>
            <a:r>
              <a:rPr lang="en-US" altLang="zh-CN" sz="2400" b="1"/>
              <a:t>20)</a:t>
            </a:r>
            <a:r>
              <a:rPr lang="zh-CN" altLang="en-US" sz="2400" b="1" dirty="0"/>
              <a:t>结果如何？如果将</a:t>
            </a:r>
            <a:r>
              <a:rPr lang="en-US" altLang="zh-CN" sz="2400" b="1"/>
              <a:t>circle(60,60,60)</a:t>
            </a:r>
            <a:r>
              <a:rPr lang="zh-CN" altLang="en-US" sz="2400" b="1" dirty="0"/>
              <a:t>前移一行结果？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文本占位符 62466"/>
          <p:cNvSpPr>
            <a:spLocks noGrp="1"/>
          </p:cNvSpPr>
          <p:nvPr>
            <p:ph type="body" idx="1"/>
          </p:nvPr>
        </p:nvSpPr>
        <p:spPr>
          <a:xfrm>
            <a:off x="468313" y="333375"/>
            <a:ext cx="8077200" cy="5791200"/>
          </a:xfrm>
          <a:ln/>
        </p:spPr>
        <p:txBody>
          <a:bodyPr/>
          <a:p>
            <a:r>
              <a:rPr lang="en-US" altLang="zh-CN" b="1">
                <a:solidFill>
                  <a:srgbClr val="FF0066"/>
                </a:solidFill>
              </a:rPr>
              <a:t>2</a:t>
            </a:r>
            <a:r>
              <a:rPr lang="zh-CN" altLang="en-US" b="1" dirty="0">
                <a:solidFill>
                  <a:srgbClr val="FF0066"/>
                </a:solidFill>
              </a:rPr>
              <a:t>屏幕位置函数</a:t>
            </a:r>
            <a:endParaRPr lang="zh-CN" altLang="en-US" b="1" dirty="0">
              <a:solidFill>
                <a:srgbClr val="FF0066"/>
              </a:solidFill>
            </a:endParaRPr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getmaxx</a:t>
            </a:r>
            <a:r>
              <a:rPr lang="en-US" altLang="zh-CN" b="1">
                <a:solidFill>
                  <a:schemeClr val="hlink"/>
                </a:solidFill>
              </a:rPr>
              <a:t>() 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返回当前图形模式下最大</a:t>
            </a:r>
            <a:r>
              <a:rPr lang="en-US" altLang="zh-CN" b="1"/>
              <a:t>x</a:t>
            </a:r>
            <a:r>
              <a:rPr lang="zh-CN" altLang="en-US" b="1" dirty="0"/>
              <a:t>坐标</a:t>
            </a:r>
            <a:endParaRPr lang="zh-CN" altLang="en-US" b="1" dirty="0"/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getmaxy</a:t>
            </a:r>
            <a:r>
              <a:rPr lang="en-US" altLang="zh-CN" b="1">
                <a:solidFill>
                  <a:schemeClr val="hlink"/>
                </a:solidFill>
              </a:rPr>
              <a:t>()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/>
              <a:t>作用：返回当前图形模式下最大</a:t>
            </a:r>
            <a:r>
              <a:rPr lang="en-US" altLang="zh-CN" b="1"/>
              <a:t>x</a:t>
            </a:r>
            <a:r>
              <a:rPr lang="zh-CN" altLang="en-US" b="1" dirty="0"/>
              <a:t>坐标</a:t>
            </a:r>
            <a:endParaRPr lang="zh-CN" altLang="en-US" b="1" dirty="0"/>
          </a:p>
          <a:p>
            <a:r>
              <a:rPr lang="en-US" altLang="zh-CN" b="1" err="1">
                <a:solidFill>
                  <a:schemeClr val="hlink"/>
                </a:solidFill>
              </a:rPr>
              <a:t>Getx</a:t>
            </a:r>
            <a:r>
              <a:rPr lang="en-US" altLang="zh-CN" b="1">
                <a:solidFill>
                  <a:schemeClr val="hlink"/>
                </a:solidFill>
              </a:rPr>
              <a:t>()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返回图形模式下当前位置的</a:t>
            </a:r>
            <a:r>
              <a:rPr lang="en-US" altLang="zh-CN" b="1"/>
              <a:t>x</a:t>
            </a:r>
            <a:r>
              <a:rPr lang="zh-CN" altLang="en-US" b="1" dirty="0"/>
              <a:t>坐标</a:t>
            </a:r>
            <a:endParaRPr lang="zh-CN" altLang="en-US" b="1" dirty="0"/>
          </a:p>
          <a:p>
            <a:r>
              <a:rPr lang="en-US" altLang="zh-CN" b="1" err="1">
                <a:solidFill>
                  <a:schemeClr val="hlink"/>
                </a:solidFill>
              </a:rPr>
              <a:t>Gety</a:t>
            </a:r>
            <a:r>
              <a:rPr lang="en-US" altLang="zh-CN" b="1">
                <a:solidFill>
                  <a:schemeClr val="hlink"/>
                </a:solidFill>
              </a:rPr>
              <a:t>()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返回图形模式下当前位置的</a:t>
            </a:r>
            <a:r>
              <a:rPr lang="en-US" altLang="zh-CN" b="1"/>
              <a:t>x</a:t>
            </a:r>
            <a:r>
              <a:rPr lang="zh-CN" altLang="en-US" b="1" dirty="0"/>
              <a:t>坐标</a:t>
            </a:r>
            <a:endParaRPr lang="zh-CN" altLang="en-US" b="1" dirty="0"/>
          </a:p>
          <a:p>
            <a:endParaRPr lang="zh-CN" altLang="en-US" b="1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>
          <a:xfrm>
            <a:off x="250825" y="260350"/>
            <a:ext cx="8207375" cy="6019800"/>
          </a:xfrm>
          <a:ln/>
        </p:spPr>
        <p:txBody>
          <a:bodyPr/>
          <a:p>
            <a:r>
              <a:rPr lang="en-US" altLang="zh-CN" b="1">
                <a:solidFill>
                  <a:schemeClr val="hlink"/>
                </a:solidFill>
              </a:rPr>
              <a:t>- </a:t>
            </a:r>
            <a:r>
              <a:rPr lang="en-US" altLang="zh-CN" b="1" err="1">
                <a:solidFill>
                  <a:schemeClr val="hlink"/>
                </a:solidFill>
              </a:rPr>
              <a:t>moveto(int</a:t>
            </a:r>
            <a:r>
              <a:rPr lang="en-US" altLang="zh-CN" b="1">
                <a:solidFill>
                  <a:schemeClr val="hlink"/>
                </a:solidFill>
              </a:rPr>
              <a:t> x ,</a:t>
            </a:r>
            <a:r>
              <a:rPr lang="en-US" altLang="zh-CN" b="1" err="1">
                <a:solidFill>
                  <a:schemeClr val="hlink"/>
                </a:solidFill>
              </a:rPr>
              <a:t>int</a:t>
            </a:r>
            <a:r>
              <a:rPr lang="en-US" altLang="zh-CN" b="1">
                <a:solidFill>
                  <a:schemeClr val="hlink"/>
                </a:solidFill>
              </a:rPr>
              <a:t> y)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将当前位置移到</a:t>
            </a:r>
            <a:r>
              <a:rPr lang="en-US" altLang="zh-CN" b="1"/>
              <a:t>(x,y)</a:t>
            </a:r>
            <a:endParaRPr lang="en-US" altLang="zh-CN" b="1"/>
          </a:p>
          <a:p>
            <a:r>
              <a:rPr lang="zh-CN" altLang="en-US" b="1" dirty="0"/>
              <a:t>例：</a:t>
            </a:r>
            <a:r>
              <a:rPr lang="en-US" altLang="zh-CN" b="1"/>
              <a:t>moveto(10,20)</a:t>
            </a:r>
            <a:endParaRPr lang="en-US" altLang="zh-CN" b="1"/>
          </a:p>
          <a:p>
            <a:r>
              <a:rPr lang="en-US" altLang="zh-CN" b="1"/>
              <a:t> </a:t>
            </a:r>
            <a:r>
              <a:rPr lang="en-US" altLang="zh-CN" b="1">
                <a:solidFill>
                  <a:schemeClr val="hlink"/>
                </a:solidFill>
              </a:rPr>
              <a:t>- </a:t>
            </a:r>
            <a:r>
              <a:rPr lang="en-US" altLang="zh-CN" b="1" err="1">
                <a:solidFill>
                  <a:schemeClr val="hlink"/>
                </a:solidFill>
              </a:rPr>
              <a:t>moverel(int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deltax,int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deltay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相对移动函数</a:t>
            </a:r>
            <a:endParaRPr lang="zh-CN" altLang="en-US" b="1" dirty="0"/>
          </a:p>
          <a:p>
            <a:r>
              <a:rPr lang="zh-CN" altLang="en-US" b="1" dirty="0">
                <a:solidFill>
                  <a:schemeClr val="hlink"/>
                </a:solidFill>
              </a:rPr>
              <a:t>说明：</a:t>
            </a:r>
            <a:r>
              <a:rPr lang="en-US" altLang="zh-CN" b="1" err="1"/>
              <a:t>deltax</a:t>
            </a:r>
            <a:r>
              <a:rPr lang="zh-CN" altLang="en-US" b="1"/>
              <a:t>和</a:t>
            </a:r>
            <a:r>
              <a:rPr lang="en-US" altLang="zh-CN" b="1" err="1"/>
              <a:t>deltay</a:t>
            </a:r>
            <a:r>
              <a:rPr lang="zh-CN" altLang="en-US" b="1"/>
              <a:t>。</a:t>
            </a:r>
            <a:r>
              <a:rPr lang="zh-CN" altLang="en-US" b="1" dirty="0"/>
              <a:t>表示相对移动位置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0000FF"/>
                </a:solidFill>
              </a:rPr>
              <a:t>问题：刚才使用</a:t>
            </a:r>
            <a:r>
              <a:rPr lang="en-US" altLang="zh-CN" b="1">
                <a:solidFill>
                  <a:srgbClr val="0000FF"/>
                </a:solidFill>
              </a:rPr>
              <a:t>moveto(10,20)</a:t>
            </a:r>
            <a:r>
              <a:rPr lang="zh-CN" altLang="en-US" b="1" dirty="0">
                <a:solidFill>
                  <a:srgbClr val="0000FF"/>
                </a:solidFill>
              </a:rPr>
              <a:t>将光标定位在（</a:t>
            </a:r>
            <a:r>
              <a:rPr lang="en-US" altLang="zh-CN" b="1">
                <a:solidFill>
                  <a:srgbClr val="0000FF"/>
                </a:solidFill>
              </a:rPr>
              <a:t>10</a:t>
            </a:r>
            <a:r>
              <a:rPr lang="zh-CN" altLang="en-US" b="1" dirty="0">
                <a:solidFill>
                  <a:srgbClr val="0000FF"/>
                </a:solidFill>
              </a:rPr>
              <a:t>，</a:t>
            </a:r>
            <a:r>
              <a:rPr lang="en-US" altLang="zh-CN" b="1">
                <a:solidFill>
                  <a:srgbClr val="0000FF"/>
                </a:solidFill>
              </a:rPr>
              <a:t>20</a:t>
            </a:r>
            <a:r>
              <a:rPr lang="zh-CN" altLang="en-US" b="1" dirty="0">
                <a:solidFill>
                  <a:srgbClr val="0000FF"/>
                </a:solidFill>
              </a:rPr>
              <a:t>）上，即</a:t>
            </a:r>
            <a:r>
              <a:rPr lang="en-US" altLang="zh-CN" b="1">
                <a:solidFill>
                  <a:srgbClr val="0000FF"/>
                </a:solidFill>
              </a:rPr>
              <a:t>CP=(10,20)</a:t>
            </a:r>
            <a:r>
              <a:rPr lang="zh-CN" altLang="en-US" b="1">
                <a:solidFill>
                  <a:srgbClr val="0000FF"/>
                </a:solidFill>
              </a:rPr>
              <a:t>。</a:t>
            </a:r>
            <a:r>
              <a:rPr lang="zh-CN" altLang="en-US" b="1" dirty="0">
                <a:solidFill>
                  <a:srgbClr val="0000FF"/>
                </a:solidFill>
              </a:rPr>
              <a:t>如果现在</a:t>
            </a:r>
            <a:r>
              <a:rPr lang="zh-CN" altLang="en-US" b="1" dirty="0"/>
              <a:t>调用  </a:t>
            </a:r>
            <a:r>
              <a:rPr lang="en-US" altLang="zh-CN" b="1"/>
              <a:t>moverel(-5,10)</a:t>
            </a:r>
            <a:r>
              <a:rPr lang="zh-CN" altLang="en-US" b="1" dirty="0"/>
              <a:t>光标将在何处？</a:t>
            </a:r>
            <a:endParaRPr lang="zh-CN" altLang="en-US" b="1" dirty="0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239713" y="209550"/>
            <a:ext cx="8580437" cy="6648450"/>
          </a:xfrm>
          <a:ln/>
        </p:spPr>
        <p:txBody>
          <a:bodyPr/>
          <a:p>
            <a:pPr>
              <a:buNone/>
            </a:pPr>
            <a:r>
              <a:rPr lang="en-US" altLang="zh-CN" sz="3600" b="1" dirty="0">
                <a:solidFill>
                  <a:srgbClr val="FF0066"/>
                </a:solidFill>
              </a:rPr>
              <a:t>   </a:t>
            </a:r>
            <a:r>
              <a:rPr lang="en-US" altLang="zh-CN" sz="3600" b="1">
                <a:solidFill>
                  <a:srgbClr val="FF0066"/>
                </a:solidFill>
              </a:rPr>
              <a:t>3.</a:t>
            </a:r>
            <a:r>
              <a:rPr lang="zh-CN" altLang="en-US" sz="3600" b="1" dirty="0">
                <a:solidFill>
                  <a:srgbClr val="FF0066"/>
                </a:solidFill>
              </a:rPr>
              <a:t>直线和线型函数</a:t>
            </a:r>
            <a:endParaRPr lang="zh-CN" altLang="en-US" sz="3600" b="1" dirty="0">
              <a:solidFill>
                <a:srgbClr val="FF0066"/>
              </a:solidFill>
            </a:endParaRPr>
          </a:p>
          <a:p>
            <a:r>
              <a:rPr lang="en-US" altLang="zh-CN">
                <a:solidFill>
                  <a:schemeClr val="hlink"/>
                </a:solidFill>
              </a:rPr>
              <a:t>-</a:t>
            </a:r>
            <a:r>
              <a:rPr lang="en-US" altLang="zh-CN" err="1">
                <a:solidFill>
                  <a:schemeClr val="hlink"/>
                </a:solidFill>
              </a:rPr>
              <a:t>line(int</a:t>
            </a:r>
            <a:r>
              <a:rPr lang="en-US" altLang="zh-CN">
                <a:solidFill>
                  <a:schemeClr val="hlink"/>
                </a:solidFill>
              </a:rPr>
              <a:t> x1,int y1,int x2,int y2)</a:t>
            </a:r>
            <a:endParaRPr lang="en-US" altLang="zh-CN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b="1"/>
              <a:t>-</a:t>
            </a:r>
            <a:r>
              <a:rPr lang="zh-CN" altLang="en-US" b="1" dirty="0"/>
              <a:t>在指定的两点之间画直线</a:t>
            </a:r>
            <a:endParaRPr lang="zh-CN" altLang="en-US" b="1" dirty="0"/>
          </a:p>
          <a:p>
            <a:r>
              <a:rPr lang="zh-CN" altLang="en-US" b="1" dirty="0"/>
              <a:t>说明：当前光标依然在</a:t>
            </a:r>
            <a:r>
              <a:rPr lang="en-US" altLang="zh-CN" b="1"/>
              <a:t>(x1,y1)</a:t>
            </a:r>
            <a:endParaRPr lang="en-US" altLang="zh-CN" b="1"/>
          </a:p>
          <a:p>
            <a:r>
              <a:rPr lang="en-US" altLang="zh-CN" err="1">
                <a:solidFill>
                  <a:schemeClr val="hlink"/>
                </a:solidFill>
              </a:rPr>
              <a:t>lineto(int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x,int</a:t>
            </a:r>
            <a:r>
              <a:rPr lang="en-US" altLang="zh-CN">
                <a:solidFill>
                  <a:schemeClr val="hlink"/>
                </a:solidFill>
              </a:rPr>
              <a:t> y)</a:t>
            </a:r>
            <a:endParaRPr lang="en-US" altLang="zh-CN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sz="2800" b="1" dirty="0"/>
              <a:t>从当前光标位置到（</a:t>
            </a:r>
            <a:r>
              <a:rPr lang="en-US" altLang="zh-CN" sz="2800" b="1"/>
              <a:t>x,y</a:t>
            </a:r>
            <a:r>
              <a:rPr lang="zh-CN" altLang="en-US" sz="2800" b="1"/>
              <a:t>）</a:t>
            </a:r>
            <a:r>
              <a:rPr lang="zh-CN" altLang="en-US" sz="2800" b="1" dirty="0"/>
              <a:t>之间画一条直线</a:t>
            </a:r>
            <a:endParaRPr lang="zh-CN" altLang="en-US" sz="2800" b="1" dirty="0"/>
          </a:p>
          <a:p>
            <a:r>
              <a:rPr lang="en-US" altLang="zh-CN">
                <a:solidFill>
                  <a:schemeClr val="hlink"/>
                </a:solidFill>
              </a:rPr>
              <a:t>-</a:t>
            </a:r>
            <a:r>
              <a:rPr lang="en-US" altLang="zh-CN" err="1">
                <a:solidFill>
                  <a:schemeClr val="hlink"/>
                </a:solidFill>
              </a:rPr>
              <a:t>linerel(int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deltax,int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deltay</a:t>
            </a:r>
            <a:r>
              <a:rPr lang="en-US" altLang="zh-CN">
                <a:solidFill>
                  <a:schemeClr val="hlink"/>
                </a:solidFill>
              </a:rPr>
              <a:t>)</a:t>
            </a:r>
            <a:endParaRPr lang="en-US" altLang="zh-CN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从当前坐标以相对增量方式画直线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66"/>
                </a:solidFill>
              </a:rPr>
              <a:t>问题</a:t>
            </a:r>
            <a:r>
              <a:rPr lang="en-US" altLang="zh-CN" b="1">
                <a:solidFill>
                  <a:srgbClr val="FF0066"/>
                </a:solidFill>
              </a:rPr>
              <a:t>2</a:t>
            </a:r>
            <a:r>
              <a:rPr lang="zh-CN" altLang="en-US" b="1" dirty="0">
                <a:solidFill>
                  <a:srgbClr val="FF0066"/>
                </a:solidFill>
              </a:rPr>
              <a:t>：</a:t>
            </a:r>
            <a:r>
              <a:rPr lang="zh-CN" altLang="en-US" b="1" dirty="0">
                <a:solidFill>
                  <a:schemeClr val="hlink"/>
                </a:solidFill>
              </a:rPr>
              <a:t>如果</a:t>
            </a:r>
            <a:r>
              <a:rPr lang="zh-CN" altLang="en-US" dirty="0"/>
              <a:t>  </a:t>
            </a:r>
            <a:r>
              <a:rPr lang="en-US" altLang="zh-CN"/>
              <a:t>CP(10,20) </a:t>
            </a:r>
            <a:r>
              <a:rPr lang="zh-CN" altLang="en-US"/>
              <a:t>；    </a:t>
            </a:r>
            <a:r>
              <a:rPr lang="en-US" altLang="zh-CN"/>
              <a:t>linerel(70,80)</a:t>
            </a:r>
            <a:endParaRPr lang="en-US" altLang="zh-CN"/>
          </a:p>
          <a:p>
            <a:r>
              <a:rPr lang="zh-CN" altLang="en-US" dirty="0"/>
              <a:t>应在哪两点之间画直线？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179388" y="188913"/>
            <a:ext cx="8964612" cy="54102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阅读程序，写出程序运行结果</a:t>
            </a:r>
            <a:endParaRPr lang="zh-CN" altLang="en-US" sz="28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例：</a:t>
            </a:r>
            <a:r>
              <a:rPr lang="en-US" altLang="zh-CN" sz="2800" b="1">
                <a:solidFill>
                  <a:schemeClr val="hlink"/>
                </a:solidFill>
              </a:rPr>
              <a:t>#include "graphics.h"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#include "</a:t>
            </a:r>
            <a:r>
              <a:rPr lang="en-US" altLang="zh-CN" sz="2800" b="1" err="1"/>
              <a:t>stdio.h</a:t>
            </a:r>
            <a:r>
              <a:rPr lang="en-US" altLang="zh-CN" sz="2800" b="1"/>
              <a:t>"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main()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{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int</a:t>
            </a:r>
            <a:r>
              <a:rPr lang="en-US" altLang="zh-CN" sz="2800" b="1"/>
              <a:t> cp_x,  cp_y;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int</a:t>
            </a:r>
            <a:r>
              <a:rPr lang="en-US" altLang="zh-CN" sz="2800" b="1"/>
              <a:t> </a:t>
            </a:r>
            <a:r>
              <a:rPr lang="en-US" altLang="zh-CN" sz="2800" b="1" err="1"/>
              <a:t>gdriver</a:t>
            </a:r>
            <a:r>
              <a:rPr lang="en-US" altLang="zh-CN" sz="2800" b="1"/>
              <a:t>=DETECT  ,</a:t>
            </a:r>
            <a:r>
              <a:rPr lang="en-US" altLang="zh-CN" sz="2800" b="1" err="1"/>
              <a:t>gmode</a:t>
            </a:r>
            <a:r>
              <a:rPr lang="en-US" altLang="zh-CN" sz="2800" b="1"/>
              <a:t>;         initgraph(&amp;gdriver,&amp;gmode,"C:\\TURBOC2");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>
                <a:solidFill>
                  <a:schemeClr val="hlink"/>
                </a:solidFill>
              </a:rPr>
              <a:t>moveto(5,10); 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  line(5,10,100,50); 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cp_x</a:t>
            </a:r>
            <a:r>
              <a:rPr lang="en-US" altLang="zh-CN" sz="2800" b="1"/>
              <a:t>=</a:t>
            </a:r>
            <a:r>
              <a:rPr lang="en-US" altLang="zh-CN" sz="2800" b="1" err="1"/>
              <a:t>getx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cp_y=</a:t>
            </a:r>
            <a:r>
              <a:rPr lang="en-US" altLang="zh-CN" sz="2800" b="1" err="1"/>
              <a:t>gety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  </a:t>
            </a:r>
            <a:endParaRPr lang="en-US" altLang="zh-CN" sz="24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>
          <a:xfrm>
            <a:off x="395288" y="260350"/>
            <a:ext cx="8329612" cy="59055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 b="1" err="1"/>
              <a:t>printf("the</a:t>
            </a:r>
            <a:r>
              <a:rPr lang="en-US" altLang="zh-CN" sz="2800" b="1"/>
              <a:t> cp_x cp_y are %d %d",cp_x,cp_y);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printf("\n</a:t>
            </a:r>
            <a:r>
              <a:rPr lang="en-US" altLang="zh-CN" sz="2800" b="1"/>
              <a:t>") ;  //</a:t>
            </a:r>
            <a:r>
              <a:rPr lang="zh-CN" altLang="en-US" sz="2800" b="1" dirty="0"/>
              <a:t>回车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en-US" altLang="zh-CN" sz="2800" b="1" err="1"/>
              <a:t>getch</a:t>
            </a:r>
            <a:r>
              <a:rPr lang="en-US" altLang="zh-CN" sz="2800" b="1"/>
              <a:t>() 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>
                <a:solidFill>
                  <a:schemeClr val="hlink"/>
                </a:solidFill>
              </a:rPr>
              <a:t>moveto(100,50); 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  lineto(100,100); 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  cp_x=</a:t>
            </a:r>
            <a:r>
              <a:rPr lang="en-US" altLang="zh-CN" sz="2800" b="1" err="1"/>
              <a:t>getx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cp_y=</a:t>
            </a:r>
            <a:r>
              <a:rPr lang="en-US" altLang="zh-CN" sz="2800" b="1" err="1"/>
              <a:t>gety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printf("the</a:t>
            </a:r>
            <a:r>
              <a:rPr lang="en-US" altLang="zh-CN" sz="2800" b="1"/>
              <a:t> cp_x cp_y is %d %d",cp_x,cp_y) ;//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>
                <a:solidFill>
                  <a:schemeClr val="hlink"/>
                </a:solidFill>
              </a:rPr>
              <a:t>linerel(50,50); 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}_x001A_</a:t>
            </a: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5" name="文本占位符 64514"/>
          <p:cNvSpPr>
            <a:spLocks noGrp="1"/>
          </p:cNvSpPr>
          <p:nvPr>
            <p:ph type="body" idx="1"/>
          </p:nvPr>
        </p:nvSpPr>
        <p:spPr>
          <a:xfrm>
            <a:off x="107950" y="333375"/>
            <a:ext cx="8893175" cy="5975350"/>
          </a:xfrm>
          <a:ln/>
        </p:spPr>
        <p:txBody>
          <a:bodyPr/>
          <a:p>
            <a:pPr>
              <a:buNone/>
            </a:pPr>
            <a:r>
              <a:rPr lang="en-US" altLang="zh-CN" b="1">
                <a:solidFill>
                  <a:srgbClr val="0000FF"/>
                </a:solidFill>
              </a:rPr>
              <a:t>-</a:t>
            </a:r>
            <a:r>
              <a:rPr lang="en-US" altLang="zh-CN" b="1" err="1">
                <a:solidFill>
                  <a:srgbClr val="0000FF"/>
                </a:solidFill>
              </a:rPr>
              <a:t>setlinestyle(int</a:t>
            </a:r>
            <a:r>
              <a:rPr lang="en-US" altLang="zh-CN" b="1">
                <a:solidFill>
                  <a:srgbClr val="0000FF"/>
                </a:solidFill>
              </a:rPr>
              <a:t> style, </a:t>
            </a:r>
            <a:r>
              <a:rPr lang="en-US" altLang="zh-CN" b="1" err="1">
                <a:solidFill>
                  <a:srgbClr val="0000FF"/>
                </a:solidFill>
              </a:rPr>
              <a:t>int</a:t>
            </a:r>
            <a:r>
              <a:rPr lang="en-US" altLang="zh-CN" b="1">
                <a:solidFill>
                  <a:srgbClr val="0000FF"/>
                </a:solidFill>
              </a:rPr>
              <a:t> pattern ,</a:t>
            </a:r>
            <a:r>
              <a:rPr lang="en-US" altLang="zh-CN" b="1" err="1">
                <a:solidFill>
                  <a:srgbClr val="0000FF"/>
                </a:solidFill>
              </a:rPr>
              <a:t>int</a:t>
            </a:r>
            <a:r>
              <a:rPr lang="en-US" altLang="zh-CN" b="1">
                <a:solidFill>
                  <a:srgbClr val="0000FF"/>
                </a:solidFill>
              </a:rPr>
              <a:t> width)</a:t>
            </a:r>
            <a:endParaRPr lang="en-US" altLang="zh-CN" b="1">
              <a:solidFill>
                <a:srgbClr val="0000FF"/>
              </a:solidFill>
            </a:endParaRPr>
          </a:p>
          <a:p>
            <a:pPr>
              <a:buNone/>
            </a:pP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作用：</a:t>
            </a:r>
            <a:r>
              <a:rPr lang="zh-CN" altLang="en-US" b="1" dirty="0">
                <a:latin typeface="宋体" panose="02010600030101010101" pitchFamily="2" charset="-122"/>
              </a:rPr>
              <a:t>设置线型特征（</a:t>
            </a:r>
            <a:r>
              <a:rPr lang="en-US" altLang="zh-CN" b="1">
                <a:latin typeface="宋体" panose="02010600030101010101" pitchFamily="2" charset="-122"/>
              </a:rPr>
              <a:t>P65</a:t>
            </a:r>
            <a:r>
              <a:rPr lang="zh-CN" altLang="en-US" b="1">
                <a:latin typeface="宋体" panose="02010600030101010101" pitchFamily="2" charset="-122"/>
              </a:rPr>
              <a:t>）</a:t>
            </a:r>
            <a:endParaRPr lang="zh-CN" altLang="en-US" b="1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folHlink"/>
                </a:solidFill>
                <a:latin typeface="宋体" panose="02010600030101010101" pitchFamily="2" charset="-122"/>
              </a:rPr>
              <a:t>style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参数：</a:t>
            </a:r>
            <a:r>
              <a:rPr lang="zh-CN" altLang="en-US" b="1" dirty="0">
                <a:latin typeface="宋体" panose="02010600030101010101" pitchFamily="2" charset="-122"/>
              </a:rPr>
              <a:t>用来定义所画直线的类型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folHlink"/>
                </a:solidFill>
                <a:latin typeface="宋体" panose="02010600030101010101" pitchFamily="2" charset="-122"/>
              </a:rPr>
              <a:t>Width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参数：</a:t>
            </a:r>
            <a:r>
              <a:rPr lang="zh-CN" altLang="en-US" b="1" dirty="0">
                <a:latin typeface="宋体" panose="02010600030101010101" pitchFamily="2" charset="-122"/>
              </a:rPr>
              <a:t>用来指定所画直线的粗细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folHlink"/>
                </a:solidFill>
                <a:latin typeface="宋体" panose="02010600030101010101" pitchFamily="2" charset="-122"/>
              </a:rPr>
              <a:t>pattern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参数：</a:t>
            </a:r>
            <a:r>
              <a:rPr lang="zh-CN" altLang="en-US" b="1" dirty="0">
                <a:latin typeface="宋体" panose="02010600030101010101" pitchFamily="2" charset="-122"/>
              </a:rPr>
              <a:t>只有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style=4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用户自定义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可用来表示用户字定义的线型。一般情况</a:t>
            </a:r>
            <a:r>
              <a:rPr lang="en-US" altLang="zh-CN" b="1">
                <a:latin typeface="宋体" panose="02010600030101010101" pitchFamily="2" charset="-122"/>
              </a:rPr>
              <a:t>pattern=0</a:t>
            </a:r>
            <a:endParaRPr lang="en-US" altLang="zh-CN" b="1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b="1" err="1">
                <a:latin typeface="Tahoma" panose="020B0604030504040204" pitchFamily="34" charset="0"/>
              </a:rPr>
              <a:t>Setlinestyle(DOTTEN</a:t>
            </a:r>
            <a:r>
              <a:rPr lang="en-US" altLang="zh-CN" b="1">
                <a:latin typeface="Tahoma" panose="020B0604030504040204" pitchFamily="34" charset="0"/>
              </a:rPr>
              <a:t>-LINE ,  0  , 1)</a:t>
            </a:r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64516" name="直接连接符 64515"/>
          <p:cNvSpPr/>
          <p:nvPr/>
        </p:nvSpPr>
        <p:spPr>
          <a:xfrm>
            <a:off x="2700338" y="616585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文本占位符 69633"/>
          <p:cNvSpPr>
            <a:spLocks noGrp="1"/>
          </p:cNvSpPr>
          <p:nvPr>
            <p:ph type="body" idx="1"/>
          </p:nvPr>
        </p:nvSpPr>
        <p:spPr>
          <a:xfrm>
            <a:off x="1066800" y="304800"/>
            <a:ext cx="7620000" cy="6248400"/>
          </a:xfrm>
          <a:ln/>
        </p:spPr>
        <p:txBody>
          <a:bodyPr/>
          <a:p>
            <a:r>
              <a:rPr lang="zh-CN" altLang="en-US" b="1" dirty="0">
                <a:solidFill>
                  <a:srgbClr val="FF0066"/>
                </a:solidFill>
              </a:rPr>
              <a:t>线性代码说明</a:t>
            </a:r>
            <a:endParaRPr lang="zh-CN" altLang="en-US" b="1" dirty="0">
              <a:solidFill>
                <a:srgbClr val="FF0066"/>
              </a:solidFill>
            </a:endParaRPr>
          </a:p>
          <a:p>
            <a:endParaRPr lang="zh-CN" altLang="en-US" b="1" dirty="0">
              <a:solidFill>
                <a:srgbClr val="FF0066"/>
              </a:solidFill>
            </a:endParaRPr>
          </a:p>
          <a:p>
            <a:endParaRPr lang="zh-CN" altLang="en-US" b="1" dirty="0">
              <a:solidFill>
                <a:srgbClr val="FF0066"/>
              </a:solidFill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sz="1000" dirty="0"/>
          </a:p>
          <a:p>
            <a:r>
              <a:rPr lang="zh-CN" altLang="en-US" dirty="0">
                <a:solidFill>
                  <a:srgbClr val="FF3300"/>
                </a:solidFill>
              </a:rPr>
              <a:t>线宽</a:t>
            </a:r>
            <a:endParaRPr lang="zh-CN" altLang="en-US">
              <a:solidFill>
                <a:srgbClr val="FF3300"/>
              </a:solidFill>
            </a:endParaRPr>
          </a:p>
        </p:txBody>
      </p:sp>
      <p:graphicFrame>
        <p:nvGraphicFramePr>
          <p:cNvPr id="69635" name="表格 69634"/>
          <p:cNvGraphicFramePr/>
          <p:nvPr/>
        </p:nvGraphicFramePr>
        <p:xfrm>
          <a:off x="573088" y="836613"/>
          <a:ext cx="7239000" cy="3227387"/>
        </p:xfrm>
        <a:graphic>
          <a:graphicData uri="http://schemas.openxmlformats.org/drawingml/2006/table">
            <a:tbl>
              <a:tblPr/>
              <a:tblGrid>
                <a:gridCol w="990600"/>
                <a:gridCol w="2590800"/>
                <a:gridCol w="3657600"/>
              </a:tblGrid>
              <a:tr h="5556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zh-CN" altLang="en-US" sz="2400" b="1" dirty="0"/>
                        <a:t>代码</a:t>
                      </a:r>
                      <a:endParaRPr lang="zh-CN" altLang="en-US" sz="24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 dirty="0"/>
                        <a:t>      </a:t>
                      </a:r>
                      <a:r>
                        <a:rPr lang="zh-CN" altLang="en-US" sz="2400" b="1" dirty="0"/>
                        <a:t>代码名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 dirty="0"/>
                        <a:t>               </a:t>
                      </a:r>
                      <a:r>
                        <a:rPr lang="zh-CN" altLang="en-US" sz="2400" b="1" dirty="0"/>
                        <a:t>说明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0</a:t>
                      </a:r>
                      <a:endParaRPr lang="zh-CN" altLang="en-US" sz="2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SOLID-LINE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/>
                        <a:t>实线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1</a:t>
                      </a:r>
                      <a:endParaRPr lang="zh-CN" altLang="en-US" sz="2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DOTTEN-LINE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/>
                        <a:t>点线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2</a:t>
                      </a:r>
                      <a:endParaRPr lang="zh-CN" altLang="en-US" sz="2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CENTER-LINE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/>
                        <a:t>中心线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3</a:t>
                      </a:r>
                      <a:endParaRPr lang="zh-CN" altLang="en-US" sz="2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DASHED-LINE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/>
                        <a:t>虚线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4</a:t>
                      </a:r>
                      <a:endParaRPr lang="zh-CN" altLang="en-US" sz="2400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b="1"/>
                        <a:t>USERBIT-LINE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b="1" dirty="0"/>
                        <a:t>用户定义的线</a:t>
                      </a:r>
                      <a:endParaRPr lang="zh-CN" altLang="en-US" sz="24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669" name="直接连接符 69668"/>
          <p:cNvSpPr/>
          <p:nvPr/>
        </p:nvSpPr>
        <p:spPr>
          <a:xfrm>
            <a:off x="5580063" y="1752600"/>
            <a:ext cx="1676400" cy="0"/>
          </a:xfrm>
          <a:prstGeom prst="line">
            <a:avLst/>
          </a:prstGeom>
          <a:ln w="476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70" name="直接连接符 69669"/>
          <p:cNvSpPr/>
          <p:nvPr/>
        </p:nvSpPr>
        <p:spPr>
          <a:xfrm>
            <a:off x="5580063" y="2362200"/>
            <a:ext cx="1760537" cy="0"/>
          </a:xfrm>
          <a:prstGeom prst="line">
            <a:avLst/>
          </a:prstGeom>
          <a:ln w="476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9671" name="直接连接符 69670"/>
          <p:cNvSpPr/>
          <p:nvPr/>
        </p:nvSpPr>
        <p:spPr>
          <a:xfrm>
            <a:off x="5613400" y="2819400"/>
            <a:ext cx="1695450" cy="0"/>
          </a:xfrm>
          <a:prstGeom prst="line">
            <a:avLst/>
          </a:prstGeom>
          <a:ln w="47625" cap="flat" cmpd="sng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69672" name="直接连接符 69671"/>
          <p:cNvSpPr/>
          <p:nvPr/>
        </p:nvSpPr>
        <p:spPr>
          <a:xfrm>
            <a:off x="5664200" y="3429000"/>
            <a:ext cx="1644650" cy="0"/>
          </a:xfrm>
          <a:prstGeom prst="line">
            <a:avLst/>
          </a:prstGeom>
          <a:ln w="476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69673" name="表格 69672"/>
          <p:cNvGraphicFramePr/>
          <p:nvPr/>
        </p:nvGraphicFramePr>
        <p:xfrm>
          <a:off x="468313" y="4953000"/>
          <a:ext cx="7791450" cy="1552575"/>
        </p:xfrm>
        <a:graphic>
          <a:graphicData uri="http://schemas.openxmlformats.org/drawingml/2006/table">
            <a:tbl>
              <a:tblPr/>
              <a:tblGrid>
                <a:gridCol w="3121025"/>
                <a:gridCol w="2073275"/>
                <a:gridCol w="2597150"/>
              </a:tblGrid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符号常量</a:t>
                      </a:r>
                      <a:endParaRPr lang="zh-CN" altLang="en-US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/>
                        <a:t>值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含义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NORM_WIDTH</a:t>
                      </a:r>
                      <a:endParaRPr lang="zh-CN" altLang="en-US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1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1</a:t>
                      </a:r>
                      <a:r>
                        <a:rPr lang="zh-CN" altLang="en-US" b="1" dirty="0"/>
                        <a:t>像素宽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THICK_WIDTH</a:t>
                      </a:r>
                      <a:endParaRPr lang="zh-CN" altLang="en-US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3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3</a:t>
                      </a:r>
                      <a:r>
                        <a:rPr lang="zh-CN" altLang="en-US" b="1" dirty="0"/>
                        <a:t>个像素宽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250825" y="762000"/>
            <a:ext cx="8281988" cy="5105400"/>
          </a:xfrm>
          <a:ln/>
        </p:spPr>
        <p:txBody>
          <a:bodyPr/>
          <a:p>
            <a:r>
              <a:rPr lang="zh-CN" altLang="en-US" b="1" dirty="0">
                <a:solidFill>
                  <a:schemeClr val="hlink"/>
                </a:solidFill>
              </a:rPr>
              <a:t>例：</a:t>
            </a:r>
            <a:r>
              <a:rPr lang="en-US" altLang="zh-CN" b="1">
                <a:solidFill>
                  <a:schemeClr val="hlink"/>
                </a:solidFill>
              </a:rPr>
              <a:t>setlinestyle(4 , 0xAAAA, 1)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en-US" altLang="zh-CN" b="1"/>
              <a:t>        1010  1010   1010  1010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        1111   1111  1111   1111 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>
                <a:solidFill>
                  <a:schemeClr val="hlink"/>
                </a:solidFill>
              </a:rPr>
              <a:t>pattern</a:t>
            </a:r>
            <a:r>
              <a:rPr lang="zh-CN" altLang="en-US" b="1" dirty="0">
                <a:solidFill>
                  <a:schemeClr val="hlink"/>
                </a:solidFill>
              </a:rPr>
              <a:t>参数</a:t>
            </a:r>
            <a:r>
              <a:rPr lang="zh-CN" altLang="en-US" b="1" dirty="0"/>
              <a:t>是</a:t>
            </a:r>
            <a:r>
              <a:rPr lang="en-US" altLang="zh-CN" b="1"/>
              <a:t>16</a:t>
            </a:r>
            <a:r>
              <a:rPr lang="zh-CN" altLang="en-US" b="1" dirty="0"/>
              <a:t>位二进制码，</a:t>
            </a:r>
            <a:r>
              <a:rPr lang="en-US" altLang="zh-CN" b="1"/>
              <a:t>1</a:t>
            </a:r>
            <a:r>
              <a:rPr lang="zh-CN" altLang="en-US" b="1" dirty="0"/>
              <a:t>：有像素用前景色点显示；</a:t>
            </a:r>
            <a:r>
              <a:rPr lang="en-US" altLang="zh-CN" b="1"/>
              <a:t>0</a:t>
            </a:r>
            <a:r>
              <a:rPr lang="zh-CN" altLang="en-US" b="1" dirty="0"/>
              <a:t>：没有像素用背景色点表示。</a:t>
            </a:r>
            <a:endParaRPr lang="zh-CN" altLang="en-US" b="1" dirty="0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文本占位符 90113"/>
          <p:cNvSpPr>
            <a:spLocks noGrp="1"/>
          </p:cNvSpPr>
          <p:nvPr>
            <p:ph type="body" idx="1"/>
          </p:nvPr>
        </p:nvSpPr>
        <p:spPr>
          <a:xfrm>
            <a:off x="457200" y="260350"/>
            <a:ext cx="8218488" cy="6381750"/>
          </a:xfrm>
          <a:solidFill>
            <a:schemeClr val="bg1">
              <a:alpha val="100000"/>
            </a:schemeClr>
          </a:solidFill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void draw_line()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{</a:t>
            </a:r>
            <a:r>
              <a:rPr lang="en-US" altLang="zh-CN" sz="2800" b="1" err="1"/>
              <a:t>int</a:t>
            </a:r>
            <a:r>
              <a:rPr lang="en-US" altLang="zh-CN" sz="2800" b="1"/>
              <a:t> i;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for(i=0;i&lt;4;i++)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/>
              <a:t>  { </a:t>
            </a:r>
            <a:r>
              <a:rPr lang="en-US" altLang="zh-CN" sz="2800" b="1">
                <a:solidFill>
                  <a:schemeClr val="hlink"/>
                </a:solidFill>
              </a:rPr>
              <a:t>setlinestyle(i,0,NORM_WIDTH);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   line(40,10*(i+1),100,10*(i+1));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   setlinestyle(i,0,THICK_WIDTH);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   line(40,10*(i+1),100,10*(i+1));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  }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 b="1"/>
              <a:t>setlinestyle(4,0x99cc,THICK_WIDTH);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line(40,50,100,50) 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 err="1"/>
              <a:t>setlinestyle</a:t>
            </a:r>
            <a:r>
              <a:rPr lang="en-US" altLang="zh-CN" sz="2800" b="1"/>
              <a:t> (4,0xABCD,THICK_WIDTH);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line(40,60,100,60)  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/>
              <a:t>}</a:t>
            </a: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>
          <a:xfrm>
            <a:off x="323850" y="549275"/>
            <a:ext cx="7620000" cy="5181600"/>
          </a:xfrm>
          <a:ln/>
        </p:spPr>
        <p:txBody>
          <a:bodyPr/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Setwritemode(int</a:t>
            </a:r>
            <a:r>
              <a:rPr lang="en-US" altLang="zh-CN" b="1">
                <a:solidFill>
                  <a:schemeClr val="hlink"/>
                </a:solidFill>
              </a:rPr>
              <a:t> mode)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作用：设置画线的输出模式</a:t>
            </a:r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rgbClr val="FF0066"/>
                </a:solidFill>
              </a:rPr>
              <a:t>mode=COPY_PUT(0)</a:t>
            </a:r>
            <a:endParaRPr lang="en-US" altLang="zh-CN" b="1">
              <a:solidFill>
                <a:srgbClr val="FF0066"/>
              </a:solidFill>
            </a:endParaRPr>
          </a:p>
          <a:p>
            <a:r>
              <a:rPr lang="zh-CN" altLang="en-US" b="1" dirty="0"/>
              <a:t>新画的线将覆盖屏幕上原有的图像</a:t>
            </a:r>
            <a:endParaRPr lang="zh-CN" altLang="en-US" b="1" dirty="0"/>
          </a:p>
          <a:p>
            <a:r>
              <a:rPr lang="en-US" altLang="zh-CN" b="1">
                <a:solidFill>
                  <a:srgbClr val="FF0066"/>
                </a:solidFill>
              </a:rPr>
              <a:t>mode=XOR_PUT(1)</a:t>
            </a:r>
            <a:endParaRPr lang="en-US" altLang="zh-CN" b="1">
              <a:solidFill>
                <a:srgbClr val="FF0066"/>
              </a:solidFill>
            </a:endParaRPr>
          </a:p>
          <a:p>
            <a:r>
              <a:rPr lang="zh-CN" altLang="en-US" b="1" dirty="0"/>
              <a:t>新画的线与旧线作异或，然后再向屏幕输出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9" name="文本占位符 91138"/>
          <p:cNvSpPr>
            <a:spLocks noGrp="1"/>
          </p:cNvSpPr>
          <p:nvPr>
            <p:ph type="body" idx="1"/>
          </p:nvPr>
        </p:nvSpPr>
        <p:spPr>
          <a:xfrm>
            <a:off x="1066800" y="685800"/>
            <a:ext cx="7620000" cy="51816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66"/>
                </a:solidFill>
              </a:rPr>
              <a:t>例：</a:t>
            </a:r>
            <a:endParaRPr lang="zh-CN" altLang="en-US" b="1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 err="1"/>
              <a:t>Midx</a:t>
            </a:r>
            <a:r>
              <a:rPr lang="en-US" altLang="zh-CN" b="1"/>
              <a:t>=getmaxx()/2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 err="1"/>
              <a:t>Midy</a:t>
            </a:r>
            <a:r>
              <a:rPr lang="en-US" altLang="zh-CN" b="1"/>
              <a:t>=getmay()/2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 err="1"/>
              <a:t>Setwritemode(</a:t>
            </a:r>
            <a:r>
              <a:rPr lang="en-US" altLang="zh-CN" b="1" err="1">
                <a:solidFill>
                  <a:srgbClr val="FF0066"/>
                </a:solidFill>
              </a:rPr>
              <a:t>XOR_PUT</a:t>
            </a:r>
            <a:r>
              <a:rPr lang="en-US" altLang="zh-CN" b="1"/>
              <a:t>)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Line(0,midy,midx,midy)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Line(midx/2,midy,midx*3/2,midy)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 err="1"/>
              <a:t>Setwritemode(</a:t>
            </a:r>
            <a:r>
              <a:rPr lang="en-US" altLang="zh-CN" b="1" err="1">
                <a:solidFill>
                  <a:srgbClr val="FF0066"/>
                </a:solidFill>
              </a:rPr>
              <a:t>COPY_PUT</a:t>
            </a:r>
            <a:r>
              <a:rPr lang="en-US" altLang="zh-CN" b="1"/>
              <a:t>)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Line(0,midy/2,midx,midy/2);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Line(midx/2,midy/2,midx*3/2,midy/2)</a:t>
            </a:r>
            <a:endParaRPr lang="en-US" altLang="zh-CN" b="1"/>
          </a:p>
          <a:p>
            <a:pPr>
              <a:lnSpc>
                <a:spcPct val="90000"/>
              </a:lnSpc>
            </a:pPr>
            <a:endParaRPr lang="en-US" altLang="zh-CN" b="1"/>
          </a:p>
          <a:p>
            <a:pPr>
              <a:lnSpc>
                <a:spcPct val="90000"/>
              </a:lnSpc>
            </a:pPr>
            <a:endParaRPr lang="en-US" altLang="zh-CN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62" name="文本占位符 92161"/>
          <p:cNvGraphicFramePr>
            <a:graphicFrameLocks noGrp="1"/>
          </p:cNvGraphicFramePr>
          <p:nvPr>
            <p:ph type="body" idx="1"/>
          </p:nvPr>
        </p:nvGraphicFramePr>
        <p:xfrm>
          <a:off x="2743200" y="2286000"/>
          <a:ext cx="405923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752725" imgH="2790825" progId="Paint.Picture">
                  <p:embed/>
                </p:oleObj>
              </mc:Choice>
              <mc:Fallback>
                <p:oleObj name="" r:id="rId1" imgW="2752725" imgH="2790825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2286000"/>
                        <a:ext cx="4059238" cy="4114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3" name="文本框 92162"/>
          <p:cNvSpPr txBox="1"/>
          <p:nvPr/>
        </p:nvSpPr>
        <p:spPr>
          <a:xfrm>
            <a:off x="1143000" y="457200"/>
            <a:ext cx="7391400" cy="179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程序设计：</a:t>
            </a:r>
            <a:endParaRPr lang="zh-CN" altLang="en-US" sz="32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利用</a:t>
            </a:r>
            <a:r>
              <a:rPr lang="en-US" altLang="zh-CN" sz="3200" b="1">
                <a:latin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</a:rPr>
              <a:t>语言设计一程序实现下图所示的二维平面时钟的绘制。</a:t>
            </a:r>
            <a:endParaRPr lang="zh-CN" altLang="en-US" sz="32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标题 94209"/>
          <p:cNvSpPr>
            <a:spLocks noGrp="1"/>
          </p:cNvSpPr>
          <p:nvPr>
            <p:ph type="title"/>
          </p:nvPr>
        </p:nvSpPr>
        <p:spPr>
          <a:xfrm>
            <a:off x="611188" y="188913"/>
            <a:ext cx="8208962" cy="6048375"/>
          </a:xfrm>
          <a:ln/>
        </p:spPr>
        <p:txBody>
          <a:bodyPr anchor="b" anchorCtr="0"/>
          <a:p>
            <a:r>
              <a:rPr lang="zh-CN" altLang="en-US" b="1" dirty="0">
                <a:solidFill>
                  <a:srgbClr val="0000FF"/>
                </a:solidFill>
              </a:rPr>
              <a:t>设计出一个时针分针</a:t>
            </a:r>
            <a:br>
              <a:rPr lang="zh-CN" altLang="en-US" b="1" dirty="0">
                <a:solidFill>
                  <a:srgbClr val="0000FF"/>
                </a:solidFill>
              </a:rPr>
            </a:br>
            <a:r>
              <a:rPr lang="zh-CN" altLang="en-US" b="1" dirty="0">
                <a:solidFill>
                  <a:srgbClr val="0000FF"/>
                </a:solidFill>
              </a:rPr>
              <a:t>能够协调旋转的的时钟</a:t>
            </a:r>
            <a:r>
              <a:rPr lang="en-US" altLang="zh-CN" b="1">
                <a:solidFill>
                  <a:srgbClr val="0000FF"/>
                </a:solidFill>
              </a:rPr>
              <a:t>[new_clock]</a:t>
            </a:r>
            <a:br>
              <a:rPr lang="en-US" altLang="zh-CN" b="1">
                <a:solidFill>
                  <a:srgbClr val="0000FF"/>
                </a:solidFill>
              </a:rPr>
            </a:br>
            <a:br>
              <a:rPr lang="en-US" altLang="zh-CN" b="1">
                <a:solidFill>
                  <a:schemeClr val="hlink"/>
                </a:solidFill>
              </a:rPr>
            </a:br>
            <a:r>
              <a:rPr lang="en-US" altLang="zh-CN" sz="2800" b="1">
                <a:solidFill>
                  <a:schemeClr val="hlink"/>
                </a:solidFill>
              </a:rPr>
              <a:t>-</a:t>
            </a:r>
            <a:r>
              <a:rPr lang="en-US" altLang="zh-CN" sz="2800" b="1" err="1">
                <a:solidFill>
                  <a:schemeClr val="hlink"/>
                </a:solidFill>
              </a:rPr>
              <a:t>Setwritemode(int</a:t>
            </a:r>
            <a:r>
              <a:rPr lang="en-US" altLang="zh-CN" sz="2800" b="1">
                <a:solidFill>
                  <a:schemeClr val="hlink"/>
                </a:solidFill>
              </a:rPr>
              <a:t> mode)</a:t>
            </a:r>
            <a:br>
              <a:rPr lang="en-US" altLang="zh-CN" sz="2800" b="1">
                <a:solidFill>
                  <a:schemeClr val="hlink"/>
                </a:solidFill>
              </a:rPr>
            </a:br>
            <a:r>
              <a:rPr lang="zh-CN" altLang="en-US" sz="2800" b="1" dirty="0">
                <a:solidFill>
                  <a:schemeClr val="hlink"/>
                </a:solidFill>
              </a:rPr>
              <a:t>作用：设置画线的输出模式</a:t>
            </a:r>
            <a:br>
              <a:rPr lang="zh-CN" altLang="en-US" sz="2800" b="1" dirty="0">
                <a:solidFill>
                  <a:schemeClr val="hlink"/>
                </a:solidFill>
              </a:rPr>
            </a:br>
            <a:r>
              <a:rPr lang="zh-CN" altLang="en-US" sz="2800" b="1" dirty="0"/>
              <a:t>如果</a:t>
            </a:r>
            <a:r>
              <a:rPr lang="en-US" altLang="zh-CN" sz="2800" b="1"/>
              <a:t>mode=COPY_PUT(0)</a:t>
            </a:r>
            <a:br>
              <a:rPr lang="en-US" altLang="zh-CN" sz="2800" b="1"/>
            </a:br>
            <a:r>
              <a:rPr lang="zh-CN" altLang="en-US" sz="2800" b="1" dirty="0"/>
              <a:t>新画的线将覆盖屏幕上原有的图像</a:t>
            </a:r>
            <a:br>
              <a:rPr lang="zh-CN" altLang="en-US" sz="2800" b="1" dirty="0"/>
            </a:br>
            <a:r>
              <a:rPr lang="zh-CN" altLang="en-US" sz="2800" b="1"/>
              <a:t>     </a:t>
            </a:r>
            <a:r>
              <a:rPr lang="en-US" altLang="zh-CN" sz="2800" b="1"/>
              <a:t>mode=XOR_PUT(1)</a:t>
            </a:r>
            <a:br>
              <a:rPr lang="en-US" altLang="zh-CN" sz="2800" b="1"/>
            </a:br>
            <a:r>
              <a:rPr lang="zh-CN" altLang="en-US" sz="2800" b="1" dirty="0"/>
              <a:t>新画的线与旧线作异或，然后再向屏幕输出</a:t>
            </a:r>
            <a:br>
              <a:rPr lang="zh-CN" altLang="en-US" sz="2800" b="1" dirty="0"/>
            </a:br>
            <a:endParaRPr lang="zh-CN" altLang="en-US" sz="28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5" name="文本占位符 95234"/>
          <p:cNvSpPr>
            <a:spLocks noGrp="1"/>
          </p:cNvSpPr>
          <p:nvPr>
            <p:ph type="body" idx="1"/>
          </p:nvPr>
        </p:nvSpPr>
        <p:spPr>
          <a:xfrm>
            <a:off x="0" y="31750"/>
            <a:ext cx="9144000" cy="6781800"/>
          </a:xfrm>
          <a:solidFill>
            <a:schemeClr val="bg1">
              <a:alpha val="100000"/>
            </a:schemeClr>
          </a:solidFill>
          <a:ln/>
        </p:spPr>
        <p:txBody>
          <a:bodyPr/>
          <a:p>
            <a:pPr>
              <a:buNone/>
            </a:pPr>
            <a:r>
              <a:rPr lang="en-US" altLang="zh-CN" sz="2800"/>
              <a:t> </a:t>
            </a:r>
            <a:r>
              <a:rPr lang="en-US" altLang="zh-CN" sz="2800" b="1" err="1">
                <a:solidFill>
                  <a:srgbClr val="FF0066"/>
                </a:solidFill>
              </a:rPr>
              <a:t>setwritemode(XOR_PUT</a:t>
            </a:r>
            <a:r>
              <a:rPr lang="en-US" altLang="zh-CN" sz="2800" b="1">
                <a:solidFill>
                  <a:srgbClr val="FF0066"/>
                </a:solidFill>
              </a:rPr>
              <a:t>);</a:t>
            </a:r>
            <a:r>
              <a:rPr lang="en-US" altLang="zh-CN" sz="2800" b="1"/>
              <a:t>  </a:t>
            </a:r>
            <a:r>
              <a:rPr lang="en-US" altLang="zh-CN" sz="2000" b="1"/>
              <a:t>/* </a:t>
            </a:r>
            <a:r>
              <a:rPr lang="zh-CN" altLang="en-US" sz="2000" b="1" dirty="0"/>
              <a:t>设置写模式为异或 </a:t>
            </a:r>
            <a:r>
              <a:rPr lang="en-US" altLang="zh-CN" sz="2000" b="1" dirty="0"/>
              <a:t>*</a:t>
            </a:r>
            <a:r>
              <a:rPr lang="en-US" altLang="zh-CN" sz="2000" b="1"/>
              <a:t>/</a:t>
            </a:r>
            <a:endParaRPr lang="en-US" altLang="zh-CN" sz="2000" b="1"/>
          </a:p>
          <a:p>
            <a:pPr>
              <a:buNone/>
            </a:pPr>
            <a:r>
              <a:rPr lang="en-US" altLang="zh-CN" sz="2400" b="1"/>
              <a:t> th1=0,  th2=0, </a:t>
            </a:r>
            <a:endParaRPr lang="en-US" altLang="zh-CN" sz="2400" b="1"/>
          </a:p>
          <a:p>
            <a:pPr>
              <a:buNone/>
            </a:pPr>
            <a:r>
              <a:rPr lang="en-US" altLang="zh-CN" sz="2800" b="1"/>
              <a:t> </a:t>
            </a:r>
            <a:r>
              <a:rPr lang="en-US" altLang="zh-CN" sz="2800" b="1" err="1">
                <a:solidFill>
                  <a:srgbClr val="0000FF"/>
                </a:solidFill>
              </a:rPr>
              <a:t>while(!kbhit</a:t>
            </a:r>
            <a:r>
              <a:rPr lang="en-US" altLang="zh-CN" sz="2800" b="1">
                <a:solidFill>
                  <a:srgbClr val="0000FF"/>
                </a:solidFill>
              </a:rPr>
              <a:t>()) {</a:t>
            </a:r>
            <a:r>
              <a:rPr lang="en-US" altLang="zh-CN" sz="2800" b="1"/>
              <a:t>     /*</a:t>
            </a:r>
            <a:r>
              <a:rPr lang="zh-CN" altLang="en-US" sz="2800" b="1" dirty="0"/>
              <a:t>判断是否按下某键</a:t>
            </a:r>
            <a:r>
              <a:rPr lang="en-US" altLang="zh-CN" sz="2800" b="1" dirty="0"/>
              <a:t>*</a:t>
            </a:r>
            <a:r>
              <a:rPr lang="en-US" altLang="zh-CN" sz="2800" b="1"/>
              <a:t>/</a:t>
            </a:r>
            <a:endParaRPr lang="en-US" altLang="zh-CN" sz="2800" b="1"/>
          </a:p>
          <a:p>
            <a:pPr>
              <a:buNone/>
            </a:pPr>
            <a:r>
              <a:rPr lang="en-US" altLang="zh-CN" sz="2800" b="1"/>
              <a:t> </a:t>
            </a:r>
            <a:r>
              <a:rPr lang="en-US" altLang="zh-CN" sz="2400" b="1" err="1"/>
              <a:t>setcolor(RED</a:t>
            </a:r>
            <a:r>
              <a:rPr lang="en-US" altLang="zh-CN" sz="2400" b="1"/>
              <a:t>) 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line(x,y,x+0.8*radius*cos(</a:t>
            </a:r>
            <a:r>
              <a:rPr lang="en-US" altLang="zh-CN" sz="2400" b="1">
                <a:solidFill>
                  <a:srgbClr val="FF0066"/>
                </a:solidFill>
              </a:rPr>
              <a:t>th1</a:t>
            </a:r>
            <a:r>
              <a:rPr lang="en-US" altLang="zh-CN" sz="2400" b="1"/>
              <a:t>),y-0.8*radius*sin(th1));</a:t>
            </a:r>
            <a:r>
              <a:rPr lang="en-US" altLang="zh-CN" sz="20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0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分针</a:t>
            </a:r>
            <a:r>
              <a:rPr lang="en-US" altLang="zh-CN" sz="20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endParaRPr lang="en-US" altLang="zh-CN" sz="2000" b="1">
              <a:solidFill>
                <a:schemeClr val="fol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r>
              <a:rPr lang="en-US" altLang="zh-CN" sz="2400" b="1"/>
              <a:t> </a:t>
            </a:r>
            <a:r>
              <a:rPr lang="en-US" altLang="zh-CN" sz="2400" b="1" err="1"/>
              <a:t>setcolor(BLUE</a:t>
            </a:r>
            <a:r>
              <a:rPr lang="en-US" altLang="zh-CN" sz="2400" b="1"/>
              <a:t>);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line(x,y,x+0.6*radius*cos(</a:t>
            </a:r>
            <a:r>
              <a:rPr lang="en-US" altLang="zh-CN" sz="2400" b="1">
                <a:solidFill>
                  <a:srgbClr val="0000FF"/>
                </a:solidFill>
              </a:rPr>
              <a:t>th2</a:t>
            </a:r>
            <a:r>
              <a:rPr lang="en-US" altLang="zh-CN" sz="2400" b="1"/>
              <a:t>),y-0.6*radius*sin(th2) )</a:t>
            </a:r>
            <a:r>
              <a:rPr lang="en-US" altLang="zh-CN" sz="2000" b="1">
                <a:solidFill>
                  <a:schemeClr val="folHlink"/>
                </a:solidFill>
              </a:rPr>
              <a:t>;(</a:t>
            </a:r>
            <a:r>
              <a:rPr lang="zh-CN" altLang="en-US" sz="2000" b="1" dirty="0">
                <a:solidFill>
                  <a:schemeClr val="folHlink"/>
                </a:solidFill>
              </a:rPr>
              <a:t>时针</a:t>
            </a:r>
            <a:r>
              <a:rPr lang="en-US" altLang="zh-CN" sz="2000" b="1">
                <a:solidFill>
                  <a:schemeClr val="folHlink"/>
                </a:solidFill>
              </a:rPr>
              <a:t>)</a:t>
            </a:r>
            <a:endParaRPr lang="en-US" altLang="zh-CN" sz="2000" b="1">
              <a:solidFill>
                <a:schemeClr val="folHlink"/>
              </a:solidFill>
            </a:endParaRPr>
          </a:p>
          <a:p>
            <a:pPr>
              <a:buNone/>
            </a:pPr>
            <a:r>
              <a:rPr lang="en-US" altLang="zh-CN" sz="2400" b="1"/>
              <a:t> delay(1000);    </a:t>
            </a:r>
            <a:r>
              <a:rPr lang="en-US" altLang="zh-CN" sz="2400" b="1" err="1"/>
              <a:t>setcolor(RED</a:t>
            </a:r>
            <a:r>
              <a:rPr lang="en-US" altLang="zh-CN" sz="2400" b="1"/>
              <a:t>) 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line(x,y,x+ 0.8*radius*cos(</a:t>
            </a:r>
            <a:r>
              <a:rPr lang="en-US" altLang="zh-CN" sz="2400" b="1">
                <a:solidFill>
                  <a:srgbClr val="FF0066"/>
                </a:solidFill>
              </a:rPr>
              <a:t>th1</a:t>
            </a:r>
            <a:r>
              <a:rPr lang="en-US" altLang="zh-CN" sz="2400" b="1"/>
              <a:t>), y-0.8*radius*sin(th1) ) 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</a:t>
            </a:r>
            <a:r>
              <a:rPr lang="en-US" altLang="zh-CN" sz="2400" b="1" err="1"/>
              <a:t>setcolor(BLUE</a:t>
            </a:r>
            <a:r>
              <a:rPr lang="en-US" altLang="zh-CN" sz="2400" b="1"/>
              <a:t>);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line(x,y,x+0.6*radius*cos(</a:t>
            </a:r>
            <a:r>
              <a:rPr lang="en-US" altLang="zh-CN" sz="2400" b="1">
                <a:solidFill>
                  <a:srgbClr val="0000FF"/>
                </a:solidFill>
              </a:rPr>
              <a:t>th2</a:t>
            </a:r>
            <a:r>
              <a:rPr lang="en-US" altLang="zh-CN" sz="2400" b="1"/>
              <a:t>),  y-0.6*radius*sin(th2) ) ;</a:t>
            </a:r>
            <a:endParaRPr lang="en-US" altLang="zh-CN" sz="2400" b="1"/>
          </a:p>
          <a:p>
            <a:pPr>
              <a:buNone/>
            </a:pPr>
            <a:r>
              <a:rPr lang="en-US" altLang="zh-CN"/>
              <a:t>  </a:t>
            </a:r>
            <a:r>
              <a:rPr lang="en-US" altLang="zh-CN" sz="2400" b="1"/>
              <a:t>th1 += 2*PI/(60*60);    th2+-= 2*PI/(12*60*</a:t>
            </a:r>
            <a:r>
              <a:rPr lang="en-US" altLang="zh-CN" sz="2400" b="1" err="1"/>
              <a:t>60</a:t>
            </a:r>
            <a:r>
              <a:rPr lang="en-US" altLang="zh-CN" sz="2400" b="1"/>
              <a:t>);</a:t>
            </a:r>
            <a:endParaRPr lang="en-US" altLang="zh-CN" sz="2400" b="1"/>
          </a:p>
          <a:p>
            <a:r>
              <a:rPr lang="en-US" altLang="zh-CN" sz="2400" b="1"/>
              <a:t>if (th1&lt;=0) th1+=2*PI;</a:t>
            </a:r>
            <a:endParaRPr lang="en-US" altLang="zh-CN" sz="2400" b="1"/>
          </a:p>
          <a:p>
            <a:r>
              <a:rPr lang="en-US" altLang="zh-CN" sz="2400" b="1"/>
              <a:t>if (th2&lt;=0) th2+=2*PI;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}</a:t>
            </a:r>
            <a:endParaRPr lang="en-US" altLang="zh-CN" sz="2400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9" name="文本占位符 75778"/>
          <p:cNvSpPr>
            <a:spLocks noGrp="1"/>
          </p:cNvSpPr>
          <p:nvPr>
            <p:ph type="body" idx="1"/>
          </p:nvPr>
        </p:nvSpPr>
        <p:spPr>
          <a:xfrm>
            <a:off x="323215" y="188595"/>
            <a:ext cx="8530590" cy="5974715"/>
          </a:xfrm>
          <a:ln/>
        </p:spPr>
        <p:txBody>
          <a:bodyPr/>
          <a:p>
            <a:pPr>
              <a:buNone/>
            </a:pPr>
            <a:endParaRPr lang="zh-CN" altLang="en-US" b="1" dirty="0">
              <a:solidFill>
                <a:srgbClr val="FF0066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rgbClr val="FF0066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rgbClr val="FF0066"/>
                </a:solidFill>
              </a:rPr>
              <a:t>例</a:t>
            </a:r>
            <a:r>
              <a:rPr lang="en-US" altLang="zh-CN" b="1">
                <a:solidFill>
                  <a:srgbClr val="FF0066"/>
                </a:solidFill>
              </a:rPr>
              <a:t>:</a:t>
            </a:r>
            <a:r>
              <a:rPr lang="zh-CN" altLang="en-US" b="1" dirty="0">
                <a:solidFill>
                  <a:srgbClr val="0000FF"/>
                </a:solidFill>
              </a:rPr>
              <a:t>抛物线的绘制</a:t>
            </a:r>
            <a:endParaRPr lang="zh-CN" altLang="en-US" b="1" dirty="0">
              <a:solidFill>
                <a:srgbClr val="0000FF"/>
              </a:solidFill>
            </a:endParaRPr>
          </a:p>
          <a:p>
            <a:r>
              <a:rPr lang="en-US" altLang="zh-CN" b="1">
                <a:highlight>
                  <a:srgbClr val="FFFF00"/>
                </a:highlight>
              </a:rPr>
              <a:t>1.</a:t>
            </a:r>
            <a:r>
              <a:rPr lang="zh-CN" altLang="en-US" b="1" dirty="0">
                <a:highlight>
                  <a:srgbClr val="FFFF00"/>
                </a:highlight>
              </a:rPr>
              <a:t>数学模型的分析</a:t>
            </a:r>
            <a:endParaRPr lang="zh-CN" altLang="en-US" b="1" dirty="0">
              <a:highlight>
                <a:srgbClr val="FFFF00"/>
              </a:highlight>
            </a:endParaRPr>
          </a:p>
          <a:p>
            <a:r>
              <a:rPr lang="zh-CN" altLang="en-US" b="1" dirty="0"/>
              <a:t>标准方程：</a:t>
            </a:r>
            <a:endParaRPr lang="zh-CN" altLang="en-US" b="1" dirty="0"/>
          </a:p>
          <a:p>
            <a:r>
              <a:rPr lang="en-US" altLang="zh-CN" b="1">
                <a:solidFill>
                  <a:schemeClr val="tx2"/>
                </a:solidFill>
              </a:rPr>
              <a:t>  </a:t>
            </a:r>
            <a:r>
              <a:rPr lang="en-US" altLang="zh-CN" sz="4800" b="1">
                <a:solidFill>
                  <a:schemeClr val="tx2"/>
                </a:solidFill>
              </a:rPr>
              <a:t>    Y=X</a:t>
            </a:r>
            <a:r>
              <a:rPr lang="en-US" altLang="zh-CN" sz="4800" b="1" baseline="30000">
                <a:solidFill>
                  <a:schemeClr val="tx2"/>
                </a:solidFill>
              </a:rPr>
              <a:t>2</a:t>
            </a:r>
            <a:r>
              <a:rPr lang="en-US" altLang="zh-CN" sz="4800" b="1">
                <a:solidFill>
                  <a:schemeClr val="tx2"/>
                </a:solidFill>
              </a:rPr>
              <a:t>/(4p) </a:t>
            </a:r>
            <a:r>
              <a:rPr lang="en-US" altLang="zh-CN" sz="4800" b="1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en-US" altLang="zh-CN" sz="4800" b="1">
                <a:solidFill>
                  <a:schemeClr val="hlink"/>
                </a:solidFill>
              </a:rPr>
              <a:t> </a:t>
            </a:r>
            <a:r>
              <a:rPr lang="en-US" altLang="zh-CN" b="1">
                <a:solidFill>
                  <a:schemeClr val="hlink"/>
                </a:solidFill>
              </a:rPr>
              <a:t>    </a:t>
            </a:r>
            <a:endParaRPr lang="en-US" altLang="zh-CN" b="1">
              <a:solidFill>
                <a:schemeClr val="hlink"/>
              </a:solidFill>
            </a:endParaRPr>
          </a:p>
          <a:p>
            <a:endParaRPr lang="zh-CN" altLang="en-US" b="1" dirty="0"/>
          </a:p>
          <a:p>
            <a:r>
              <a:rPr lang="en-US" altLang="zh-CN" b="1" dirty="0"/>
              <a:t>   </a:t>
            </a:r>
            <a:r>
              <a:rPr lang="zh-CN" altLang="en-US" b="1" dirty="0"/>
              <a:t>曲线以</a:t>
            </a:r>
            <a:r>
              <a:rPr lang="en-US" altLang="zh-CN" b="1">
                <a:solidFill>
                  <a:schemeClr val="tx2"/>
                </a:solidFill>
              </a:rPr>
              <a:t>F(0,p)</a:t>
            </a:r>
            <a:r>
              <a:rPr lang="zh-CN" altLang="en-US" b="1" dirty="0"/>
              <a:t>为焦点</a:t>
            </a:r>
            <a:r>
              <a:rPr lang="en-US" altLang="zh-CN" b="1"/>
              <a:t>,</a:t>
            </a:r>
            <a:r>
              <a:rPr lang="zh-CN" altLang="en-US" b="1" dirty="0"/>
              <a:t>曲线以</a:t>
            </a:r>
            <a:r>
              <a:rPr lang="en-US" altLang="zh-CN" b="1"/>
              <a:t>Y</a:t>
            </a:r>
            <a:r>
              <a:rPr lang="zh-CN" altLang="en-US" b="1" dirty="0"/>
              <a:t>轴为对称轴，其</a:t>
            </a:r>
            <a:r>
              <a:rPr lang="en-US" altLang="zh-CN" b="1"/>
              <a:t>X</a:t>
            </a:r>
            <a:r>
              <a:rPr lang="zh-CN" altLang="en-US" b="1" dirty="0"/>
              <a:t>的取值范围是任意的。</a:t>
            </a:r>
            <a:endParaRPr lang="zh-CN" altLang="en-US" b="1" dirty="0"/>
          </a:p>
        </p:txBody>
      </p:sp>
      <p:graphicFrame>
        <p:nvGraphicFramePr>
          <p:cNvPr id="75784" name="对象 75783"/>
          <p:cNvGraphicFramePr/>
          <p:nvPr/>
        </p:nvGraphicFramePr>
        <p:xfrm>
          <a:off x="4932363" y="692150"/>
          <a:ext cx="388620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4552950" imgH="3181350" progId="Paint.Picture">
                  <p:embed/>
                </p:oleObj>
              </mc:Choice>
              <mc:Fallback>
                <p:oleObj name="" r:id="rId1" imgW="4552950" imgH="3181350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32363" y="692150"/>
                        <a:ext cx="3886200" cy="2716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7" name="文本占位符 98306"/>
          <p:cNvSpPr>
            <a:spLocks noGrp="1"/>
          </p:cNvSpPr>
          <p:nvPr>
            <p:ph type="body" idx="1"/>
          </p:nvPr>
        </p:nvSpPr>
        <p:spPr>
          <a:xfrm>
            <a:off x="755650" y="188595"/>
            <a:ext cx="8326120" cy="6487160"/>
          </a:xfrm>
          <a:ln/>
        </p:spPr>
        <p:txBody>
          <a:bodyPr/>
          <a:p>
            <a:r>
              <a:rPr lang="zh-CN" altLang="en-US" b="1" dirty="0">
                <a:solidFill>
                  <a:schemeClr val="hlink"/>
                </a:solidFill>
              </a:rPr>
              <a:t>由此，可将上式离散化</a:t>
            </a:r>
            <a:endParaRPr lang="zh-CN" altLang="en-US" b="1" dirty="0">
              <a:solidFill>
                <a:schemeClr val="hlink"/>
              </a:solidFill>
            </a:endParaRPr>
          </a:p>
          <a:p>
            <a:endParaRPr lang="zh-CN" altLang="en-US"/>
          </a:p>
        </p:txBody>
      </p:sp>
      <p:grpSp>
        <p:nvGrpSpPr>
          <p:cNvPr id="98308" name="组合 98307"/>
          <p:cNvGrpSpPr/>
          <p:nvPr/>
        </p:nvGrpSpPr>
        <p:grpSpPr>
          <a:xfrm>
            <a:off x="467043" y="1556386"/>
            <a:ext cx="3303588" cy="1476374"/>
            <a:chOff x="1235" y="1701"/>
            <a:chExt cx="2081" cy="930"/>
          </a:xfrm>
        </p:grpSpPr>
        <p:sp>
          <p:nvSpPr>
            <p:cNvPr id="98309" name="左大括号 98308"/>
            <p:cNvSpPr/>
            <p:nvPr/>
          </p:nvSpPr>
          <p:spPr>
            <a:xfrm>
              <a:off x="1235" y="1842"/>
              <a:ext cx="288" cy="624"/>
            </a:xfrm>
            <a:prstGeom prst="leftBrace">
              <a:avLst>
                <a:gd name="adj1" fmla="val 18055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8310" name="文本框 98309"/>
            <p:cNvSpPr txBox="1"/>
            <p:nvPr/>
          </p:nvSpPr>
          <p:spPr>
            <a:xfrm>
              <a:off x="1512" y="1701"/>
              <a:ext cx="1804" cy="9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>
                  <a:latin typeface="Times New Roman" panose="02020603050405020304" pitchFamily="18" charset="0"/>
                </a:rPr>
                <a:t>X</a:t>
              </a:r>
              <a:r>
                <a:rPr lang="en-US" altLang="zh-CN" sz="3600" b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3600" b="1">
                  <a:latin typeface="Times New Roman" panose="02020603050405020304" pitchFamily="18" charset="0"/>
                </a:rPr>
                <a:t>=</a:t>
              </a:r>
              <a:r>
                <a:rPr lang="en-US" altLang="zh-CN" sz="3600" b="1">
                  <a:solidFill>
                    <a:schemeClr val="tx2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i</a:t>
              </a:r>
              <a:r>
                <a:rPr lang="en-US" altLang="zh-CN" sz="3600" b="1">
                  <a:latin typeface="Times New Roman" panose="02020603050405020304" pitchFamily="18" charset="0"/>
                </a:rPr>
                <a:t>*</a:t>
              </a:r>
              <a:r>
                <a:rPr lang="en-US" altLang="zh-CN" sz="3600" b="1" err="1">
                  <a:latin typeface="Times New Roman" panose="02020603050405020304" pitchFamily="18" charset="0"/>
                </a:rPr>
                <a:t>d</a:t>
              </a:r>
              <a:r>
                <a:rPr lang="en-US" altLang="zh-CN" sz="3600" b="1" baseline="-25000" err="1">
                  <a:latin typeface="Times New Roman" panose="02020603050405020304" pitchFamily="18" charset="0"/>
                </a:rPr>
                <a:t>x</a:t>
              </a:r>
              <a:endParaRPr lang="en-US" altLang="zh-CN" sz="3600" b="1" baseline="-2500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3600" b="1">
                  <a:latin typeface="Times New Roman" panose="02020603050405020304" pitchFamily="18" charset="0"/>
                </a:rPr>
                <a:t>Y</a:t>
              </a:r>
              <a:r>
                <a:rPr lang="en-US" altLang="zh-CN" sz="3600" b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3600" b="1">
                  <a:latin typeface="Times New Roman" panose="02020603050405020304" pitchFamily="18" charset="0"/>
                </a:rPr>
                <a:t>=x</a:t>
              </a:r>
              <a:r>
                <a:rPr lang="en-US" altLang="zh-CN" sz="3600" b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3600" b="1" baseline="30000">
                  <a:latin typeface="Times New Roman" panose="02020603050405020304" pitchFamily="18" charset="0"/>
                </a:rPr>
                <a:t>2</a:t>
              </a:r>
              <a:r>
                <a:rPr lang="en-US" altLang="zh-CN" sz="3600" b="1">
                  <a:latin typeface="Times New Roman" panose="02020603050405020304" pitchFamily="18" charset="0"/>
                </a:rPr>
                <a:t>/(4p)</a:t>
              </a:r>
              <a:endParaRPr lang="en-US" altLang="zh-CN" sz="36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98311" name="文本框 98310"/>
          <p:cNvSpPr txBox="1"/>
          <p:nvPr/>
        </p:nvSpPr>
        <p:spPr>
          <a:xfrm>
            <a:off x="755650" y="3975100"/>
            <a:ext cx="804481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其中：</a:t>
            </a:r>
            <a:r>
              <a:rPr lang="en-US" altLang="zh-CN" sz="2800" b="1">
                <a:solidFill>
                  <a:srgbClr val="FF33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i=</a:t>
            </a:r>
            <a:r>
              <a:rPr lang="en-US" altLang="zh-CN" sz="2800" b="1">
                <a:latin typeface="Times New Roman" panose="02020603050405020304" pitchFamily="18" charset="0"/>
              </a:rPr>
              <a:t>-m,-(m-1),……0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……m;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          </a:t>
            </a:r>
            <a:r>
              <a:rPr lang="en-US" altLang="zh-CN" sz="2800" b="1" err="1">
                <a:solidFill>
                  <a:srgbClr val="FF33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d</a:t>
            </a:r>
            <a:r>
              <a:rPr lang="en-US" altLang="zh-CN" sz="2800" b="1" baseline="-25000" err="1">
                <a:solidFill>
                  <a:srgbClr val="FF33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</a:rPr>
              <a:t>曲线沿</a:t>
            </a:r>
            <a:r>
              <a:rPr lang="en-US" altLang="zh-CN" sz="2800" b="1">
                <a:latin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</a:rPr>
              <a:t>方向的等距离。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98321" name="组合 98320"/>
          <p:cNvGrpSpPr/>
          <p:nvPr/>
        </p:nvGrpSpPr>
        <p:grpSpPr>
          <a:xfrm>
            <a:off x="3707765" y="764223"/>
            <a:ext cx="4419600" cy="3089275"/>
            <a:chOff x="2544" y="1008"/>
            <a:chExt cx="2784" cy="1946"/>
          </a:xfrm>
        </p:grpSpPr>
        <p:graphicFrame>
          <p:nvGraphicFramePr>
            <p:cNvPr id="98312" name="对象 98311"/>
            <p:cNvGraphicFramePr/>
            <p:nvPr/>
          </p:nvGraphicFramePr>
          <p:xfrm>
            <a:off x="2544" y="1008"/>
            <a:ext cx="2784" cy="1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4552950" imgH="3181350" progId="Paint.Picture">
                    <p:embed/>
                  </p:oleObj>
                </mc:Choice>
                <mc:Fallback>
                  <p:oleObj name="" r:id="rId1" imgW="4552950" imgH="3181350" progId="Paint.Picture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44" y="1008"/>
                          <a:ext cx="2784" cy="19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8320" name="组合 98319"/>
            <p:cNvGrpSpPr/>
            <p:nvPr/>
          </p:nvGrpSpPr>
          <p:grpSpPr>
            <a:xfrm>
              <a:off x="3310" y="1791"/>
              <a:ext cx="1099" cy="550"/>
              <a:chOff x="3310" y="1806"/>
              <a:chExt cx="1099" cy="550"/>
            </a:xfrm>
          </p:grpSpPr>
          <p:sp>
            <p:nvSpPr>
              <p:cNvPr id="98313" name="椭圆 98312"/>
              <p:cNvSpPr>
                <a:spLocks noChangeAspect="1"/>
              </p:cNvSpPr>
              <p:nvPr/>
            </p:nvSpPr>
            <p:spPr>
              <a:xfrm>
                <a:off x="3310" y="1845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4" name="椭圆 98313"/>
              <p:cNvSpPr>
                <a:spLocks noChangeAspect="1"/>
              </p:cNvSpPr>
              <p:nvPr/>
            </p:nvSpPr>
            <p:spPr>
              <a:xfrm>
                <a:off x="3474" y="2034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5" name="椭圆 98314"/>
              <p:cNvSpPr>
                <a:spLocks noChangeAspect="1"/>
              </p:cNvSpPr>
              <p:nvPr/>
            </p:nvSpPr>
            <p:spPr>
              <a:xfrm>
                <a:off x="3628" y="2190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6" name="椭圆 98315"/>
              <p:cNvSpPr>
                <a:spLocks noChangeAspect="1"/>
              </p:cNvSpPr>
              <p:nvPr/>
            </p:nvSpPr>
            <p:spPr>
              <a:xfrm>
                <a:off x="3790" y="2286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7" name="椭圆 98316"/>
              <p:cNvSpPr>
                <a:spLocks noChangeAspect="1"/>
              </p:cNvSpPr>
              <p:nvPr/>
            </p:nvSpPr>
            <p:spPr>
              <a:xfrm>
                <a:off x="4003" y="2163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8" name="椭圆 98317"/>
              <p:cNvSpPr>
                <a:spLocks noChangeAspect="1"/>
              </p:cNvSpPr>
              <p:nvPr/>
            </p:nvSpPr>
            <p:spPr>
              <a:xfrm>
                <a:off x="4174" y="1998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19" name="椭圆 98318"/>
              <p:cNvSpPr>
                <a:spLocks noChangeAspect="1"/>
              </p:cNvSpPr>
              <p:nvPr/>
            </p:nvSpPr>
            <p:spPr>
              <a:xfrm>
                <a:off x="4336" y="1806"/>
                <a:ext cx="73" cy="70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3996055" y="302387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-m,-(m-1), ,… 0</a:t>
            </a:r>
            <a:r>
              <a:rPr lang="zh-CN" altLang="en-US" sz="2000" b="1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en-US" sz="2000" b="1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…,m-1,m</a:t>
            </a:r>
            <a:endParaRPr lang="en-US" altLang="zh-CN" sz="2000" b="1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3" name="文本占位符 76802"/>
          <p:cNvSpPr>
            <a:spLocks noGrp="1"/>
          </p:cNvSpPr>
          <p:nvPr>
            <p:ph type="body" idx="1"/>
          </p:nvPr>
        </p:nvSpPr>
        <p:spPr>
          <a:xfrm>
            <a:off x="251460" y="2636520"/>
            <a:ext cx="3958590" cy="2809875"/>
          </a:xfrm>
          <a:ln/>
        </p:spPr>
        <p:txBody>
          <a:bodyPr/>
          <a:p>
            <a:r>
              <a:rPr lang="en-US" altLang="zh-CN" sz="3600" b="1">
                <a:solidFill>
                  <a:srgbClr val="0000FF"/>
                </a:solidFill>
              </a:rPr>
              <a:t>2.</a:t>
            </a:r>
            <a:r>
              <a:rPr lang="zh-CN" altLang="en-US" sz="3600" b="1" dirty="0">
                <a:solidFill>
                  <a:srgbClr val="0000FF"/>
                </a:solidFill>
              </a:rPr>
              <a:t>图形绘制范围</a:t>
            </a:r>
            <a:endParaRPr lang="zh-CN" altLang="en-US" sz="3600" b="1" dirty="0">
              <a:solidFill>
                <a:srgbClr val="0000FF"/>
              </a:solidFill>
            </a:endParaRPr>
          </a:p>
          <a:p>
            <a:r>
              <a:rPr lang="zh-CN" altLang="en-US" sz="3600" b="1" dirty="0">
                <a:solidFill>
                  <a:schemeClr val="tx2"/>
                </a:solidFill>
              </a:rPr>
              <a:t>设图形区域：</a:t>
            </a:r>
            <a:endParaRPr lang="zh-CN" altLang="en-US" sz="3600" b="1" dirty="0">
              <a:solidFill>
                <a:schemeClr val="tx2"/>
              </a:solidFill>
            </a:endParaRPr>
          </a:p>
          <a:p>
            <a:endParaRPr lang="zh-CN" altLang="en-US" sz="3600" b="1" dirty="0"/>
          </a:p>
          <a:p>
            <a:r>
              <a:rPr lang="zh-CN" altLang="en-US" sz="3600" b="1" dirty="0"/>
              <a:t>长</a:t>
            </a:r>
            <a:r>
              <a:rPr lang="en-US" altLang="zh-CN" sz="3600" b="1"/>
              <a:t>X=L,</a:t>
            </a:r>
            <a:r>
              <a:rPr lang="zh-CN" altLang="en-US" sz="3600" b="1" dirty="0"/>
              <a:t>高：</a:t>
            </a:r>
            <a:r>
              <a:rPr lang="en-US" altLang="zh-CN" sz="3600" b="1"/>
              <a:t>Y=H</a:t>
            </a:r>
            <a:endParaRPr lang="en-US" altLang="zh-CN" sz="3600" b="1"/>
          </a:p>
        </p:txBody>
      </p:sp>
      <p:sp>
        <p:nvSpPr>
          <p:cNvPr id="76809" name="矩形 76808"/>
          <p:cNvSpPr/>
          <p:nvPr/>
        </p:nvSpPr>
        <p:spPr>
          <a:xfrm>
            <a:off x="755650" y="1344295"/>
            <a:ext cx="3608070" cy="105791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noAutofit/>
          </a:bodyPr>
          <a:p>
            <a:r>
              <a:rPr lang="en-US" altLang="zh-CN" sz="4000" b="1">
                <a:solidFill>
                  <a:schemeClr val="tx2"/>
                </a:solidFill>
                <a:latin typeface="Comic Sans MS" panose="030F0702030302020204" pitchFamily="66" charset="0"/>
              </a:rPr>
              <a:t>Y=X</a:t>
            </a:r>
            <a:r>
              <a:rPr lang="en-US" altLang="zh-CN" sz="4000" b="1" baseline="30000">
                <a:solidFill>
                  <a:schemeClr val="tx2"/>
                </a:solidFill>
                <a:latin typeface="Comic Sans MS" panose="030F0702030302020204" pitchFamily="66" charset="0"/>
              </a:rPr>
              <a:t>2</a:t>
            </a:r>
            <a:r>
              <a:rPr lang="en-US" altLang="zh-CN" sz="4000" b="1">
                <a:solidFill>
                  <a:schemeClr val="tx2"/>
                </a:solidFill>
                <a:latin typeface="Comic Sans MS" panose="030F0702030302020204" pitchFamily="66" charset="0"/>
              </a:rPr>
              <a:t>/(4p)</a:t>
            </a:r>
            <a:endParaRPr lang="en-US" altLang="zh-CN" sz="4000" b="1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4500245" y="935355"/>
          <a:ext cx="4194175" cy="298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191000" imgH="2981325" progId="Paint.Picture">
                  <p:embed/>
                </p:oleObj>
              </mc:Choice>
              <mc:Fallback>
                <p:oleObj name="" r:id="rId1" imgW="4191000" imgH="298132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00245" y="935355"/>
                        <a:ext cx="4194175" cy="2983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860290" y="2924493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(0,0)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ChangeAspect="1"/>
          </p:cNvGraphicFramePr>
          <p:nvPr>
            <p:ph idx="1"/>
          </p:nvPr>
        </p:nvGraphicFramePr>
        <p:xfrm>
          <a:off x="755650" y="620395"/>
          <a:ext cx="4114800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114800" imgH="3000375" progId="Paint.Picture">
                  <p:embed/>
                </p:oleObj>
              </mc:Choice>
              <mc:Fallback>
                <p:oleObj name="" r:id="rId1" imgW="4114800" imgH="30003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620395"/>
                        <a:ext cx="4114800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924300" y="3573145"/>
          <a:ext cx="4394200" cy="315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391025" imgH="3152775" progId="Paint.Picture">
                  <p:embed/>
                </p:oleObj>
              </mc:Choice>
              <mc:Fallback>
                <p:oleObj name="" r:id="rId3" imgW="4391025" imgH="31527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4300" y="3573145"/>
                        <a:ext cx="4394200" cy="3155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5220335" y="3716655"/>
          <a:ext cx="47625" cy="208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47625" imgH="2085975" progId="Paint.Picture">
                  <p:embed/>
                </p:oleObj>
              </mc:Choice>
              <mc:Fallback>
                <p:oleObj name="" r:id="rId5" imgW="47625" imgH="208597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0335" y="3716655"/>
                        <a:ext cx="47625" cy="2087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6804660" y="3644900"/>
          <a:ext cx="47625" cy="208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47625" imgH="2085975" progId="Paint.Picture">
                  <p:embed/>
                </p:oleObj>
              </mc:Choice>
              <mc:Fallback>
                <p:oleObj name="" r:id="rId7" imgW="47625" imgH="2085975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4660" y="3644900"/>
                        <a:ext cx="47625" cy="2087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51460" y="3933190"/>
            <a:ext cx="34988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highlight>
                  <a:srgbClr val="FFFF00"/>
                </a:highlight>
                <a:sym typeface="+mn-ea"/>
              </a:rPr>
              <a:t>长</a:t>
            </a:r>
            <a:r>
              <a:rPr lang="en-US" altLang="zh-CN" sz="3600" b="1" dirty="0">
                <a:highlight>
                  <a:srgbClr val="FFFF00"/>
                </a:highlight>
                <a:sym typeface="+mn-ea"/>
              </a:rPr>
              <a:t>:</a:t>
            </a:r>
            <a:r>
              <a:rPr lang="en-US" altLang="zh-CN" sz="3600" b="1">
                <a:sym typeface="+mn-ea"/>
              </a:rPr>
              <a:t>X=L,</a:t>
            </a:r>
            <a:endParaRPr lang="en-US" altLang="zh-CN" sz="3600" b="1">
              <a:sym typeface="+mn-ea"/>
            </a:endParaRPr>
          </a:p>
          <a:p>
            <a:r>
              <a:rPr lang="zh-CN" altLang="en-US" sz="3600" b="1" dirty="0">
                <a:highlight>
                  <a:srgbClr val="FFFF00"/>
                </a:highlight>
                <a:sym typeface="+mn-ea"/>
              </a:rPr>
              <a:t>高</a:t>
            </a:r>
            <a:r>
              <a:rPr lang="zh-CN" altLang="en-US" sz="3600" b="1" dirty="0">
                <a:sym typeface="+mn-ea"/>
              </a:rPr>
              <a:t>：</a:t>
            </a:r>
            <a:r>
              <a:rPr lang="en-US" altLang="zh-CN" sz="3600" b="1">
                <a:sym typeface="+mn-ea"/>
              </a:rPr>
              <a:t>Y=H</a:t>
            </a:r>
            <a:endParaRPr lang="en-US" altLang="zh-CN" sz="3600" b="1"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940425" y="3644900"/>
            <a:ext cx="144145" cy="14414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552440" y="3068955"/>
            <a:ext cx="15043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y=H/2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548640"/>
            <a:ext cx="5677535" cy="2668270"/>
          </a:xfrm>
        </p:spPr>
        <p:txBody>
          <a:bodyPr/>
          <a:p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曲线</a:t>
            </a:r>
            <a:r>
              <a:rPr lang="en-US" altLang="zh-CN" b="1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</a:t>
            </a:r>
            <a:r>
              <a:rPr lang="en-US" altLang="zh-CN" b="1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的取值范围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b="1">
                <a:solidFill>
                  <a:schemeClr val="hlink"/>
                </a:solidFill>
                <a:sym typeface="+mn-ea"/>
              </a:rPr>
              <a:t>   </a:t>
            </a:r>
            <a:r>
              <a:rPr lang="en-US" altLang="zh-CN" b="1">
                <a:solidFill>
                  <a:schemeClr val="hlink"/>
                </a:solidFill>
                <a:sym typeface="+mn-ea"/>
              </a:rPr>
              <a:t>   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x1&lt;=x&lt;=x2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         x1 =-L/2, 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         x2=L/2</a:t>
            </a:r>
            <a:endParaRPr lang="en-US" altLang="zh-CN" b="1"/>
          </a:p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20110" y="3573145"/>
          <a:ext cx="4114800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114800" imgH="3000375" progId="Paint.Picture">
                  <p:embed/>
                </p:oleObj>
              </mc:Choice>
              <mc:Fallback>
                <p:oleObj name="" r:id="rId1" imgW="4114800" imgH="30003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20110" y="3573145"/>
                        <a:ext cx="4114800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3924300" y="3573145"/>
          <a:ext cx="4394200" cy="315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4391025" imgH="3152775" progId="Paint.Picture">
                  <p:embed/>
                </p:oleObj>
              </mc:Choice>
              <mc:Fallback>
                <p:oleObj name="" r:id="rId1" imgW="4391025" imgH="31527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4300" y="3573145"/>
                        <a:ext cx="4394200" cy="3155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5220335" y="3716655"/>
          <a:ext cx="47625" cy="208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47625" imgH="2085975" progId="Paint.Picture">
                  <p:embed/>
                </p:oleObj>
              </mc:Choice>
              <mc:Fallback>
                <p:oleObj name="" r:id="rId3" imgW="47625" imgH="208597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335" y="3716655"/>
                        <a:ext cx="47625" cy="2087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6804660" y="3644900"/>
          <a:ext cx="47625" cy="208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5" imgW="47625" imgH="2085975" progId="Paint.Picture">
                  <p:embed/>
                </p:oleObj>
              </mc:Choice>
              <mc:Fallback>
                <p:oleObj name="" r:id="rId5" imgW="47625" imgH="2085975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04660" y="3644900"/>
                        <a:ext cx="47625" cy="2087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55650" y="5156835"/>
            <a:ext cx="2580640" cy="11988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3600" b="1" dirty="0">
                <a:highlight>
                  <a:srgbClr val="FFFF00"/>
                </a:highlight>
                <a:sym typeface="+mn-ea"/>
              </a:rPr>
              <a:t>长</a:t>
            </a:r>
            <a:r>
              <a:rPr lang="en-US" altLang="zh-CN" sz="3600" b="1" dirty="0">
                <a:highlight>
                  <a:srgbClr val="FFFF00"/>
                </a:highlight>
                <a:sym typeface="+mn-ea"/>
              </a:rPr>
              <a:t>:</a:t>
            </a:r>
            <a:r>
              <a:rPr lang="en-US" altLang="zh-CN" sz="3600" b="1">
                <a:sym typeface="+mn-ea"/>
              </a:rPr>
              <a:t>X=L,</a:t>
            </a:r>
            <a:endParaRPr lang="en-US" altLang="zh-CN" sz="3600" b="1">
              <a:sym typeface="+mn-ea"/>
            </a:endParaRPr>
          </a:p>
          <a:p>
            <a:r>
              <a:rPr lang="zh-CN" altLang="en-US" sz="3600" b="1" dirty="0">
                <a:highlight>
                  <a:srgbClr val="FFFF00"/>
                </a:highlight>
                <a:sym typeface="+mn-ea"/>
              </a:rPr>
              <a:t>高</a:t>
            </a:r>
            <a:r>
              <a:rPr lang="zh-CN" altLang="en-US" sz="3600" b="1" dirty="0">
                <a:sym typeface="+mn-ea"/>
              </a:rPr>
              <a:t>：</a:t>
            </a:r>
            <a:r>
              <a:rPr lang="en-US" altLang="zh-CN" sz="3600" b="1">
                <a:sym typeface="+mn-ea"/>
              </a:rPr>
              <a:t>Y=H</a:t>
            </a:r>
            <a:endParaRPr lang="en-US" altLang="zh-CN" sz="3600" b="1"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940425" y="3644900"/>
            <a:ext cx="144145" cy="14414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552440" y="3068955"/>
            <a:ext cx="15043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y=H/2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22300" y="476885"/>
            <a:ext cx="7696200" cy="3657600"/>
          </a:xfrm>
        </p:spPr>
        <p:txBody>
          <a:bodyPr/>
          <a:p>
            <a:r>
              <a:rPr lang="zh-CN" altLang="en-US" b="1" dirty="0">
                <a:solidFill>
                  <a:schemeClr val="tx2"/>
                </a:solidFill>
                <a:sym typeface="+mn-ea"/>
              </a:rPr>
              <a:t>曲线</a:t>
            </a:r>
            <a:r>
              <a:rPr lang="en-US" altLang="zh-CN" b="1">
                <a:solidFill>
                  <a:schemeClr val="tx2"/>
                </a:solidFill>
                <a:sym typeface="+mn-ea"/>
              </a:rPr>
              <a:t>2  x</a:t>
            </a:r>
            <a:r>
              <a:rPr lang="zh-CN" altLang="en-US" b="1" dirty="0">
                <a:solidFill>
                  <a:schemeClr val="tx2"/>
                </a:solidFill>
                <a:sym typeface="+mn-ea"/>
              </a:rPr>
              <a:t>的范围</a:t>
            </a:r>
            <a:r>
              <a:rPr lang="zh-CN" altLang="en-US" b="1" dirty="0">
                <a:solidFill>
                  <a:schemeClr val="hlink"/>
                </a:solidFill>
                <a:sym typeface="+mn-ea"/>
              </a:rPr>
              <a:t>      </a:t>
            </a:r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rgbClr val="0000FF"/>
                </a:solidFill>
                <a:sym typeface="+mn-ea"/>
              </a:rPr>
              <a:t>X1&lt;=X&lt;=X2</a:t>
            </a:r>
            <a:endParaRPr lang="en-US" altLang="zh-CN" b="1">
              <a:solidFill>
                <a:srgbClr val="0000FF"/>
              </a:solidFill>
            </a:endParaRPr>
          </a:p>
          <a:p>
            <a:r>
              <a:rPr lang="en-US" altLang="zh-CN" b="1">
                <a:sym typeface="+mn-ea"/>
              </a:rPr>
              <a:t>X1=-sqrt(H/2 *4p)  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X2=sqrt(H/2*4p)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3" name="文本占位符 81922"/>
          <p:cNvSpPr>
            <a:spLocks noGrp="1"/>
          </p:cNvSpPr>
          <p:nvPr>
            <p:ph type="body" idx="1"/>
          </p:nvPr>
        </p:nvSpPr>
        <p:spPr>
          <a:xfrm>
            <a:off x="762000" y="914400"/>
            <a:ext cx="7620000" cy="6096000"/>
          </a:xfrm>
          <a:ln/>
        </p:spPr>
        <p:txBody>
          <a:bodyPr/>
          <a:p>
            <a:r>
              <a:rPr lang="en-US" altLang="zh-CN" b="1">
                <a:solidFill>
                  <a:srgbClr val="0000FF"/>
                </a:solidFill>
              </a:rPr>
              <a:t>(1)</a:t>
            </a:r>
            <a:r>
              <a:rPr lang="zh-CN" altLang="en-US" b="1" dirty="0">
                <a:solidFill>
                  <a:srgbClr val="0000FF"/>
                </a:solidFill>
              </a:rPr>
              <a:t>将</a:t>
            </a:r>
            <a:r>
              <a:rPr lang="en-US" altLang="zh-CN" b="1">
                <a:solidFill>
                  <a:srgbClr val="0000FF"/>
                </a:solidFill>
              </a:rPr>
              <a:t>[x1,x2] </a:t>
            </a:r>
            <a:r>
              <a:rPr lang="zh-CN" altLang="en-US" b="1" dirty="0">
                <a:solidFill>
                  <a:srgbClr val="0000FF"/>
                </a:solidFill>
              </a:rPr>
              <a:t>进行</a:t>
            </a:r>
            <a:r>
              <a:rPr lang="en-US" altLang="zh-CN" b="1">
                <a:solidFill>
                  <a:srgbClr val="0000FF"/>
                </a:solidFill>
              </a:rPr>
              <a:t>n</a:t>
            </a:r>
            <a:r>
              <a:rPr lang="zh-CN" altLang="en-US" b="1" dirty="0">
                <a:solidFill>
                  <a:srgbClr val="0000FF"/>
                </a:solidFill>
              </a:rPr>
              <a:t>等分</a:t>
            </a:r>
            <a:endParaRPr lang="zh-CN" altLang="en-US" b="1" dirty="0">
              <a:solidFill>
                <a:srgbClr val="0000FF"/>
              </a:solidFill>
            </a:endParaRPr>
          </a:p>
          <a:p>
            <a:r>
              <a:rPr lang="zh-CN" altLang="en-US" b="1" dirty="0">
                <a:solidFill>
                  <a:srgbClr val="0000FF"/>
                </a:solidFill>
              </a:rPr>
              <a:t>      </a:t>
            </a:r>
            <a:r>
              <a:rPr lang="en-US" altLang="zh-CN" b="1">
                <a:solidFill>
                  <a:srgbClr val="0000FF"/>
                </a:solidFill>
              </a:rPr>
              <a:t>(n</a:t>
            </a:r>
            <a:r>
              <a:rPr lang="zh-CN" altLang="en-US" b="1" dirty="0">
                <a:solidFill>
                  <a:srgbClr val="0000FF"/>
                </a:solidFill>
              </a:rPr>
              <a:t>为偶数</a:t>
            </a:r>
            <a:r>
              <a:rPr lang="en-US" altLang="zh-CN" b="1">
                <a:solidFill>
                  <a:srgbClr val="0000FF"/>
                </a:solidFill>
              </a:rPr>
              <a:t>)</a:t>
            </a:r>
            <a:endParaRPr lang="en-US" altLang="zh-CN" b="1">
              <a:solidFill>
                <a:srgbClr val="0000FF"/>
              </a:solidFill>
            </a:endParaRPr>
          </a:p>
          <a:p>
            <a:r>
              <a:rPr lang="en-US" altLang="zh-CN" b="1">
                <a:solidFill>
                  <a:srgbClr val="0000FF"/>
                </a:solidFill>
              </a:rPr>
              <a:t>            </a:t>
            </a:r>
            <a:endParaRPr lang="en-US" altLang="zh-CN" b="1">
              <a:solidFill>
                <a:srgbClr val="0000FF"/>
              </a:solidFill>
            </a:endParaRPr>
          </a:p>
          <a:p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0000FF"/>
                </a:solidFill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</a:rPr>
              <a:t>每等分的大小为</a:t>
            </a:r>
            <a:r>
              <a:rPr lang="en-US" altLang="zh-CN" sz="2800" b="1" err="1">
                <a:solidFill>
                  <a:srgbClr val="0000FF"/>
                </a:solidFill>
              </a:rPr>
              <a:t>dx</a:t>
            </a:r>
            <a:endParaRPr lang="en-US" altLang="zh-CN" sz="2800" b="1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zh-CN" sz="2800" b="1"/>
              <a:t>        </a:t>
            </a:r>
            <a:r>
              <a:rPr lang="en-US" altLang="zh-CN" sz="2800" b="1" err="1">
                <a:solidFill>
                  <a:srgbClr val="FF0066"/>
                </a:solidFill>
              </a:rPr>
              <a:t>dx</a:t>
            </a:r>
            <a:r>
              <a:rPr lang="en-US" altLang="zh-CN" sz="2800" b="1">
                <a:solidFill>
                  <a:srgbClr val="FF0066"/>
                </a:solidFill>
              </a:rPr>
              <a:t>=  |x2-x1|/n  </a:t>
            </a:r>
            <a:endParaRPr lang="en-US" altLang="zh-CN" sz="2800" b="1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zh-CN" sz="2800" b="1"/>
              <a:t>         </a:t>
            </a:r>
            <a:r>
              <a:rPr lang="en-US" altLang="zh-CN" sz="2800" b="1">
                <a:solidFill>
                  <a:srgbClr val="FF0066"/>
                </a:solidFill>
              </a:rPr>
              <a:t>m=n/2</a:t>
            </a:r>
            <a:endParaRPr lang="en-US" altLang="zh-CN" sz="2800" b="1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（</a:t>
            </a:r>
            <a:r>
              <a:rPr lang="en-US" altLang="zh-CN" sz="2800" b="1">
                <a:solidFill>
                  <a:srgbClr val="0000FF"/>
                </a:solidFill>
              </a:rPr>
              <a:t>3</a:t>
            </a:r>
            <a:r>
              <a:rPr lang="zh-CN" altLang="en-US" sz="2800" b="1">
                <a:solidFill>
                  <a:srgbClr val="0000FF"/>
                </a:solidFill>
              </a:rPr>
              <a:t>）</a:t>
            </a:r>
            <a:r>
              <a:rPr lang="zh-CN" altLang="en-US" sz="2800" b="1" dirty="0">
                <a:solidFill>
                  <a:srgbClr val="0000FF"/>
                </a:solidFill>
              </a:rPr>
              <a:t>已知离散点的中点是</a:t>
            </a:r>
            <a:r>
              <a:rPr lang="en-US" altLang="zh-CN" sz="2800" b="1">
                <a:solidFill>
                  <a:srgbClr val="0000FF"/>
                </a:solidFill>
              </a:rPr>
              <a:t>(0,0)</a:t>
            </a:r>
            <a:r>
              <a:rPr lang="zh-CN" altLang="en-US" sz="2800" b="1" dirty="0">
                <a:solidFill>
                  <a:srgbClr val="0000FF"/>
                </a:solidFill>
              </a:rPr>
              <a:t>点则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      离散点依次是</a:t>
            </a:r>
            <a:r>
              <a:rPr lang="zh-CN" altLang="en-US" sz="2800" b="1" dirty="0"/>
              <a:t> </a:t>
            </a:r>
            <a:endParaRPr lang="zh-CN" altLang="en-US" sz="2800" b="1" dirty="0"/>
          </a:p>
          <a:p>
            <a:pPr>
              <a:spcBef>
                <a:spcPct val="50000"/>
              </a:spcBef>
              <a:buNone/>
            </a:pPr>
            <a:r>
              <a:rPr lang="zh-CN" altLang="en-US" sz="2800" b="1" dirty="0"/>
              <a:t>      </a:t>
            </a:r>
            <a:r>
              <a:rPr lang="en-US" altLang="zh-CN" sz="2800" b="1">
                <a:solidFill>
                  <a:srgbClr val="FF0066"/>
                </a:solidFill>
              </a:rPr>
              <a:t>-m</a:t>
            </a:r>
            <a:r>
              <a:rPr lang="zh-CN" altLang="en-US" sz="2800" b="1">
                <a:solidFill>
                  <a:srgbClr val="FF0066"/>
                </a:solidFill>
              </a:rPr>
              <a:t>，</a:t>
            </a:r>
            <a:r>
              <a:rPr lang="en-US" altLang="zh-CN" sz="2800" b="1">
                <a:solidFill>
                  <a:srgbClr val="FF0066"/>
                </a:solidFill>
              </a:rPr>
              <a:t>-(m-1), </a:t>
            </a:r>
            <a:r>
              <a:rPr lang="en-US" altLang="zh-CN" sz="2800" b="1">
                <a:solidFill>
                  <a:srgbClr val="FF0066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 b="1">
                <a:solidFill>
                  <a:srgbClr val="FF0066"/>
                </a:solidFill>
              </a:rPr>
              <a:t>,0,1,2,</a:t>
            </a:r>
            <a:r>
              <a:rPr lang="en-US" altLang="zh-CN" sz="2800" b="1">
                <a:solidFill>
                  <a:srgbClr val="FF0066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800" b="1">
                <a:solidFill>
                  <a:srgbClr val="FF0066"/>
                </a:solidFill>
              </a:rPr>
              <a:t>(m-1),m</a:t>
            </a:r>
            <a:endParaRPr lang="en-US" altLang="zh-CN" sz="2800" b="1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zh-CN" sz="2400" b="1"/>
              <a:t>      </a:t>
            </a:r>
            <a:endParaRPr lang="en-US" altLang="zh-CN" b="1">
              <a:solidFill>
                <a:srgbClr val="FF0066"/>
              </a:solidFill>
            </a:endParaRPr>
          </a:p>
        </p:txBody>
      </p:sp>
      <p:grpSp>
        <p:nvGrpSpPr>
          <p:cNvPr id="81939" name="组合 81938"/>
          <p:cNvGrpSpPr/>
          <p:nvPr/>
        </p:nvGrpSpPr>
        <p:grpSpPr>
          <a:xfrm>
            <a:off x="6248400" y="304800"/>
            <a:ext cx="2362200" cy="2382838"/>
            <a:chOff x="3648" y="371"/>
            <a:chExt cx="1488" cy="1501"/>
          </a:xfrm>
        </p:grpSpPr>
        <p:grpSp>
          <p:nvGrpSpPr>
            <p:cNvPr id="81931" name="组合 81930"/>
            <p:cNvGrpSpPr/>
            <p:nvPr/>
          </p:nvGrpSpPr>
          <p:grpSpPr>
            <a:xfrm>
              <a:off x="3648" y="371"/>
              <a:ext cx="1488" cy="1501"/>
              <a:chOff x="3648" y="371"/>
              <a:chExt cx="1488" cy="1501"/>
            </a:xfrm>
          </p:grpSpPr>
          <p:grpSp>
            <p:nvGrpSpPr>
              <p:cNvPr id="81924" name="组合 81923"/>
              <p:cNvGrpSpPr/>
              <p:nvPr/>
            </p:nvGrpSpPr>
            <p:grpSpPr>
              <a:xfrm>
                <a:off x="3648" y="371"/>
                <a:ext cx="1488" cy="1501"/>
                <a:chOff x="3984" y="336"/>
                <a:chExt cx="1248" cy="1021"/>
              </a:xfrm>
            </p:grpSpPr>
            <p:graphicFrame>
              <p:nvGraphicFramePr>
                <p:cNvPr id="81925" name="对象 81924"/>
                <p:cNvGraphicFramePr/>
                <p:nvPr/>
              </p:nvGraphicFramePr>
              <p:xfrm>
                <a:off x="3984" y="336"/>
                <a:ext cx="1236" cy="10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0" name="" r:id="rId1" imgW="1809750" imgH="1495425" progId="Paint.Picture">
                        <p:embed/>
                      </p:oleObj>
                    </mc:Choice>
                    <mc:Fallback>
                      <p:oleObj name="" r:id="rId1" imgW="1809750" imgH="1495425" progId="Paint.Picture">
                        <p:embed/>
                        <p:pic>
                          <p:nvPicPr>
                            <p:cNvPr id="0" name="图片 3079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4" y="336"/>
                              <a:ext cx="1236" cy="1021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1926" name="文本框 81925"/>
                <p:cNvSpPr txBox="1"/>
                <p:nvPr/>
              </p:nvSpPr>
              <p:spPr>
                <a:xfrm>
                  <a:off x="4992" y="528"/>
                  <a:ext cx="240" cy="1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1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1927" name="文本框 81926"/>
                <p:cNvSpPr txBox="1"/>
                <p:nvPr/>
              </p:nvSpPr>
              <p:spPr>
                <a:xfrm>
                  <a:off x="4608" y="393"/>
                  <a:ext cx="240" cy="1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1929" name="直接连接符 81928"/>
              <p:cNvSpPr/>
              <p:nvPr/>
            </p:nvSpPr>
            <p:spPr>
              <a:xfrm>
                <a:off x="4068" y="384"/>
                <a:ext cx="0" cy="864"/>
              </a:xfrm>
              <a:prstGeom prst="line">
                <a:avLst/>
              </a:prstGeom>
              <a:ln w="9525">
                <a:noFill/>
              </a:ln>
            </p:spPr>
          </p:sp>
          <p:sp>
            <p:nvSpPr>
              <p:cNvPr id="81930" name="直接连接符 81929"/>
              <p:cNvSpPr/>
              <p:nvPr/>
            </p:nvSpPr>
            <p:spPr>
              <a:xfrm>
                <a:off x="4644" y="384"/>
                <a:ext cx="0" cy="912"/>
              </a:xfrm>
              <a:prstGeom prst="line">
                <a:avLst/>
              </a:prstGeom>
              <a:ln w="9525">
                <a:noFill/>
              </a:ln>
            </p:spPr>
          </p:sp>
        </p:grpSp>
        <p:sp>
          <p:nvSpPr>
            <p:cNvPr id="81932" name="文本框 81931"/>
            <p:cNvSpPr txBox="1"/>
            <p:nvPr/>
          </p:nvSpPr>
          <p:spPr>
            <a:xfrm>
              <a:off x="3984" y="129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x1      y1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1936" name="直接连接符 81935"/>
            <p:cNvSpPr/>
            <p:nvPr/>
          </p:nvSpPr>
          <p:spPr>
            <a:xfrm>
              <a:off x="4068" y="372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1937" name="直接连接符 81936"/>
            <p:cNvSpPr/>
            <p:nvPr/>
          </p:nvSpPr>
          <p:spPr>
            <a:xfrm>
              <a:off x="4632" y="372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9" name="文本占位符 96258"/>
          <p:cNvSpPr>
            <a:spLocks noGrp="1"/>
          </p:cNvSpPr>
          <p:nvPr>
            <p:ph type="body" idx="1"/>
          </p:nvPr>
        </p:nvSpPr>
        <p:spPr>
          <a:xfrm>
            <a:off x="179388" y="1844675"/>
            <a:ext cx="7620000" cy="4114800"/>
          </a:xfrm>
          <a:ln/>
        </p:spPr>
        <p:txBody>
          <a:bodyPr/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800" b="1"/>
              <a:t>For(i= -m  ;i&lt;=m;i++)</a:t>
            </a:r>
            <a:endParaRPr lang="en-US" altLang="zh-CN" sz="2800" b="1"/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800" b="1"/>
              <a:t>    </a:t>
            </a:r>
            <a:r>
              <a:rPr lang="en-US" altLang="zh-CN" b="1">
                <a:solidFill>
                  <a:srgbClr val="0000FF"/>
                </a:solidFill>
              </a:rPr>
              <a:t>x=i*</a:t>
            </a:r>
            <a:r>
              <a:rPr lang="en-US" altLang="zh-CN" b="1" err="1">
                <a:solidFill>
                  <a:srgbClr val="0000FF"/>
                </a:solidFill>
              </a:rPr>
              <a:t>dx</a:t>
            </a:r>
            <a:r>
              <a:rPr lang="en-US" altLang="zh-CN" b="1" baseline="-25000">
                <a:solidFill>
                  <a:srgbClr val="0000FF"/>
                </a:solidFill>
              </a:rPr>
              <a:t>  </a:t>
            </a:r>
            <a:r>
              <a:rPr lang="en-US" altLang="zh-CN" b="1">
                <a:solidFill>
                  <a:srgbClr val="0000FF"/>
                </a:solidFill>
              </a:rPr>
              <a:t>    </a:t>
            </a:r>
            <a:endParaRPr lang="en-US" altLang="zh-CN" b="1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</a:rPr>
              <a:t>   y=(i*</a:t>
            </a:r>
            <a:r>
              <a:rPr lang="en-US" altLang="zh-CN" b="1" err="1">
                <a:solidFill>
                  <a:srgbClr val="0000FF"/>
                </a:solidFill>
              </a:rPr>
              <a:t>dx</a:t>
            </a:r>
            <a:r>
              <a:rPr lang="en-US" altLang="zh-CN" b="1">
                <a:solidFill>
                  <a:srgbClr val="0000FF"/>
                </a:solidFill>
              </a:rPr>
              <a:t>)*(i*dx)/(4*p)</a:t>
            </a:r>
            <a:endParaRPr lang="en-US" altLang="zh-CN" b="1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</a:rPr>
              <a:t> 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数学坐标</a:t>
            </a:r>
            <a:endParaRPr lang="zh-CN" altLang="en-US" b="1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FF0066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i*</a:t>
            </a:r>
            <a:r>
              <a:rPr lang="en-US" altLang="zh-CN" b="1" err="1">
                <a:solidFill>
                  <a:srgbClr val="0000FF"/>
                </a:solidFill>
              </a:rPr>
              <a:t>dx</a:t>
            </a:r>
            <a:r>
              <a:rPr lang="zh-CN" altLang="en-US" b="1">
                <a:solidFill>
                  <a:srgbClr val="0000FF"/>
                </a:solidFill>
              </a:rPr>
              <a:t>， </a:t>
            </a:r>
            <a:r>
              <a:rPr lang="en-US" altLang="zh-CN" b="1">
                <a:solidFill>
                  <a:srgbClr val="0000FF"/>
                </a:solidFill>
              </a:rPr>
              <a:t>(i*</a:t>
            </a:r>
            <a:r>
              <a:rPr lang="en-US" altLang="zh-CN" b="1" err="1">
                <a:solidFill>
                  <a:srgbClr val="0000FF"/>
                </a:solidFill>
              </a:rPr>
              <a:t>dx</a:t>
            </a:r>
            <a:r>
              <a:rPr lang="en-US" altLang="zh-CN" b="1">
                <a:solidFill>
                  <a:srgbClr val="0000FF"/>
                </a:solidFill>
              </a:rPr>
              <a:t>)*(i*dx)/(4*p)</a:t>
            </a:r>
            <a:r>
              <a:rPr lang="zh-CN" altLang="en-US" b="1">
                <a:solidFill>
                  <a:srgbClr val="FF0066"/>
                </a:solidFill>
              </a:rPr>
              <a:t>）</a:t>
            </a:r>
            <a:endParaRPr lang="zh-CN" altLang="en-US" b="1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1">
                <a:solidFill>
                  <a:srgbClr val="FF3300"/>
                </a:solidFill>
              </a:rPr>
              <a:t>      </a:t>
            </a:r>
            <a:endParaRPr lang="zh-CN" altLang="en-US" b="1">
              <a:solidFill>
                <a:schemeClr val="hlink"/>
              </a:solidFill>
            </a:endParaRPr>
          </a:p>
        </p:txBody>
      </p:sp>
      <p:graphicFrame>
        <p:nvGraphicFramePr>
          <p:cNvPr id="96261" name="对象 96260"/>
          <p:cNvGraphicFramePr/>
          <p:nvPr/>
        </p:nvGraphicFramePr>
        <p:xfrm>
          <a:off x="4114800" y="0"/>
          <a:ext cx="5029200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990850" imgH="2143125" progId="Paint.Picture">
                  <p:embed/>
                </p:oleObj>
              </mc:Choice>
              <mc:Fallback>
                <p:oleObj name="" r:id="rId1" imgW="2990850" imgH="21431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0"/>
                        <a:ext cx="5029200" cy="360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366" name="AutoShape 6"/>
          <p:cNvSpPr/>
          <p:nvPr/>
        </p:nvSpPr>
        <p:spPr>
          <a:xfrm>
            <a:off x="2555957" y="1268730"/>
            <a:ext cx="5093827" cy="1352762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solidFill>
                  <a:srgbClr val="FF3300"/>
                </a:solidFill>
                <a:sym typeface="+mn-ea"/>
              </a:rPr>
              <a:t>是否就此结束了？</a:t>
            </a:r>
            <a:endParaRPr lang="zh-CN" altLang="zh-CN" sz="2000" b="1" dirty="0">
              <a:solidFill>
                <a:schemeClr val="bg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2195912" y="3860800"/>
            <a:ext cx="5093827" cy="1352762"/>
          </a:xfrm>
          <a:prstGeom prst="cloudCallout">
            <a:avLst>
              <a:gd name="adj1" fmla="val -44194"/>
              <a:gd name="adj2" fmla="val 73611"/>
            </a:avLst>
          </a:prstGeom>
          <a:solidFill>
            <a:srgbClr val="99FF99"/>
          </a:solidFill>
          <a:ln w="12700" cap="rnd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solidFill>
                  <a:srgbClr val="FF3300"/>
                </a:solidFill>
                <a:sym typeface="+mn-ea"/>
              </a:rPr>
              <a:t>刚次算出来的是屏幕坐标</a:t>
            </a:r>
            <a:r>
              <a:rPr lang="zh-CN" altLang="en-US" sz="2000" b="1" dirty="0">
                <a:solidFill>
                  <a:srgbClr val="FF3300"/>
                </a:solidFill>
                <a:sym typeface="+mn-ea"/>
              </a:rPr>
              <a:t>吗？</a:t>
            </a:r>
            <a:endParaRPr lang="zh-CN" altLang="zh-CN" sz="2000" b="1" dirty="0">
              <a:solidFill>
                <a:schemeClr val="bg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标题 8806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rPr lang="zh-CN" altLang="en-US" dirty="0"/>
              <a:t>坐标转换</a:t>
            </a:r>
            <a:endParaRPr lang="zh-CN" altLang="en-US"/>
          </a:p>
        </p:txBody>
      </p:sp>
      <p:sp>
        <p:nvSpPr>
          <p:cNvPr id="88068" name="矩形 88067"/>
          <p:cNvSpPr/>
          <p:nvPr/>
        </p:nvSpPr>
        <p:spPr>
          <a:xfrm>
            <a:off x="1905000" y="2286000"/>
            <a:ext cx="5638800" cy="40386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88069" name="组合 88068"/>
          <p:cNvGrpSpPr/>
          <p:nvPr/>
        </p:nvGrpSpPr>
        <p:grpSpPr>
          <a:xfrm>
            <a:off x="3657600" y="2971800"/>
            <a:ext cx="2362200" cy="2382838"/>
            <a:chOff x="3984" y="336"/>
            <a:chExt cx="1248" cy="1021"/>
          </a:xfrm>
        </p:grpSpPr>
        <p:graphicFrame>
          <p:nvGraphicFramePr>
            <p:cNvPr id="88070" name="对象 88069"/>
            <p:cNvGraphicFramePr/>
            <p:nvPr/>
          </p:nvGraphicFramePr>
          <p:xfrm>
            <a:off x="3984" y="336"/>
            <a:ext cx="1236" cy="1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809750" imgH="1495425" progId="Paint.Picture">
                    <p:embed/>
                  </p:oleObj>
                </mc:Choice>
                <mc:Fallback>
                  <p:oleObj name="" r:id="rId1" imgW="1809750" imgH="1495425" progId="Paint.Picture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84" y="336"/>
                          <a:ext cx="1236" cy="10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071" name="文本框 88070"/>
            <p:cNvSpPr txBox="1"/>
            <p:nvPr/>
          </p:nvSpPr>
          <p:spPr>
            <a:xfrm>
              <a:off x="4992" y="528"/>
              <a:ext cx="240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88072" name="文本框 88071"/>
            <p:cNvSpPr txBox="1"/>
            <p:nvPr/>
          </p:nvSpPr>
          <p:spPr>
            <a:xfrm>
              <a:off x="4608" y="393"/>
              <a:ext cx="240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88073" name="矩形 88072"/>
          <p:cNvSpPr/>
          <p:nvPr/>
        </p:nvSpPr>
        <p:spPr>
          <a:xfrm>
            <a:off x="49530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err="1">
                <a:latin typeface="Times New Roman" panose="02020603050405020304" pitchFamily="18" charset="0"/>
              </a:rPr>
              <a:t>Xc,Yc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74" name="矩形 88073"/>
          <p:cNvSpPr/>
          <p:nvPr/>
        </p:nvSpPr>
        <p:spPr>
          <a:xfrm>
            <a:off x="1981200" y="2286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(0,0)</a:t>
            </a:r>
            <a:r>
              <a:rPr lang="en-US" altLang="zh-CN" sz="2400">
                <a:latin typeface="Times New Roman" panose="02020603050405020304" pitchFamily="18" charset="0"/>
              </a:rPr>
              <a:t>   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77" name="直接连接符 88076"/>
          <p:cNvSpPr/>
          <p:nvPr/>
        </p:nvSpPr>
        <p:spPr>
          <a:xfrm>
            <a:off x="1905000" y="2286000"/>
            <a:ext cx="0" cy="4267200"/>
          </a:xfrm>
          <a:prstGeom prst="line">
            <a:avLst/>
          </a:prstGeom>
          <a:ln w="349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78" name="直接连接符 88077"/>
          <p:cNvSpPr/>
          <p:nvPr/>
        </p:nvSpPr>
        <p:spPr>
          <a:xfrm>
            <a:off x="1981200" y="2286000"/>
            <a:ext cx="61722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79" name="矩形 88078"/>
          <p:cNvSpPr/>
          <p:nvPr/>
        </p:nvSpPr>
        <p:spPr>
          <a:xfrm>
            <a:off x="7924800" y="23622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X’+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0" name="矩形 88079"/>
          <p:cNvSpPr/>
          <p:nvPr/>
        </p:nvSpPr>
        <p:spPr>
          <a:xfrm>
            <a:off x="1219200" y="6324600"/>
            <a:ext cx="457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Y’+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1" name="矩形 88080"/>
          <p:cNvSpPr/>
          <p:nvPr/>
        </p:nvSpPr>
        <p:spPr>
          <a:xfrm>
            <a:off x="6248400" y="44958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X+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82" name="矩形 88081"/>
          <p:cNvSpPr/>
          <p:nvPr/>
        </p:nvSpPr>
        <p:spPr>
          <a:xfrm>
            <a:off x="4876800" y="2590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Y+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83" name="直接连接符 88082"/>
          <p:cNvSpPr/>
          <p:nvPr/>
        </p:nvSpPr>
        <p:spPr>
          <a:xfrm>
            <a:off x="2667000" y="4419600"/>
            <a:ext cx="4267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84" name="直接连接符 88083"/>
          <p:cNvSpPr/>
          <p:nvPr/>
        </p:nvSpPr>
        <p:spPr>
          <a:xfrm flipV="1">
            <a:off x="4800600" y="2590800"/>
            <a:ext cx="0" cy="304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8085" name="椭圆 88084"/>
          <p:cNvSpPr/>
          <p:nvPr/>
        </p:nvSpPr>
        <p:spPr>
          <a:xfrm>
            <a:off x="54102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8086" name="矩形 88085"/>
          <p:cNvSpPr/>
          <p:nvPr/>
        </p:nvSpPr>
        <p:spPr>
          <a:xfrm>
            <a:off x="5257800" y="3810000"/>
            <a:ext cx="8382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(x,y)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88" name="直接连接符 88087"/>
          <p:cNvSpPr/>
          <p:nvPr/>
        </p:nvSpPr>
        <p:spPr>
          <a:xfrm>
            <a:off x="5486400" y="37338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8089" name="直接连接符 88088"/>
          <p:cNvSpPr/>
          <p:nvPr/>
        </p:nvSpPr>
        <p:spPr>
          <a:xfrm flipH="1">
            <a:off x="4800600" y="3733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8090" name="直接连接符 88089"/>
          <p:cNvSpPr/>
          <p:nvPr/>
        </p:nvSpPr>
        <p:spPr>
          <a:xfrm flipH="1">
            <a:off x="1847850" y="3695700"/>
            <a:ext cx="36576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88091" name="直接连接符 88090"/>
          <p:cNvSpPr/>
          <p:nvPr/>
        </p:nvSpPr>
        <p:spPr>
          <a:xfrm flipV="1">
            <a:off x="5486400" y="2286000"/>
            <a:ext cx="0" cy="13716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88096" name="组合 88095"/>
          <p:cNvGrpSpPr/>
          <p:nvPr/>
        </p:nvGrpSpPr>
        <p:grpSpPr>
          <a:xfrm>
            <a:off x="107950" y="692150"/>
            <a:ext cx="2971800" cy="914400"/>
            <a:chOff x="1344" y="3671"/>
            <a:chExt cx="1872" cy="576"/>
          </a:xfrm>
        </p:grpSpPr>
        <p:sp>
          <p:nvSpPr>
            <p:cNvPr id="88092" name="矩形 88091"/>
            <p:cNvSpPr/>
            <p:nvPr/>
          </p:nvSpPr>
          <p:spPr>
            <a:xfrm>
              <a:off x="1344" y="3671"/>
              <a:ext cx="1872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X’=</a:t>
              </a:r>
              <a:r>
                <a:rPr lang="en-US" altLang="zh-CN" sz="3200" b="1" err="1">
                  <a:solidFill>
                    <a:srgbClr val="FF0066"/>
                  </a:solidFill>
                  <a:latin typeface="Times New Roman" panose="02020603050405020304" pitchFamily="18" charset="0"/>
                </a:rPr>
                <a:t>Xc+X</a:t>
              </a:r>
              <a:endPara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Y’=</a:t>
              </a:r>
              <a:r>
                <a:rPr lang="en-US" altLang="zh-CN" sz="3200" b="1" err="1">
                  <a:solidFill>
                    <a:srgbClr val="FF0066"/>
                  </a:solidFill>
                  <a:latin typeface="Times New Roman" panose="02020603050405020304" pitchFamily="18" charset="0"/>
                </a:rPr>
                <a:t>Yc</a:t>
              </a:r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-Y</a:t>
              </a:r>
              <a:endPara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93" name="左大括号 88092"/>
            <p:cNvSpPr/>
            <p:nvPr/>
          </p:nvSpPr>
          <p:spPr>
            <a:xfrm>
              <a:off x="1584" y="3769"/>
              <a:ext cx="192" cy="432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667000" y="6400800"/>
            <a:ext cx="5154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int  scX(int  xc,int x){return xc+x;}</a:t>
            </a:r>
            <a:endParaRPr lang="en-US" altLang="zh-CN" sz="2000" b="1">
              <a:solidFill>
                <a:srgbClr val="0000FF"/>
              </a:solidFill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7844" name="组合 77843"/>
          <p:cNvGrpSpPr/>
          <p:nvPr/>
        </p:nvGrpSpPr>
        <p:grpSpPr>
          <a:xfrm>
            <a:off x="2743200" y="914400"/>
            <a:ext cx="6172200" cy="5257800"/>
            <a:chOff x="1200" y="576"/>
            <a:chExt cx="3888" cy="3312"/>
          </a:xfrm>
        </p:grpSpPr>
        <p:sp>
          <p:nvSpPr>
            <p:cNvPr id="77828" name="矩形 77827"/>
            <p:cNvSpPr/>
            <p:nvPr/>
          </p:nvSpPr>
          <p:spPr>
            <a:xfrm>
              <a:off x="1200" y="576"/>
              <a:ext cx="3888" cy="33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829" name="直接连接符 77828"/>
            <p:cNvSpPr/>
            <p:nvPr/>
          </p:nvSpPr>
          <p:spPr>
            <a:xfrm>
              <a:off x="1200" y="1056"/>
              <a:ext cx="38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0" name="直接连接符 77829"/>
            <p:cNvSpPr/>
            <p:nvPr/>
          </p:nvSpPr>
          <p:spPr>
            <a:xfrm>
              <a:off x="1200" y="1536"/>
              <a:ext cx="38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2" name="直接连接符 77831"/>
            <p:cNvSpPr/>
            <p:nvPr/>
          </p:nvSpPr>
          <p:spPr>
            <a:xfrm>
              <a:off x="1200" y="1536"/>
              <a:ext cx="17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3" name="直接连接符 77832"/>
            <p:cNvSpPr/>
            <p:nvPr/>
          </p:nvSpPr>
          <p:spPr>
            <a:xfrm flipV="1">
              <a:off x="2976" y="1536"/>
              <a:ext cx="211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4" name="直接连接符 77833"/>
            <p:cNvSpPr/>
            <p:nvPr/>
          </p:nvSpPr>
          <p:spPr>
            <a:xfrm>
              <a:off x="1200" y="1872"/>
              <a:ext cx="38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5" name="直接连接符 77834"/>
            <p:cNvSpPr/>
            <p:nvPr/>
          </p:nvSpPr>
          <p:spPr>
            <a:xfrm>
              <a:off x="1200" y="2160"/>
              <a:ext cx="38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6" name="直接连接符 77835"/>
            <p:cNvSpPr/>
            <p:nvPr/>
          </p:nvSpPr>
          <p:spPr>
            <a:xfrm>
              <a:off x="1536" y="2400"/>
              <a:ext cx="35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7" name="直接连接符 77836"/>
            <p:cNvSpPr/>
            <p:nvPr/>
          </p:nvSpPr>
          <p:spPr>
            <a:xfrm>
              <a:off x="1536" y="240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8" name="直接连接符 77837"/>
            <p:cNvSpPr/>
            <p:nvPr/>
          </p:nvSpPr>
          <p:spPr>
            <a:xfrm>
              <a:off x="1536" y="2688"/>
              <a:ext cx="35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39" name="直接连接符 77838"/>
            <p:cNvSpPr/>
            <p:nvPr/>
          </p:nvSpPr>
          <p:spPr>
            <a:xfrm>
              <a:off x="1536" y="3024"/>
              <a:ext cx="35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0" name="直接连接符 77839"/>
            <p:cNvSpPr/>
            <p:nvPr/>
          </p:nvSpPr>
          <p:spPr>
            <a:xfrm>
              <a:off x="1488" y="3024"/>
              <a:ext cx="182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1" name="直接连接符 77840"/>
            <p:cNvSpPr/>
            <p:nvPr/>
          </p:nvSpPr>
          <p:spPr>
            <a:xfrm flipV="1">
              <a:off x="3312" y="3024"/>
              <a:ext cx="17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2" name="直接连接符 77841"/>
            <p:cNvSpPr/>
            <p:nvPr/>
          </p:nvSpPr>
          <p:spPr>
            <a:xfrm>
              <a:off x="1536" y="3360"/>
              <a:ext cx="35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3" name="直接连接符 77842"/>
            <p:cNvSpPr/>
            <p:nvPr/>
          </p:nvSpPr>
          <p:spPr>
            <a:xfrm>
              <a:off x="1200" y="3648"/>
              <a:ext cx="38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7856" name="直接连接符 77855"/>
          <p:cNvSpPr/>
          <p:nvPr/>
        </p:nvSpPr>
        <p:spPr>
          <a:xfrm>
            <a:off x="6210300" y="5334000"/>
            <a:ext cx="381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59" name="文本框 77858"/>
          <p:cNvSpPr txBox="1"/>
          <p:nvPr/>
        </p:nvSpPr>
        <p:spPr>
          <a:xfrm>
            <a:off x="2057400" y="228600"/>
            <a:ext cx="3962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流程图： 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Y=X</a:t>
            </a:r>
            <a:r>
              <a:rPr lang="en-US" altLang="zh-CN" sz="32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/4p</a:t>
            </a:r>
            <a:r>
              <a:rPr lang="en-US" altLang="zh-CN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62" name="直接连接符 77861"/>
          <p:cNvSpPr/>
          <p:nvPr/>
        </p:nvSpPr>
        <p:spPr>
          <a:xfrm>
            <a:off x="5638800" y="2971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69" name="左大括号 77868"/>
          <p:cNvSpPr/>
          <p:nvPr/>
        </p:nvSpPr>
        <p:spPr>
          <a:xfrm>
            <a:off x="2209800" y="1905000"/>
            <a:ext cx="381000" cy="3352800"/>
          </a:xfrm>
          <a:prstGeom prst="leftBrace">
            <a:avLst>
              <a:gd name="adj1" fmla="val 733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7870" name="文本框 77869"/>
          <p:cNvSpPr txBox="1"/>
          <p:nvPr/>
        </p:nvSpPr>
        <p:spPr>
          <a:xfrm>
            <a:off x="1143000" y="3124200"/>
            <a:ext cx="1143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计算数学坐标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7871" name="矩形 77870"/>
          <p:cNvSpPr/>
          <p:nvPr/>
        </p:nvSpPr>
        <p:spPr>
          <a:xfrm>
            <a:off x="1066800" y="5334000"/>
            <a:ext cx="12954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转换为屏幕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latin typeface="Times New Roman" panose="02020603050405020304" pitchFamily="18" charset="0"/>
              </a:rPr>
              <a:t>坐标输出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7872" name="直接连接符 77871"/>
          <p:cNvSpPr/>
          <p:nvPr/>
        </p:nvSpPr>
        <p:spPr>
          <a:xfrm flipH="1">
            <a:off x="2438400" y="56388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7874" name="组合 77873"/>
          <p:cNvGrpSpPr/>
          <p:nvPr/>
        </p:nvGrpSpPr>
        <p:grpSpPr>
          <a:xfrm>
            <a:off x="2743200" y="914400"/>
            <a:ext cx="6400800" cy="5334000"/>
            <a:chOff x="1728" y="576"/>
            <a:chExt cx="4032" cy="3360"/>
          </a:xfrm>
        </p:grpSpPr>
        <p:sp>
          <p:nvSpPr>
            <p:cNvPr id="77845" name="文本框 77844"/>
            <p:cNvSpPr txBox="1"/>
            <p:nvPr/>
          </p:nvSpPr>
          <p:spPr>
            <a:xfrm>
              <a:off x="1728" y="576"/>
              <a:ext cx="374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输入图形原点坐标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Xc,Yc</a:t>
              </a:r>
              <a:r>
                <a:rPr lang="en-US" altLang="zh-CN" sz="2400" b="1">
                  <a:latin typeface="Times New Roman" panose="02020603050405020304" pitchFamily="18" charset="0"/>
                </a:rPr>
                <a:t>),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宽度：</a:t>
              </a:r>
              <a:r>
                <a:rPr lang="en-US" altLang="zh-CN" sz="2400" b="1">
                  <a:latin typeface="Times New Roman" panose="02020603050405020304" pitchFamily="18" charset="0"/>
                </a:rPr>
                <a:t>L,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高度</a:t>
              </a:r>
              <a:r>
                <a:rPr lang="en-US" altLang="zh-CN" sz="2400" b="1">
                  <a:latin typeface="Times New Roman" panose="02020603050405020304" pitchFamily="18" charset="0"/>
                </a:rPr>
                <a:t>H,p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，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等分数：</a:t>
              </a:r>
              <a:r>
                <a:rPr lang="en-US" altLang="zh-CN" sz="2400" b="1">
                  <a:latin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46" name="文本框 77845"/>
            <p:cNvSpPr txBox="1"/>
            <p:nvPr/>
          </p:nvSpPr>
          <p:spPr>
            <a:xfrm>
              <a:off x="1824" y="1056"/>
              <a:ext cx="39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      </a:t>
              </a:r>
              <a:r>
                <a:rPr lang="en-US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X=sqr(2p*H)</a:t>
              </a:r>
              <a:endPara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847" name="文本框 77846"/>
            <p:cNvSpPr txBox="1"/>
            <p:nvPr/>
          </p:nvSpPr>
          <p:spPr>
            <a:xfrm>
              <a:off x="2592" y="1536"/>
              <a:ext cx="1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X&gt;L/2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48" name="文本框 77847"/>
            <p:cNvSpPr txBox="1"/>
            <p:nvPr/>
          </p:nvSpPr>
          <p:spPr>
            <a:xfrm>
              <a:off x="4224" y="1872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X=L/2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0" name="文本框 77849"/>
            <p:cNvSpPr txBox="1"/>
            <p:nvPr/>
          </p:nvSpPr>
          <p:spPr>
            <a:xfrm>
              <a:off x="1920" y="2160"/>
              <a:ext cx="34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        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dx</a:t>
              </a:r>
              <a:r>
                <a:rPr lang="en-US" altLang="zh-CN" sz="2400" b="1">
                  <a:latin typeface="Times New Roman" panose="02020603050405020304" pitchFamily="18" charset="0"/>
                </a:rPr>
                <a:t>=2x/n,    m=n/2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1" name="文本框 77850"/>
            <p:cNvSpPr txBox="1"/>
            <p:nvPr/>
          </p:nvSpPr>
          <p:spPr>
            <a:xfrm>
              <a:off x="2352" y="2443"/>
              <a:ext cx="18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For(i=-m  ;i&lt;=m;i++)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2" name="文本框 77851"/>
            <p:cNvSpPr txBox="1"/>
            <p:nvPr/>
          </p:nvSpPr>
          <p:spPr>
            <a:xfrm>
              <a:off x="2256" y="2736"/>
              <a:ext cx="2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x=i*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err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y=x*x/(4*p)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3" name="文本框 77852"/>
            <p:cNvSpPr txBox="1"/>
            <p:nvPr/>
          </p:nvSpPr>
          <p:spPr>
            <a:xfrm>
              <a:off x="3072" y="3024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i=-m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4" name="文本框 77853"/>
            <p:cNvSpPr txBox="1"/>
            <p:nvPr/>
          </p:nvSpPr>
          <p:spPr>
            <a:xfrm>
              <a:off x="2064" y="3408"/>
              <a:ext cx="19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err="1">
                  <a:latin typeface="Times New Roman" panose="02020603050405020304" pitchFamily="18" charset="0"/>
                </a:rPr>
                <a:t>Lineto(Xc+x,Yc-y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55" name="文本框 77854"/>
            <p:cNvSpPr txBox="1"/>
            <p:nvPr/>
          </p:nvSpPr>
          <p:spPr>
            <a:xfrm>
              <a:off x="3984" y="3360"/>
              <a:ext cx="17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err="1">
                  <a:latin typeface="Times New Roman" panose="02020603050405020304" pitchFamily="18" charset="0"/>
                </a:rPr>
                <a:t>Moveto(Xc+x,Yc-y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7858" name="文本框 77857"/>
            <p:cNvSpPr txBox="1"/>
            <p:nvPr/>
          </p:nvSpPr>
          <p:spPr>
            <a:xfrm>
              <a:off x="3408" y="3648"/>
              <a:ext cx="1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画坐标系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61" name="文本框 77860"/>
            <p:cNvSpPr txBox="1"/>
            <p:nvPr/>
          </p:nvSpPr>
          <p:spPr>
            <a:xfrm>
              <a:off x="4800" y="158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Y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7863" name="文本框 77862"/>
            <p:cNvSpPr txBox="1"/>
            <p:nvPr/>
          </p:nvSpPr>
          <p:spPr>
            <a:xfrm>
              <a:off x="4368" y="312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Y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7864" name="文本框 77863"/>
            <p:cNvSpPr txBox="1"/>
            <p:nvPr/>
          </p:nvSpPr>
          <p:spPr>
            <a:xfrm>
              <a:off x="2016" y="163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7873" name="文本框 77872"/>
            <p:cNvSpPr txBox="1"/>
            <p:nvPr/>
          </p:nvSpPr>
          <p:spPr>
            <a:xfrm>
              <a:off x="2160" y="312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179388" y="260350"/>
            <a:ext cx="8610600" cy="5715000"/>
          </a:xfrm>
          <a:ln/>
        </p:spPr>
        <p:txBody>
          <a:bodyPr/>
          <a:p>
            <a:r>
              <a:rPr lang="zh-CN" altLang="en-US" b="1" dirty="0">
                <a:solidFill>
                  <a:srgbClr val="FF0066"/>
                </a:solidFill>
              </a:rPr>
              <a:t>圆弧类函数</a:t>
            </a:r>
            <a:endParaRPr lang="zh-CN" altLang="en-US" b="1" dirty="0">
              <a:solidFill>
                <a:srgbClr val="FF0066"/>
              </a:solidFill>
            </a:endParaRPr>
          </a:p>
          <a:p>
            <a:r>
              <a:rPr lang="en-US" altLang="zh-CN" sz="2800" b="1">
                <a:solidFill>
                  <a:schemeClr val="hlink"/>
                </a:solidFill>
              </a:rPr>
              <a:t>-</a:t>
            </a:r>
            <a:r>
              <a:rPr lang="en-US" altLang="zh-CN" sz="2800" b="1" err="1">
                <a:solidFill>
                  <a:schemeClr val="hlink"/>
                </a:solidFill>
              </a:rPr>
              <a:t>arc(int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x,int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y,int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startangle,int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endangle,int</a:t>
            </a:r>
            <a:r>
              <a:rPr lang="en-US" altLang="zh-CN" sz="2800" b="1">
                <a:solidFill>
                  <a:schemeClr val="hlink"/>
                </a:solidFill>
              </a:rPr>
              <a:t> radius</a:t>
            </a:r>
            <a:r>
              <a:rPr lang="en-US" altLang="zh-CN" sz="2800">
                <a:solidFill>
                  <a:schemeClr val="hlink"/>
                </a:solidFill>
              </a:rPr>
              <a:t>)</a:t>
            </a:r>
            <a:endParaRPr lang="en-US" altLang="zh-CN" sz="2800">
              <a:solidFill>
                <a:schemeClr val="hlink"/>
              </a:solidFill>
            </a:endParaRPr>
          </a:p>
          <a:p>
            <a:r>
              <a:rPr lang="zh-CN" altLang="en-US" sz="2400" b="1" dirty="0">
                <a:solidFill>
                  <a:schemeClr val="hlink"/>
                </a:solidFill>
              </a:rPr>
              <a:t>作用：</a:t>
            </a:r>
            <a:r>
              <a:rPr lang="zh-CN" altLang="en-US" sz="2400" b="1" dirty="0"/>
              <a:t>画圆弧</a:t>
            </a:r>
            <a:endParaRPr lang="zh-CN" altLang="en-US" sz="2800"/>
          </a:p>
          <a:p>
            <a:r>
              <a:rPr lang="zh-CN" altLang="en-US" sz="2800" b="1" dirty="0">
                <a:solidFill>
                  <a:schemeClr val="hlink"/>
                </a:solidFill>
              </a:rPr>
              <a:t>例：</a:t>
            </a:r>
            <a:r>
              <a:rPr lang="en-US" altLang="zh-CN" sz="2800"/>
              <a:t>arc(100,100,0,360,50)</a:t>
            </a:r>
            <a:endParaRPr lang="en-US" altLang="zh-CN" sz="2800"/>
          </a:p>
          <a:p>
            <a:r>
              <a:rPr lang="en-US" altLang="zh-CN" sz="2800"/>
              <a:t>        arc(100,100,0,180,30)</a:t>
            </a:r>
            <a:endParaRPr lang="en-US" altLang="zh-CN" sz="2800"/>
          </a:p>
          <a:p>
            <a:r>
              <a:rPr lang="en-US" altLang="zh-CN" sz="2800" err="1">
                <a:solidFill>
                  <a:schemeClr val="hlink"/>
                </a:solidFill>
              </a:rPr>
              <a:t>circle(int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en-US" altLang="zh-CN" sz="2800" err="1">
                <a:solidFill>
                  <a:schemeClr val="hlink"/>
                </a:solidFill>
              </a:rPr>
              <a:t>x,int</a:t>
            </a:r>
            <a:r>
              <a:rPr lang="en-US" altLang="zh-CN" sz="2800">
                <a:solidFill>
                  <a:schemeClr val="hlink"/>
                </a:solidFill>
              </a:rPr>
              <a:t> </a:t>
            </a:r>
            <a:r>
              <a:rPr lang="en-US" altLang="zh-CN" sz="2800" err="1">
                <a:solidFill>
                  <a:schemeClr val="hlink"/>
                </a:solidFill>
              </a:rPr>
              <a:t>y,int</a:t>
            </a:r>
            <a:r>
              <a:rPr lang="en-US" altLang="zh-CN" sz="2800">
                <a:solidFill>
                  <a:schemeClr val="hlink"/>
                </a:solidFill>
              </a:rPr>
              <a:t> radius)</a:t>
            </a:r>
            <a:endParaRPr lang="en-US" altLang="zh-CN" sz="2400" b="1">
              <a:solidFill>
                <a:schemeClr val="hlink"/>
              </a:solidFill>
            </a:endParaRPr>
          </a:p>
          <a:p>
            <a:r>
              <a:rPr lang="zh-CN" altLang="en-US" sz="2400" b="1" dirty="0">
                <a:solidFill>
                  <a:schemeClr val="hlink"/>
                </a:solidFill>
              </a:rPr>
              <a:t>作用：</a:t>
            </a:r>
            <a:r>
              <a:rPr lang="zh-CN" altLang="en-US" sz="2400" b="1" dirty="0"/>
              <a:t>画圆</a:t>
            </a:r>
            <a:endParaRPr lang="zh-CN" altLang="en-US" sz="2400" b="1" dirty="0"/>
          </a:p>
          <a:p>
            <a:r>
              <a:rPr lang="en-US" altLang="zh-CN" sz="2400" b="1"/>
              <a:t>-</a:t>
            </a:r>
            <a:r>
              <a:rPr lang="en-US" altLang="zh-CN" sz="2400" b="1" err="1"/>
              <a:t>ellipse(int</a:t>
            </a:r>
            <a:r>
              <a:rPr lang="en-US" altLang="zh-CN" sz="2400" b="1"/>
              <a:t> </a:t>
            </a:r>
            <a:r>
              <a:rPr lang="en-US" altLang="zh-CN" sz="2400" b="1" err="1"/>
              <a:t>x,int</a:t>
            </a:r>
            <a:r>
              <a:rPr lang="en-US" altLang="zh-CN" sz="2400" b="1"/>
              <a:t> </a:t>
            </a:r>
            <a:r>
              <a:rPr lang="en-US" altLang="zh-CN" sz="2400" b="1" err="1"/>
              <a:t>y,int</a:t>
            </a:r>
            <a:r>
              <a:rPr lang="en-US" altLang="zh-CN" sz="2400" b="1"/>
              <a:t> </a:t>
            </a:r>
            <a:r>
              <a:rPr lang="en-US" altLang="zh-CN" sz="2400" b="1" err="1"/>
              <a:t>start,int</a:t>
            </a:r>
            <a:r>
              <a:rPr lang="en-US" altLang="zh-CN" sz="2400" b="1"/>
              <a:t> end ,</a:t>
            </a:r>
            <a:r>
              <a:rPr lang="en-US" altLang="zh-CN" sz="2400" b="1" err="1"/>
              <a:t>int</a:t>
            </a:r>
            <a:r>
              <a:rPr lang="en-US" altLang="zh-CN" sz="2400" b="1"/>
              <a:t> </a:t>
            </a:r>
            <a:r>
              <a:rPr lang="en-US" altLang="zh-CN" sz="2400" b="1" err="1"/>
              <a:t>xradius,int</a:t>
            </a:r>
            <a:r>
              <a:rPr lang="en-US" altLang="zh-CN" sz="2400" b="1"/>
              <a:t> </a:t>
            </a:r>
            <a:r>
              <a:rPr lang="en-US" altLang="zh-CN" sz="2400" b="1" err="1"/>
              <a:t>yradius</a:t>
            </a:r>
            <a:r>
              <a:rPr lang="en-US" altLang="zh-CN" sz="2400" b="1"/>
              <a:t>)</a:t>
            </a:r>
            <a:endParaRPr lang="en-US" altLang="zh-CN" sz="2400" b="1"/>
          </a:p>
          <a:p>
            <a:r>
              <a:rPr lang="zh-CN" altLang="en-US" sz="2400" b="1" dirty="0">
                <a:solidFill>
                  <a:schemeClr val="hlink"/>
                </a:solidFill>
              </a:rPr>
              <a:t>作用：</a:t>
            </a:r>
            <a:r>
              <a:rPr lang="zh-CN" altLang="en-US" sz="2400" b="1" dirty="0"/>
              <a:t>画椭圆</a:t>
            </a:r>
            <a:endParaRPr lang="zh-CN" altLang="en-US" sz="2400" b="1"/>
          </a:p>
          <a:p>
            <a:pPr>
              <a:buNone/>
            </a:pPr>
            <a:r>
              <a:rPr lang="zh-CN" altLang="en-US" sz="2400" b="1" dirty="0">
                <a:solidFill>
                  <a:schemeClr val="hlink"/>
                </a:solidFill>
              </a:rPr>
              <a:t>   </a:t>
            </a:r>
            <a:r>
              <a:rPr lang="zh-CN" altLang="en-US" sz="2400" b="1">
                <a:solidFill>
                  <a:schemeClr val="hlink"/>
                </a:solidFill>
              </a:rPr>
              <a:t> </a:t>
            </a:r>
            <a:r>
              <a:rPr lang="zh-CN" altLang="en-US" sz="2400" b="1" dirty="0">
                <a:solidFill>
                  <a:schemeClr val="hlink"/>
                </a:solidFill>
              </a:rPr>
              <a:t>说明：</a:t>
            </a:r>
            <a:r>
              <a:rPr lang="zh-CN" altLang="en-US" sz="2400" b="1" dirty="0"/>
              <a:t>以</a:t>
            </a:r>
            <a:r>
              <a:rPr lang="en-US" altLang="zh-CN" sz="2400" b="1"/>
              <a:t>(x,y)</a:t>
            </a:r>
            <a:r>
              <a:rPr lang="zh-CN" altLang="en-US" sz="2400" b="1" dirty="0"/>
              <a:t>为圆心，长半轴为</a:t>
            </a:r>
            <a:r>
              <a:rPr lang="en-US" altLang="zh-CN" sz="2400" b="1" err="1"/>
              <a:t>xradius</a:t>
            </a:r>
            <a:r>
              <a:rPr lang="en-US" altLang="zh-CN" sz="2400" b="1"/>
              <a:t> ,</a:t>
            </a:r>
            <a:r>
              <a:rPr lang="zh-CN" altLang="en-US" sz="2400" b="1" dirty="0"/>
              <a:t>短半轴为</a:t>
            </a:r>
            <a:r>
              <a:rPr lang="en-US" altLang="zh-CN" sz="2400" b="1" err="1"/>
              <a:t>yradius</a:t>
            </a:r>
            <a:endParaRPr lang="en-US" altLang="zh-CN" sz="2400" b="1"/>
          </a:p>
          <a:p>
            <a:r>
              <a:rPr lang="en-US" altLang="zh-CN" sz="2400" b="1"/>
              <a:t>  </a:t>
            </a:r>
            <a:r>
              <a:rPr lang="zh-CN" altLang="en-US" sz="2400" b="1" dirty="0"/>
              <a:t>起始角度为</a:t>
            </a:r>
            <a:r>
              <a:rPr lang="en-US" altLang="zh-CN" sz="2400" b="1"/>
              <a:t>start  ,</a:t>
            </a:r>
            <a:r>
              <a:rPr lang="zh-CN" altLang="en-US" sz="2400" b="1" dirty="0"/>
              <a:t>终止角度为</a:t>
            </a:r>
            <a:r>
              <a:rPr lang="en-US" altLang="zh-CN" sz="2400" b="1"/>
              <a:t>end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7" name="文本占位符 67586"/>
          <p:cNvSpPr>
            <a:spLocks noGrp="1"/>
          </p:cNvSpPr>
          <p:nvPr>
            <p:ph type="body" idx="1"/>
          </p:nvPr>
        </p:nvSpPr>
        <p:spPr>
          <a:xfrm>
            <a:off x="628650" y="685800"/>
            <a:ext cx="9201150" cy="51816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400">
                <a:solidFill>
                  <a:schemeClr val="hlink"/>
                </a:solidFill>
              </a:rPr>
              <a:t>-</a:t>
            </a:r>
            <a:r>
              <a:rPr lang="en-US" altLang="zh-CN" sz="2800" b="1" err="1">
                <a:solidFill>
                  <a:schemeClr val="hlink"/>
                </a:solidFill>
              </a:rPr>
              <a:t>Pieslice(</a:t>
            </a:r>
            <a:r>
              <a:rPr lang="en-US" altLang="zh-CN" sz="2400" b="1" err="1">
                <a:solidFill>
                  <a:schemeClr val="hlink"/>
                </a:solidFill>
              </a:rPr>
              <a:t>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x,int</a:t>
            </a:r>
            <a:r>
              <a:rPr lang="en-US" altLang="zh-CN" sz="2400" b="1">
                <a:solidFill>
                  <a:schemeClr val="hlink"/>
                </a:solidFill>
              </a:rPr>
              <a:t> y </a:t>
            </a:r>
            <a:r>
              <a:rPr lang="en-US" altLang="zh-CN" sz="2400" b="1" err="1">
                <a:solidFill>
                  <a:schemeClr val="hlink"/>
                </a:solidFill>
              </a:rPr>
              <a:t>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startangle,int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endangle,int</a:t>
            </a:r>
            <a:r>
              <a:rPr lang="en-US" altLang="zh-CN" sz="2400" b="1">
                <a:solidFill>
                  <a:schemeClr val="hlink"/>
                </a:solidFill>
              </a:rPr>
              <a:t> radius</a:t>
            </a:r>
            <a:r>
              <a:rPr lang="en-US" altLang="zh-CN" sz="2800" b="1">
                <a:solidFill>
                  <a:schemeClr val="hlink"/>
                </a:solidFill>
              </a:rPr>
              <a:t>)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作用：</a:t>
            </a:r>
            <a:r>
              <a:rPr lang="zh-CN" altLang="en-US" sz="2800" b="1" dirty="0"/>
              <a:t>画扇形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chemeClr val="hlink"/>
                </a:solidFill>
              </a:rPr>
              <a:t>例：</a:t>
            </a:r>
            <a:r>
              <a:rPr lang="en-US" altLang="zh-CN" sz="2800" b="1"/>
              <a:t>void  draw_slice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{</a:t>
            </a:r>
            <a:r>
              <a:rPr lang="en-US" altLang="zh-CN" sz="2800" b="1" err="1"/>
              <a:t>int</a:t>
            </a:r>
            <a:r>
              <a:rPr lang="en-US" altLang="zh-CN" sz="2800" b="1"/>
              <a:t> start,end;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start=0,end=45;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For (i=0 ;i&lt; 8;i++)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{</a:t>
            </a:r>
            <a:r>
              <a:rPr lang="en-US" altLang="zh-CN" sz="2800" b="1" err="1">
                <a:solidFill>
                  <a:srgbClr val="FF0066"/>
                </a:solidFill>
              </a:rPr>
              <a:t>setfillstyle(SOLID_FILL,i</a:t>
            </a:r>
            <a:r>
              <a:rPr lang="en-US" altLang="zh-CN" sz="2800" b="1">
                <a:solidFill>
                  <a:srgbClr val="FF0066"/>
                </a:solidFill>
              </a:rPr>
              <a:t>)</a:t>
            </a:r>
            <a:r>
              <a:rPr lang="en-US" altLang="zh-CN" sz="2800" b="1"/>
              <a:t>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pieslice(260,200,start,end,100);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start+=45;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end+=45</a:t>
            </a:r>
            <a:r>
              <a:rPr lang="zh-CN" altLang="en-US" sz="2800" b="1"/>
              <a:t>；</a:t>
            </a:r>
            <a:endParaRPr lang="zh-CN" altLang="en-US" sz="2800" b="1"/>
          </a:p>
          <a:p>
            <a:pPr>
              <a:lnSpc>
                <a:spcPct val="90000"/>
              </a:lnSpc>
            </a:pPr>
            <a:r>
              <a:rPr lang="zh-CN" altLang="en-US" sz="2800" b="1"/>
              <a:t>     </a:t>
            </a:r>
            <a:r>
              <a:rPr lang="en-US" altLang="zh-CN" sz="2800" b="1"/>
              <a:t>}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}</a:t>
            </a: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106363" y="188913"/>
            <a:ext cx="8713787" cy="6669087"/>
          </a:xfrm>
          <a:ln/>
        </p:spPr>
        <p:txBody>
          <a:bodyPr/>
          <a:p>
            <a:r>
              <a:rPr lang="en-US" altLang="zh-CN" b="1">
                <a:solidFill>
                  <a:srgbClr val="FF0066"/>
                </a:solidFill>
              </a:rPr>
              <a:t>5</a:t>
            </a:r>
            <a:r>
              <a:rPr lang="zh-CN" altLang="en-US" b="1" dirty="0">
                <a:solidFill>
                  <a:srgbClr val="FF0066"/>
                </a:solidFill>
              </a:rPr>
              <a:t>多边形类函数</a:t>
            </a:r>
            <a:endParaRPr lang="zh-CN" altLang="en-US" b="1" dirty="0">
              <a:solidFill>
                <a:srgbClr val="FF0066"/>
              </a:solidFill>
            </a:endParaRPr>
          </a:p>
          <a:p>
            <a:r>
              <a:rPr lang="en-US" altLang="zh-CN" b="1" err="1">
                <a:solidFill>
                  <a:schemeClr val="hlink"/>
                </a:solidFill>
              </a:rPr>
              <a:t>rectangle(int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left,int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top,int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right,int</a:t>
            </a:r>
            <a:r>
              <a:rPr lang="en-US" altLang="zh-CN" b="1">
                <a:solidFill>
                  <a:schemeClr val="hlink"/>
                </a:solidFill>
              </a:rPr>
              <a:t> bottom)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画矩形</a:t>
            </a:r>
            <a:endParaRPr lang="zh-CN" altLang="en-US" b="1"/>
          </a:p>
          <a:p>
            <a:r>
              <a:rPr lang="zh-CN" altLang="en-US" b="1" dirty="0">
                <a:solidFill>
                  <a:schemeClr val="hlink"/>
                </a:solidFill>
              </a:rPr>
              <a:t>例</a:t>
            </a:r>
            <a:r>
              <a:rPr lang="en-US" altLang="zh-CN" b="1">
                <a:solidFill>
                  <a:schemeClr val="hlink"/>
                </a:solidFill>
              </a:rPr>
              <a:t>:</a:t>
            </a:r>
            <a:r>
              <a:rPr lang="en-US" altLang="zh-CN" b="1"/>
              <a:t> rectangle(200,100,500,400)</a:t>
            </a:r>
            <a:endParaRPr lang="en-US" altLang="zh-CN" b="1"/>
          </a:p>
          <a:p>
            <a:r>
              <a:rPr lang="en-US" altLang="zh-CN" b="1" err="1">
                <a:solidFill>
                  <a:schemeClr val="hlink"/>
                </a:solidFill>
              </a:rPr>
              <a:t>drawpoly(int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numpoints</a:t>
            </a:r>
            <a:r>
              <a:rPr lang="en-US" altLang="zh-CN" b="1">
                <a:solidFill>
                  <a:schemeClr val="hlink"/>
                </a:solidFill>
              </a:rPr>
              <a:t>, </a:t>
            </a:r>
            <a:r>
              <a:rPr lang="en-US" altLang="zh-CN" b="1" err="1">
                <a:solidFill>
                  <a:schemeClr val="hlink"/>
                </a:solidFill>
              </a:rPr>
              <a:t>int</a:t>
            </a:r>
            <a:r>
              <a:rPr lang="en-US" altLang="zh-CN" b="1">
                <a:solidFill>
                  <a:schemeClr val="hlink"/>
                </a:solidFill>
              </a:rPr>
              <a:t> *</a:t>
            </a:r>
            <a:r>
              <a:rPr lang="en-US" altLang="zh-CN" b="1" err="1">
                <a:solidFill>
                  <a:schemeClr val="hlink"/>
                </a:solidFill>
              </a:rPr>
              <a:t>polypoints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sz="2800" b="1" dirty="0">
                <a:solidFill>
                  <a:schemeClr val="hlink"/>
                </a:solidFill>
              </a:rPr>
              <a:t>作用：</a:t>
            </a:r>
            <a:r>
              <a:rPr lang="zh-CN" altLang="en-US" sz="2800" b="1" dirty="0"/>
              <a:t>画多边形</a:t>
            </a:r>
            <a:endParaRPr lang="zh-CN" altLang="en-US" sz="2800"/>
          </a:p>
          <a:p>
            <a:r>
              <a:rPr lang="zh-CN" altLang="en-US" sz="2800" b="1" dirty="0">
                <a:solidFill>
                  <a:schemeClr val="hlink"/>
                </a:solidFill>
              </a:rPr>
              <a:t>说明：</a:t>
            </a:r>
            <a:r>
              <a:rPr lang="zh-CN" altLang="en-US" sz="2800" b="1" dirty="0"/>
              <a:t>用当前画笔颜色画一个多边形，多边形的点数为</a:t>
            </a:r>
            <a:r>
              <a:rPr lang="en-US" altLang="zh-CN" sz="2800" b="1" err="1"/>
              <a:t>numpoints</a:t>
            </a:r>
            <a:r>
              <a:rPr lang="en-US" altLang="zh-CN" sz="2800" b="1"/>
              <a:t>,*</a:t>
            </a:r>
            <a:r>
              <a:rPr lang="en-US" altLang="zh-CN" sz="2800" b="1" err="1"/>
              <a:t>polypoints</a:t>
            </a:r>
            <a:r>
              <a:rPr lang="zh-CN" altLang="en-US" sz="2800" b="1" dirty="0"/>
              <a:t>指向一个整型数组，共有</a:t>
            </a:r>
            <a:r>
              <a:rPr lang="en-US" altLang="zh-CN" sz="2800" b="1" err="1"/>
              <a:t>numpoints</a:t>
            </a:r>
            <a:r>
              <a:rPr lang="en-US" altLang="zh-CN" sz="2800" b="1"/>
              <a:t>*2</a:t>
            </a:r>
            <a:r>
              <a:rPr lang="zh-CN" altLang="en-US" sz="2800" b="1" dirty="0"/>
              <a:t>个整数</a:t>
            </a:r>
            <a:r>
              <a:rPr lang="en-US" altLang="zh-CN" sz="2800" b="1"/>
              <a:t>,</a:t>
            </a:r>
            <a:r>
              <a:rPr lang="zh-CN" altLang="en-US" sz="2800" b="1" dirty="0"/>
              <a:t>每一对整数给出了一个多边形顶点（</a:t>
            </a:r>
            <a:r>
              <a:rPr lang="en-US" altLang="zh-CN" sz="2800" b="1"/>
              <a:t>x,y</a:t>
            </a:r>
            <a:r>
              <a:rPr lang="zh-CN" altLang="en-US" sz="2800" b="1"/>
              <a:t>）</a:t>
            </a:r>
            <a:r>
              <a:rPr lang="zh-CN" altLang="en-US" sz="2800" b="1" dirty="0"/>
              <a:t>的坐标。</a:t>
            </a:r>
            <a:endParaRPr lang="zh-CN" altLang="en-US" sz="2800" b="1" dirty="0"/>
          </a:p>
          <a:p>
            <a:r>
              <a:rPr lang="zh-CN" altLang="en-US" sz="2800" dirty="0"/>
              <a:t>例：</a:t>
            </a:r>
            <a:r>
              <a:rPr lang="en-US" altLang="zh-CN" sz="2800" err="1"/>
              <a:t>int</a:t>
            </a:r>
            <a:r>
              <a:rPr lang="en-US" altLang="zh-CN" sz="2800"/>
              <a:t> matrix[10]={10,20,20,60,30,50,20,40,15,20}</a:t>
            </a:r>
            <a:endParaRPr lang="en-US" altLang="zh-CN" sz="2800"/>
          </a:p>
          <a:p>
            <a:r>
              <a:rPr lang="en-US" altLang="zh-CN" sz="2800"/>
              <a:t>Drawpoly(5,matrix)</a:t>
            </a:r>
            <a:endParaRPr lang="en-US" altLang="zh-CN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文本占位符 68610"/>
          <p:cNvSpPr>
            <a:spLocks noGrp="1"/>
          </p:cNvSpPr>
          <p:nvPr>
            <p:ph type="body" idx="1"/>
          </p:nvPr>
        </p:nvSpPr>
        <p:spPr>
          <a:xfrm>
            <a:off x="179388" y="188913"/>
            <a:ext cx="8686800" cy="5943600"/>
          </a:xfrm>
          <a:ln/>
        </p:spPr>
        <p:txBody>
          <a:bodyPr/>
          <a:p>
            <a:pPr>
              <a:lnSpc>
                <a:spcPct val="90000"/>
              </a:lnSpc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注意：</a:t>
            </a:r>
            <a:r>
              <a:rPr lang="zh-CN" altLang="en-US" sz="2800" b="1" dirty="0"/>
              <a:t>划封闭的多边形，定点数目必须等于</a:t>
            </a:r>
            <a:r>
              <a:rPr lang="en-US" altLang="zh-CN" sz="2800" b="1"/>
              <a:t>n+1</a:t>
            </a:r>
            <a:endParaRPr lang="en-US" altLang="zh-CN" sz="2800" b="1"/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/>
              <a:t>且最后一点的坐标必须等于第一个点的坐标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例：</a:t>
            </a:r>
            <a:endParaRPr lang="zh-CN" altLang="en-US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</a:t>
            </a:r>
            <a:r>
              <a:rPr lang="en-US" altLang="zh-CN" b="1"/>
              <a:t>main()</a:t>
            </a:r>
            <a:endParaRPr lang="en-US" altLang="zh-CN" b="1"/>
          </a:p>
          <a:p>
            <a:pPr>
              <a:lnSpc>
                <a:spcPct val="90000"/>
              </a:lnSpc>
              <a:buNone/>
            </a:pPr>
            <a:r>
              <a:rPr lang="en-US" altLang="zh-CN"/>
              <a:t> {</a:t>
            </a:r>
            <a:r>
              <a:rPr lang="en-US" altLang="zh-CN" sz="2800" b="1"/>
              <a:t>static  </a:t>
            </a:r>
            <a:r>
              <a:rPr lang="en-US" altLang="zh-CN" sz="2800" b="1" err="1"/>
              <a:t>int</a:t>
            </a:r>
            <a:r>
              <a:rPr lang="en-US" altLang="zh-CN" b="1"/>
              <a:t> </a:t>
            </a:r>
            <a:r>
              <a:rPr lang="en-US" altLang="zh-CN" sz="2800" b="1"/>
              <a:t>polypoints1[8]</a:t>
            </a:r>
            <a:endParaRPr lang="en-US" altLang="zh-CN" sz="2800" b="1"/>
          </a:p>
          <a:p>
            <a:pPr>
              <a:lnSpc>
                <a:spcPct val="90000"/>
              </a:lnSpc>
              <a:buNone/>
            </a:pPr>
            <a:r>
              <a:rPr lang="en-US" altLang="zh-CN" sz="2800" b="1"/>
              <a:t>     ={100,100,200,100,200,200,100,200}</a:t>
            </a:r>
            <a:endParaRPr lang="en-US" altLang="zh-CN" sz="2800" b="1"/>
          </a:p>
          <a:p>
            <a:pPr>
              <a:lnSpc>
                <a:spcPct val="90000"/>
              </a:lnSpc>
              <a:buNone/>
            </a:pPr>
            <a:r>
              <a:rPr lang="en-US" altLang="zh-CN" sz="2800" b="1"/>
              <a:t>  Static </a:t>
            </a:r>
            <a:r>
              <a:rPr lang="en-US" altLang="zh-CN" sz="2800" b="1" err="1"/>
              <a:t>int</a:t>
            </a:r>
            <a:r>
              <a:rPr lang="en-US" altLang="zh-CN" sz="2800" b="1"/>
              <a:t> polypoints2[10]=     ={100,100,200,100,200,200,100,200,100,100}</a:t>
            </a:r>
            <a:endParaRPr lang="en-US" altLang="zh-CN" sz="2800" b="1"/>
          </a:p>
          <a:p>
            <a:pPr>
              <a:lnSpc>
                <a:spcPct val="90000"/>
              </a:lnSpc>
              <a:buNone/>
            </a:pPr>
            <a:r>
              <a:rPr lang="en-US" altLang="zh-CN" sz="2800" b="1"/>
              <a:t>   drawpoly(4,polypoints1);</a:t>
            </a:r>
            <a:endParaRPr lang="en-US" altLang="zh-CN" sz="2800" b="1"/>
          </a:p>
          <a:p>
            <a:pPr>
              <a:lnSpc>
                <a:spcPct val="90000"/>
              </a:lnSpc>
              <a:buNone/>
            </a:pPr>
            <a:r>
              <a:rPr lang="en-US" altLang="zh-CN" sz="2800" b="1"/>
              <a:t>   Drawpoly(5,polypoints2);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/>
              <a:t>}</a:t>
            </a: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1066800" y="590550"/>
            <a:ext cx="7620000" cy="5410200"/>
          </a:xfrm>
          <a:ln/>
        </p:spPr>
        <p:txBody>
          <a:bodyPr/>
          <a:p>
            <a:r>
              <a:rPr lang="en-US" altLang="zh-CN" sz="3600" b="1">
                <a:solidFill>
                  <a:srgbClr val="FF0066"/>
                </a:solidFill>
              </a:rPr>
              <a:t>6</a:t>
            </a:r>
            <a:r>
              <a:rPr lang="zh-CN" altLang="en-US" sz="3600" b="1" dirty="0">
                <a:solidFill>
                  <a:srgbClr val="FF0066"/>
                </a:solidFill>
              </a:rPr>
              <a:t>图形颜色的设置</a:t>
            </a:r>
            <a:endParaRPr lang="zh-CN" altLang="en-US" sz="2800" dirty="0"/>
          </a:p>
          <a:p>
            <a:r>
              <a:rPr lang="en-US" altLang="zh-CN" b="1">
                <a:solidFill>
                  <a:schemeClr val="hlink"/>
                </a:solidFill>
              </a:rPr>
              <a:t>void far </a:t>
            </a:r>
            <a:r>
              <a:rPr lang="en-US" altLang="zh-CN" b="1" err="1">
                <a:solidFill>
                  <a:schemeClr val="hlink"/>
                </a:solidFill>
              </a:rPr>
              <a:t>setbkcolor(int</a:t>
            </a:r>
            <a:r>
              <a:rPr lang="en-US" altLang="zh-CN" b="1">
                <a:solidFill>
                  <a:schemeClr val="hlink"/>
                </a:solidFill>
              </a:rPr>
              <a:t> color)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en-US" altLang="zh-CN" sz="2800" b="1"/>
              <a:t>-</a:t>
            </a:r>
            <a:r>
              <a:rPr lang="zh-CN" altLang="en-US" sz="2800" b="1" dirty="0"/>
              <a:t>设置当前背景颜色 </a:t>
            </a:r>
            <a:r>
              <a:rPr lang="en-US" altLang="zh-CN" sz="2800" b="1"/>
              <a:t>(p60</a:t>
            </a:r>
            <a:r>
              <a:rPr lang="zh-CN" altLang="en-US" sz="2800" b="1"/>
              <a:t>表</a:t>
            </a:r>
            <a:r>
              <a:rPr lang="en-US" altLang="zh-CN" sz="2800" b="1"/>
              <a:t>3.3)</a:t>
            </a:r>
            <a:endParaRPr lang="en-US" altLang="zh-CN" sz="2800" b="1"/>
          </a:p>
          <a:p>
            <a:r>
              <a:rPr lang="zh-CN" altLang="en-US" sz="2800" b="1" dirty="0"/>
              <a:t>例： </a:t>
            </a:r>
            <a:r>
              <a:rPr lang="en-US" altLang="zh-CN" sz="2800" b="1" err="1"/>
              <a:t>setbkcolor(BLACK</a:t>
            </a:r>
            <a:r>
              <a:rPr lang="en-US" altLang="zh-CN" sz="2800" b="1"/>
              <a:t>)</a:t>
            </a:r>
            <a:endParaRPr lang="en-US" altLang="zh-CN" sz="2800" b="1"/>
          </a:p>
          <a:p>
            <a:r>
              <a:rPr lang="en-US" altLang="zh-CN" b="1">
                <a:solidFill>
                  <a:schemeClr val="hlink"/>
                </a:solidFill>
              </a:rPr>
              <a:t>void far </a:t>
            </a:r>
            <a:r>
              <a:rPr lang="en-US" altLang="zh-CN" b="1" err="1">
                <a:solidFill>
                  <a:schemeClr val="hlink"/>
                </a:solidFill>
              </a:rPr>
              <a:t>setcolor(int</a:t>
            </a:r>
            <a:r>
              <a:rPr lang="en-US" altLang="zh-CN" b="1">
                <a:solidFill>
                  <a:schemeClr val="hlink"/>
                </a:solidFill>
              </a:rPr>
              <a:t> color)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en-US" altLang="zh-CN" sz="2800" b="1"/>
              <a:t>-</a:t>
            </a:r>
            <a:r>
              <a:rPr lang="zh-CN" altLang="en-US" sz="2800" b="1" dirty="0"/>
              <a:t>设置当前画笔颜色</a:t>
            </a:r>
            <a:r>
              <a:rPr lang="zh-CN" altLang="en-US" sz="2800" b="1"/>
              <a:t> </a:t>
            </a:r>
            <a:endParaRPr lang="zh-CN" altLang="en-US" sz="2800" b="1"/>
          </a:p>
          <a:p>
            <a:r>
              <a:rPr lang="zh-CN" altLang="en-US" sz="2800" b="1" dirty="0"/>
              <a:t>例</a:t>
            </a:r>
            <a:r>
              <a:rPr lang="en-US" altLang="zh-CN" sz="2800" b="1"/>
              <a:t>:</a:t>
            </a:r>
            <a:r>
              <a:rPr lang="en-US" altLang="zh-CN" sz="2800" b="1" err="1"/>
              <a:t>setcolor(GREEN</a:t>
            </a:r>
            <a:r>
              <a:rPr lang="en-US" altLang="zh-CN" sz="2800" b="1"/>
              <a:t>)</a:t>
            </a:r>
            <a:endParaRPr lang="en-US" altLang="zh-CN" sz="2800" b="1"/>
          </a:p>
          <a:p>
            <a:endParaRPr lang="en-US" altLang="zh-CN" sz="2800" b="1"/>
          </a:p>
          <a:p>
            <a:pPr>
              <a:buNone/>
            </a:pPr>
            <a:endParaRPr lang="en-US" altLang="zh-CN" sz="2800" b="1"/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468313" y="333375"/>
            <a:ext cx="7620000" cy="54102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例：在浅红色的背景色画布上画一黄色的圆。</a:t>
            </a:r>
            <a:endParaRPr lang="zh-CN" altLang="en-US" sz="28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#include “graphics.h”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#include “</a:t>
            </a:r>
            <a:r>
              <a:rPr lang="en-US" altLang="zh-CN" sz="2800" err="1"/>
              <a:t>conio.h</a:t>
            </a:r>
            <a:r>
              <a:rPr lang="en-US" altLang="zh-CN" sz="2800"/>
              <a:t>”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void  main( )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{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</a:t>
            </a:r>
            <a:r>
              <a:rPr lang="en-US" altLang="zh-CN" sz="2800" err="1"/>
              <a:t>int</a:t>
            </a:r>
            <a:r>
              <a:rPr lang="en-US" altLang="zh-CN" sz="2800"/>
              <a:t> </a:t>
            </a:r>
            <a:r>
              <a:rPr lang="en-US" altLang="zh-CN" sz="2800" err="1"/>
              <a:t>gdriver</a:t>
            </a:r>
            <a:r>
              <a:rPr lang="en-US" altLang="zh-CN" sz="2800"/>
              <a:t>=</a:t>
            </a:r>
            <a:r>
              <a:rPr lang="en-US" altLang="zh-CN" sz="2800" err="1"/>
              <a:t>DETECT,gmode</a:t>
            </a:r>
            <a:r>
              <a:rPr lang="en-US" altLang="zh-CN" sz="2800"/>
              <a:t>;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</a:t>
            </a:r>
            <a:r>
              <a:rPr lang="en-US" altLang="zh-CN" sz="2800" err="1"/>
              <a:t>initgraph(&amp;gdriver,&amp;gmode</a:t>
            </a:r>
            <a:r>
              <a:rPr lang="en-US" altLang="zh-CN" sz="2800"/>
              <a:t>,  “c:\\TC” );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</a:t>
            </a:r>
            <a:r>
              <a:rPr lang="en-US" altLang="zh-CN" sz="2800" b="1" err="1">
                <a:solidFill>
                  <a:srgbClr val="FF0066"/>
                </a:solidFill>
              </a:rPr>
              <a:t>setbkcolor(LIGHTRED</a:t>
            </a:r>
            <a:r>
              <a:rPr lang="en-US" altLang="zh-CN" sz="2800" b="1">
                <a:solidFill>
                  <a:srgbClr val="FF0066"/>
                </a:solidFill>
              </a:rPr>
              <a:t>);</a:t>
            </a:r>
            <a:endParaRPr lang="en-US" altLang="zh-CN" sz="2800" b="1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rgbClr val="FF0066"/>
                </a:solidFill>
              </a:rPr>
              <a:t>  </a:t>
            </a:r>
            <a:r>
              <a:rPr lang="en-US" altLang="zh-CN" sz="2800" b="1" err="1">
                <a:solidFill>
                  <a:srgbClr val="FF0066"/>
                </a:solidFill>
              </a:rPr>
              <a:t>setcolor(YELLOW</a:t>
            </a:r>
            <a:r>
              <a:rPr lang="en-US" altLang="zh-CN" sz="2800" b="1">
                <a:solidFill>
                  <a:srgbClr val="FF0066"/>
                </a:solidFill>
              </a:rPr>
              <a:t>);</a:t>
            </a:r>
            <a:endParaRPr lang="en-US" altLang="zh-CN" sz="2800" b="1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  circle(100,100,50);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</a:t>
            </a:r>
            <a:r>
              <a:rPr lang="en-US" altLang="zh-CN" sz="2800" err="1"/>
              <a:t>getch</a:t>
            </a:r>
            <a:r>
              <a:rPr lang="en-US" altLang="zh-CN" sz="2800"/>
              <a:t>();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 </a:t>
            </a:r>
            <a:r>
              <a:rPr lang="en-US" altLang="zh-CN" sz="2800" err="1"/>
              <a:t>closegraph</a:t>
            </a:r>
            <a:r>
              <a:rPr lang="en-US" altLang="zh-CN" sz="2800"/>
              <a:t>() ; 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}</a:t>
            </a:r>
            <a:endParaRPr lang="en-US" altLang="zh-CN" sz="2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4" name="文本占位符 35843"/>
          <p:cNvGraphicFramePr>
            <a:graphicFrameLocks noGrp="1"/>
          </p:cNvGraphicFramePr>
          <p:nvPr>
            <p:ph type="body" idx="1"/>
          </p:nvPr>
        </p:nvGraphicFramePr>
        <p:xfrm>
          <a:off x="2514600" y="1066800"/>
          <a:ext cx="447675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943225" imgH="2705100" progId="Paint.Picture">
                  <p:embed/>
                </p:oleObj>
              </mc:Choice>
              <mc:Fallback>
                <p:oleObj name="" r:id="rId1" imgW="2943225" imgH="270510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1066800"/>
                        <a:ext cx="4476750" cy="4114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6869" name="文本占位符 36868"/>
          <p:cNvGraphicFramePr/>
          <p:nvPr>
            <p:ph type="body" idx="1"/>
          </p:nvPr>
        </p:nvGraphicFramePr>
        <p:xfrm>
          <a:off x="685800" y="1933575"/>
          <a:ext cx="7696200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6305550" imgH="3209925" progId="Paint.Picture">
                  <p:embed/>
                </p:oleObj>
              </mc:Choice>
              <mc:Fallback>
                <p:oleObj name="" r:id="rId1" imgW="6305550" imgH="320992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933575"/>
                        <a:ext cx="7696200" cy="34480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文本框 36869"/>
          <p:cNvSpPr txBox="1"/>
          <p:nvPr/>
        </p:nvSpPr>
        <p:spPr>
          <a:xfrm>
            <a:off x="914400" y="533400"/>
            <a:ext cx="70866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2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图形的填充</a:t>
            </a:r>
            <a:r>
              <a:rPr lang="en-US" altLang="zh-CN" sz="2800">
                <a:latin typeface="Times New Roman" panose="02020603050405020304" pitchFamily="18" charset="0"/>
              </a:rPr>
              <a:t>[</a:t>
            </a:r>
            <a:r>
              <a:rPr lang="zh-CN" altLang="en-US" sz="2800" dirty="0">
                <a:latin typeface="Times New Roman" panose="02020603050405020304" pitchFamily="18" charset="0"/>
              </a:rPr>
              <a:t>柱状统计图、圆饼图</a:t>
            </a:r>
            <a:r>
              <a:rPr lang="en-US" altLang="zh-CN" sz="2800">
                <a:latin typeface="Times New Roman" panose="02020603050405020304" pitchFamily="18" charset="0"/>
              </a:rPr>
              <a:t>]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6871" name="文本框 36870"/>
          <p:cNvSpPr txBox="1"/>
          <p:nvPr/>
        </p:nvSpPr>
        <p:spPr>
          <a:xfrm>
            <a:off x="1676400" y="20574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SOLID_FILL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文本占位符 27650"/>
          <p:cNvSpPr>
            <a:spLocks noGrp="1"/>
          </p:cNvSpPr>
          <p:nvPr>
            <p:ph type="body" idx="1"/>
          </p:nvPr>
        </p:nvSpPr>
        <p:spPr>
          <a:xfrm>
            <a:off x="1066800" y="533400"/>
            <a:ext cx="7620000" cy="6019800"/>
          </a:xfrm>
          <a:ln/>
        </p:spPr>
        <p:txBody>
          <a:bodyPr/>
          <a:p>
            <a:r>
              <a:rPr lang="en-US" altLang="zh-CN">
                <a:solidFill>
                  <a:schemeClr val="hlink"/>
                </a:solidFill>
              </a:rPr>
              <a:t>-</a:t>
            </a:r>
            <a:r>
              <a:rPr lang="en-US" altLang="zh-CN" err="1">
                <a:solidFill>
                  <a:schemeClr val="hlink"/>
                </a:solidFill>
              </a:rPr>
              <a:t>Setfillstyle</a:t>
            </a:r>
            <a:r>
              <a:rPr lang="en-US" altLang="zh-CN">
                <a:solidFill>
                  <a:schemeClr val="hlink"/>
                </a:solidFill>
              </a:rPr>
              <a:t> ( </a:t>
            </a:r>
            <a:r>
              <a:rPr lang="en-US" altLang="zh-CN" err="1">
                <a:solidFill>
                  <a:schemeClr val="hlink"/>
                </a:solidFill>
              </a:rPr>
              <a:t>int</a:t>
            </a:r>
            <a:r>
              <a:rPr lang="en-US" altLang="zh-CN">
                <a:solidFill>
                  <a:schemeClr val="hlink"/>
                </a:solidFill>
              </a:rPr>
              <a:t> pattern, </a:t>
            </a:r>
            <a:r>
              <a:rPr lang="en-US" altLang="zh-CN" err="1">
                <a:solidFill>
                  <a:schemeClr val="hlink"/>
                </a:solidFill>
              </a:rPr>
              <a:t>int</a:t>
            </a:r>
            <a:r>
              <a:rPr lang="en-US" altLang="zh-CN">
                <a:solidFill>
                  <a:schemeClr val="hlink"/>
                </a:solidFill>
              </a:rPr>
              <a:t> color)</a:t>
            </a:r>
            <a:endParaRPr lang="en-US" altLang="zh-CN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sz="2800" b="1" dirty="0"/>
              <a:t>设置当前的填充模式和填充颜色</a:t>
            </a:r>
            <a:r>
              <a:rPr lang="en-US" altLang="zh-CN" sz="2800" b="1"/>
              <a:t>p(67)</a:t>
            </a:r>
            <a:endParaRPr lang="en-US" altLang="zh-CN" sz="2800" b="1"/>
          </a:p>
          <a:p>
            <a:r>
              <a:rPr lang="en-US" altLang="zh-CN" sz="2800" b="1"/>
              <a:t>                      </a:t>
            </a:r>
            <a:r>
              <a:rPr lang="zh-CN" altLang="en-US" sz="2800" b="1" dirty="0"/>
              <a:t>填充模式代号</a:t>
            </a:r>
            <a:endParaRPr lang="zh-CN" altLang="en-US" sz="2800" b="1" dirty="0"/>
          </a:p>
          <a:p>
            <a:endParaRPr lang="zh-CN" altLang="en-US" sz="2800" b="1"/>
          </a:p>
        </p:txBody>
      </p:sp>
      <p:graphicFrame>
        <p:nvGraphicFramePr>
          <p:cNvPr id="27741" name="表格 27740"/>
          <p:cNvGraphicFramePr/>
          <p:nvPr/>
        </p:nvGraphicFramePr>
        <p:xfrm>
          <a:off x="1371600" y="3090863"/>
          <a:ext cx="6858000" cy="3436937"/>
        </p:xfrm>
        <a:graphic>
          <a:graphicData uri="http://schemas.openxmlformats.org/drawingml/2006/table">
            <a:tbl>
              <a:tblPr/>
              <a:tblGrid>
                <a:gridCol w="1828800"/>
                <a:gridCol w="1066800"/>
                <a:gridCol w="2438400"/>
                <a:gridCol w="1524000"/>
              </a:tblGrid>
              <a:tr h="482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符号</a:t>
                      </a:r>
                      <a:endParaRPr lang="zh-CN" altLang="en-US" sz="20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/>
                        <a:t>值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含义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图样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EMPTY_FILL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用背景色填充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SOLID_FILL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实线填充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LINE_FILL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2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用线“         ”  填充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0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LTSLASH_FILL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用斜杠填充</a:t>
                      </a: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SLASH_FILL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4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/>
                        <a:t>用粗斜杠填充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r>
                        <a:rPr lang="en-US" altLang="zh-CN" sz="2000">
                          <a:latin typeface="Arial" panose="020B0604020202020204" pitchFamily="34" charset="0"/>
                        </a:rPr>
                        <a:t>…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05" name="矩形 27704"/>
          <p:cNvSpPr/>
          <p:nvPr/>
        </p:nvSpPr>
        <p:spPr>
          <a:xfrm>
            <a:off x="7010400" y="3657600"/>
            <a:ext cx="457200" cy="381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06" name="矩形 27705"/>
          <p:cNvSpPr/>
          <p:nvPr/>
        </p:nvSpPr>
        <p:spPr>
          <a:xfrm>
            <a:off x="7086600" y="4191000"/>
            <a:ext cx="533400" cy="30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08" name="直接连接符 27707"/>
          <p:cNvSpPr/>
          <p:nvPr/>
        </p:nvSpPr>
        <p:spPr>
          <a:xfrm>
            <a:off x="4953000" y="48006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09" name="矩形 27708"/>
          <p:cNvSpPr/>
          <p:nvPr/>
        </p:nvSpPr>
        <p:spPr>
          <a:xfrm>
            <a:off x="7010400" y="4724400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10" name="直接连接符 27709"/>
          <p:cNvSpPr/>
          <p:nvPr/>
        </p:nvSpPr>
        <p:spPr>
          <a:xfrm>
            <a:off x="7010400" y="48006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1" name="直接连接符 27710"/>
          <p:cNvSpPr/>
          <p:nvPr/>
        </p:nvSpPr>
        <p:spPr>
          <a:xfrm>
            <a:off x="7010400" y="48768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2" name="直接连接符 27711"/>
          <p:cNvSpPr/>
          <p:nvPr/>
        </p:nvSpPr>
        <p:spPr>
          <a:xfrm>
            <a:off x="7010400" y="4938713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4" name="矩形 27713"/>
          <p:cNvSpPr/>
          <p:nvPr/>
        </p:nvSpPr>
        <p:spPr>
          <a:xfrm>
            <a:off x="7010400" y="5181600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15" name="直接连接符 27714"/>
          <p:cNvSpPr/>
          <p:nvPr/>
        </p:nvSpPr>
        <p:spPr>
          <a:xfrm>
            <a:off x="7391400" y="51816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6" name="直接连接符 27715"/>
          <p:cNvSpPr/>
          <p:nvPr/>
        </p:nvSpPr>
        <p:spPr>
          <a:xfrm>
            <a:off x="7029450" y="53340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7" name="直接连接符 27716"/>
          <p:cNvSpPr>
            <a:spLocks noChangeAspect="1"/>
          </p:cNvSpPr>
          <p:nvPr/>
        </p:nvSpPr>
        <p:spPr>
          <a:xfrm>
            <a:off x="7239000" y="5191125"/>
            <a:ext cx="258763" cy="258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718" name="直接连接符 27717"/>
          <p:cNvSpPr>
            <a:spLocks noChangeAspect="1"/>
          </p:cNvSpPr>
          <p:nvPr/>
        </p:nvSpPr>
        <p:spPr>
          <a:xfrm>
            <a:off x="7086600" y="5210175"/>
            <a:ext cx="258763" cy="258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7742" name="组合 27741"/>
          <p:cNvGrpSpPr/>
          <p:nvPr/>
        </p:nvGrpSpPr>
        <p:grpSpPr>
          <a:xfrm>
            <a:off x="7010400" y="5791200"/>
            <a:ext cx="533400" cy="304800"/>
            <a:chOff x="4416" y="3552"/>
            <a:chExt cx="336" cy="192"/>
          </a:xfrm>
        </p:grpSpPr>
        <p:sp>
          <p:nvSpPr>
            <p:cNvPr id="27719" name="矩形 27718"/>
            <p:cNvSpPr/>
            <p:nvPr/>
          </p:nvSpPr>
          <p:spPr>
            <a:xfrm>
              <a:off x="4416" y="355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20" name="直接连接符 27719"/>
            <p:cNvSpPr>
              <a:spLocks noChangeAspect="1"/>
            </p:cNvSpPr>
            <p:nvPr/>
          </p:nvSpPr>
          <p:spPr>
            <a:xfrm>
              <a:off x="4542" y="3552"/>
              <a:ext cx="163" cy="163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直接连接符 27720"/>
            <p:cNvSpPr/>
            <p:nvPr/>
          </p:nvSpPr>
          <p:spPr>
            <a:xfrm>
              <a:off x="4416" y="3648"/>
              <a:ext cx="96" cy="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直接连接符 27722"/>
            <p:cNvSpPr>
              <a:spLocks noChangeAspect="1"/>
            </p:cNvSpPr>
            <p:nvPr/>
          </p:nvSpPr>
          <p:spPr>
            <a:xfrm>
              <a:off x="4455" y="3573"/>
              <a:ext cx="163" cy="163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4" name="直接连接符 27723"/>
            <p:cNvSpPr/>
            <p:nvPr/>
          </p:nvSpPr>
          <p:spPr>
            <a:xfrm>
              <a:off x="4656" y="3552"/>
              <a:ext cx="96" cy="9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文本占位符 28674"/>
          <p:cNvSpPr>
            <a:spLocks noGrp="1"/>
          </p:cNvSpPr>
          <p:nvPr>
            <p:ph type="body" idx="1"/>
          </p:nvPr>
        </p:nvSpPr>
        <p:spPr>
          <a:xfrm>
            <a:off x="781050" y="533400"/>
            <a:ext cx="8162925" cy="5867400"/>
          </a:xfrm>
          <a:ln/>
        </p:spPr>
        <p:txBody>
          <a:bodyPr/>
          <a:p>
            <a:r>
              <a:rPr lang="zh-CN" altLang="en-US" sz="2800" b="1" dirty="0"/>
              <a:t>例</a:t>
            </a:r>
            <a:r>
              <a:rPr lang="en-US" altLang="zh-CN" sz="2800" b="1"/>
              <a:t>:setfillstyle(4,RED)</a:t>
            </a:r>
            <a:endParaRPr lang="en-US" altLang="zh-CN" sz="2800" b="1"/>
          </a:p>
          <a:p>
            <a:r>
              <a:rPr lang="en-US" altLang="zh-CN" sz="2800" b="1"/>
              <a:t>     Bar(100,200,150,300)</a:t>
            </a:r>
            <a:endParaRPr lang="en-US" altLang="zh-CN" sz="2800" b="1"/>
          </a:p>
          <a:p>
            <a:endParaRPr lang="en-US" altLang="zh-CN" sz="2800" b="1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</p:txBody>
      </p:sp>
      <p:grpSp>
        <p:nvGrpSpPr>
          <p:cNvPr id="28685" name="组合 28684"/>
          <p:cNvGrpSpPr/>
          <p:nvPr/>
        </p:nvGrpSpPr>
        <p:grpSpPr>
          <a:xfrm>
            <a:off x="2733675" y="1676400"/>
            <a:ext cx="3209925" cy="2286000"/>
            <a:chOff x="1722" y="1056"/>
            <a:chExt cx="2022" cy="1440"/>
          </a:xfrm>
        </p:grpSpPr>
        <p:sp>
          <p:nvSpPr>
            <p:cNvPr id="28676" name="直接连接符 28675"/>
            <p:cNvSpPr/>
            <p:nvPr/>
          </p:nvSpPr>
          <p:spPr>
            <a:xfrm>
              <a:off x="1722" y="1056"/>
              <a:ext cx="20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77" name="直接连接符 28676"/>
            <p:cNvSpPr/>
            <p:nvPr/>
          </p:nvSpPr>
          <p:spPr>
            <a:xfrm>
              <a:off x="1728" y="1056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78" name="矩形 28677"/>
            <p:cNvSpPr/>
            <p:nvPr/>
          </p:nvSpPr>
          <p:spPr>
            <a:xfrm>
              <a:off x="2064" y="1920"/>
              <a:ext cx="192" cy="43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79" name="直接连接符 28678"/>
            <p:cNvSpPr/>
            <p:nvPr/>
          </p:nvSpPr>
          <p:spPr>
            <a:xfrm>
              <a:off x="2160" y="1920"/>
              <a:ext cx="96" cy="96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0" name="直接连接符 28679"/>
            <p:cNvSpPr/>
            <p:nvPr/>
          </p:nvSpPr>
          <p:spPr>
            <a:xfrm>
              <a:off x="2064" y="1920"/>
              <a:ext cx="192" cy="192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1" name="直接连接符 28680"/>
            <p:cNvSpPr/>
            <p:nvPr/>
          </p:nvSpPr>
          <p:spPr>
            <a:xfrm>
              <a:off x="2064" y="2016"/>
              <a:ext cx="192" cy="24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2" name="直接连接符 28681"/>
            <p:cNvSpPr/>
            <p:nvPr/>
          </p:nvSpPr>
          <p:spPr>
            <a:xfrm>
              <a:off x="2064" y="2160"/>
              <a:ext cx="144" cy="192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3" name="文本框 28682"/>
            <p:cNvSpPr txBox="1"/>
            <p:nvPr/>
          </p:nvSpPr>
          <p:spPr>
            <a:xfrm>
              <a:off x="1746" y="1784"/>
              <a:ext cx="8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0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1000">
                  <a:latin typeface="Times New Roman" panose="02020603050405020304" pitchFamily="18" charset="0"/>
                </a:rPr>
                <a:t>100</a:t>
              </a:r>
              <a:r>
                <a:rPr lang="zh-CN" altLang="en-US" sz="10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1000">
                  <a:latin typeface="Times New Roman" panose="02020603050405020304" pitchFamily="18" charset="0"/>
                </a:rPr>
                <a:t>200</a:t>
              </a:r>
              <a:r>
                <a:rPr lang="zh-CN" altLang="en-US" sz="1000" dirty="0">
                  <a:latin typeface="Times New Roman" panose="02020603050405020304" pitchFamily="18" charset="0"/>
                </a:rPr>
                <a:t>）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28684" name="文本框 28683"/>
            <p:cNvSpPr txBox="1"/>
            <p:nvPr/>
          </p:nvSpPr>
          <p:spPr>
            <a:xfrm>
              <a:off x="2130" y="2331"/>
              <a:ext cx="528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0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1000">
                  <a:latin typeface="Times New Roman" panose="02020603050405020304" pitchFamily="18" charset="0"/>
                </a:rPr>
                <a:t>150</a:t>
              </a:r>
              <a:r>
                <a:rPr lang="zh-CN" altLang="en-US" sz="10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1000">
                  <a:latin typeface="Times New Roman" panose="02020603050405020304" pitchFamily="18" charset="0"/>
                </a:rPr>
                <a:t>300</a:t>
              </a:r>
              <a:r>
                <a:rPr lang="zh-CN" altLang="en-US" sz="1000" dirty="0">
                  <a:latin typeface="Times New Roman" panose="02020603050405020304" pitchFamily="18" charset="0"/>
                </a:rPr>
                <a:t>）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9" name="文本占位符 70658"/>
          <p:cNvSpPr>
            <a:spLocks noGrp="1"/>
          </p:cNvSpPr>
          <p:nvPr>
            <p:ph type="body" idx="1"/>
          </p:nvPr>
        </p:nvSpPr>
        <p:spPr>
          <a:xfrm>
            <a:off x="1066800" y="990600"/>
            <a:ext cx="7620000" cy="4114800"/>
          </a:xfrm>
          <a:ln/>
        </p:spPr>
        <p:txBody>
          <a:bodyPr/>
          <a:p>
            <a:r>
              <a:rPr lang="en-US" altLang="zh-CN" sz="2800" b="1">
                <a:solidFill>
                  <a:schemeClr val="hlink"/>
                </a:solidFill>
              </a:rPr>
              <a:t>-</a:t>
            </a:r>
            <a:r>
              <a:rPr lang="en-US" altLang="zh-CN" sz="2800" b="1" err="1">
                <a:solidFill>
                  <a:schemeClr val="hlink"/>
                </a:solidFill>
              </a:rPr>
              <a:t>Floodfill(int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x,int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y,</a:t>
            </a:r>
            <a:r>
              <a:rPr lang="en-US" altLang="zh-CN" sz="2800" b="1" err="1">
                <a:solidFill>
                  <a:srgbClr val="FF0066"/>
                </a:solidFill>
              </a:rPr>
              <a:t>int</a:t>
            </a:r>
            <a:r>
              <a:rPr lang="en-US" altLang="zh-CN" sz="2800" b="1">
                <a:solidFill>
                  <a:srgbClr val="FF0066"/>
                </a:solidFill>
              </a:rPr>
              <a:t> border</a:t>
            </a:r>
            <a:r>
              <a:rPr lang="en-US" altLang="zh-CN" sz="2800" b="1">
                <a:solidFill>
                  <a:schemeClr val="hlink"/>
                </a:solidFill>
              </a:rPr>
              <a:t>)</a:t>
            </a:r>
            <a:endParaRPr lang="en-US" altLang="zh-CN" sz="2800" b="1">
              <a:solidFill>
                <a:schemeClr val="hlink"/>
              </a:solidFill>
            </a:endParaRPr>
          </a:p>
          <a:p>
            <a:r>
              <a:rPr lang="zh-CN" altLang="en-US" sz="2800" b="1" dirty="0">
                <a:solidFill>
                  <a:srgbClr val="FF0066"/>
                </a:solidFill>
              </a:rPr>
              <a:t>作用：</a:t>
            </a:r>
            <a:r>
              <a:rPr lang="zh-CN" altLang="en-US" sz="2800" b="1" dirty="0"/>
              <a:t>蔓延填充，以（</a:t>
            </a:r>
            <a:r>
              <a:rPr lang="en-US" altLang="zh-CN" sz="2800" b="1"/>
              <a:t>x,y</a:t>
            </a:r>
            <a:r>
              <a:rPr lang="zh-CN" altLang="en-US" sz="2800" b="1"/>
              <a:t>）</a:t>
            </a:r>
            <a:r>
              <a:rPr lang="zh-CN" altLang="en-US" sz="2800" b="1" dirty="0"/>
              <a:t>为填充起点，</a:t>
            </a:r>
            <a:r>
              <a:rPr lang="en-US" altLang="zh-CN" sz="2800" b="1"/>
              <a:t>border</a:t>
            </a:r>
            <a:r>
              <a:rPr lang="zh-CN" altLang="en-US" sz="2800" b="1" dirty="0"/>
              <a:t>指定填充区域边界所使用的颜色</a:t>
            </a:r>
            <a:endParaRPr lang="zh-CN" altLang="en-US" sz="2800" b="1" dirty="0"/>
          </a:p>
          <a:p>
            <a:r>
              <a:rPr lang="zh-CN" altLang="en-US" sz="2800" b="1" dirty="0">
                <a:solidFill>
                  <a:srgbClr val="FF0066"/>
                </a:solidFill>
              </a:rPr>
              <a:t>例：</a:t>
            </a:r>
            <a:r>
              <a:rPr lang="en-US" altLang="zh-CN" sz="2800" b="1"/>
              <a:t>setcolor(4)  ;</a:t>
            </a:r>
            <a:endParaRPr lang="en-US" altLang="zh-CN" sz="2800" b="1"/>
          </a:p>
          <a:p>
            <a:r>
              <a:rPr lang="en-US" altLang="zh-CN" sz="2800" b="1"/>
              <a:t>        circle (100,100,80);</a:t>
            </a:r>
            <a:endParaRPr lang="en-US" altLang="zh-CN" sz="2800" b="1"/>
          </a:p>
          <a:p>
            <a:r>
              <a:rPr lang="en-US" altLang="zh-CN" sz="2800" b="1"/>
              <a:t>       setfillstyle(SLASHFILL,2)</a:t>
            </a:r>
            <a:endParaRPr lang="en-US" altLang="zh-CN" sz="2800" b="1"/>
          </a:p>
          <a:p>
            <a:r>
              <a:rPr lang="en-US" altLang="zh-CN" sz="2800" b="1"/>
              <a:t>        floodfill(100,100,4)</a:t>
            </a:r>
            <a:endParaRPr lang="en-US" altLang="zh-CN" sz="2800" b="1"/>
          </a:p>
          <a:p>
            <a:r>
              <a:rPr lang="en-US" altLang="zh-CN" sz="2800" b="1"/>
              <a:t>          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3" name="文本占位符 71682"/>
          <p:cNvSpPr>
            <a:spLocks noGrp="1"/>
          </p:cNvSpPr>
          <p:nvPr>
            <p:ph type="body" idx="1"/>
          </p:nvPr>
        </p:nvSpPr>
        <p:spPr>
          <a:xfrm>
            <a:off x="1066800" y="762000"/>
            <a:ext cx="7620000" cy="51054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sz="1400" b="1">
                <a:solidFill>
                  <a:srgbClr val="0000FF"/>
                </a:solidFill>
              </a:rPr>
              <a:t>//(</a:t>
            </a:r>
            <a:r>
              <a:rPr lang="zh-CN" altLang="en-US" sz="1400" b="1" dirty="0">
                <a:solidFill>
                  <a:srgbClr val="0000FF"/>
                </a:solidFill>
              </a:rPr>
              <a:t>周二上到这里</a:t>
            </a:r>
            <a:r>
              <a:rPr lang="en-US" altLang="zh-CN" sz="1400" b="1">
                <a:solidFill>
                  <a:srgbClr val="0000FF"/>
                </a:solidFill>
              </a:rPr>
              <a:t>)</a:t>
            </a:r>
            <a:endParaRPr lang="en-US" altLang="zh-CN" sz="1400" b="1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FF0066"/>
                </a:solidFill>
              </a:rPr>
              <a:t>8</a:t>
            </a:r>
            <a:r>
              <a:rPr lang="zh-CN" altLang="en-US" b="1" dirty="0">
                <a:solidFill>
                  <a:srgbClr val="FF0066"/>
                </a:solidFill>
              </a:rPr>
              <a:t>填充类画图函数</a:t>
            </a:r>
            <a:r>
              <a:rPr lang="zh-CN" altLang="en-US" dirty="0">
                <a:solidFill>
                  <a:srgbClr val="FF0066"/>
                </a:solidFill>
              </a:rPr>
              <a:t>：</a:t>
            </a:r>
            <a:endParaRPr lang="zh-CN" altLang="en-US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err="1">
                <a:solidFill>
                  <a:schemeClr val="hlink"/>
                </a:solidFill>
              </a:rPr>
              <a:t>Bar(int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left,int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top,int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 err="1">
                <a:solidFill>
                  <a:schemeClr val="hlink"/>
                </a:solidFill>
              </a:rPr>
              <a:t>right,int</a:t>
            </a:r>
            <a:r>
              <a:rPr lang="en-US" altLang="zh-CN">
                <a:solidFill>
                  <a:schemeClr val="hlink"/>
                </a:solidFill>
              </a:rPr>
              <a:t>  bottom)</a:t>
            </a:r>
            <a:endParaRPr lang="en-US" altLang="zh-CN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画出一个指定左上上角和右下角的实心条形。</a:t>
            </a: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Bar3d(int </a:t>
            </a:r>
            <a:r>
              <a:rPr lang="en-US" altLang="zh-CN" sz="2400" b="1" err="1">
                <a:solidFill>
                  <a:schemeClr val="hlink"/>
                </a:solidFill>
              </a:rPr>
              <a:t>left,int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top,int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right,int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bottom,int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depth,int</a:t>
            </a:r>
            <a:r>
              <a:rPr lang="en-US" altLang="zh-CN" sz="2400" b="1">
                <a:solidFill>
                  <a:schemeClr val="hlink"/>
                </a:solidFill>
              </a:rPr>
              <a:t> </a:t>
            </a:r>
            <a:r>
              <a:rPr lang="en-US" altLang="zh-CN" sz="2400" b="1" err="1">
                <a:solidFill>
                  <a:schemeClr val="hlink"/>
                </a:solidFill>
              </a:rPr>
              <a:t>topflag</a:t>
            </a:r>
            <a:r>
              <a:rPr lang="en-US" altLang="zh-CN" sz="2400" b="1">
                <a:solidFill>
                  <a:schemeClr val="hlink"/>
                </a:solidFill>
              </a:rPr>
              <a:t>)</a:t>
            </a:r>
            <a:endParaRPr lang="en-US" altLang="zh-CN" sz="24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作用</a:t>
            </a:r>
            <a:r>
              <a:rPr lang="zh-CN" altLang="en-US" dirty="0"/>
              <a:t>：</a:t>
            </a:r>
            <a:r>
              <a:rPr lang="zh-CN" altLang="en-US" sz="2800" b="1" dirty="0"/>
              <a:t>画一三维矩形条，使用</a:t>
            </a:r>
            <a:r>
              <a:rPr lang="en-US" altLang="zh-CN" sz="2800" b="1" err="1"/>
              <a:t>setfillstyle</a:t>
            </a:r>
            <a:r>
              <a:rPr lang="en-US" altLang="zh-CN" sz="2800" b="1"/>
              <a:t>()</a:t>
            </a:r>
            <a:r>
              <a:rPr lang="zh-CN" altLang="en-US" sz="2800" b="1" dirty="0"/>
              <a:t>设置填充颜色和填充模式。</a:t>
            </a:r>
            <a:r>
              <a:rPr lang="en-US" altLang="zh-CN" sz="2800" b="1"/>
              <a:t>Depth </a:t>
            </a:r>
            <a:r>
              <a:rPr lang="zh-CN" altLang="en-US" sz="2800" b="1" dirty="0"/>
              <a:t>给出矩形条的深度。</a:t>
            </a:r>
            <a:r>
              <a:rPr lang="en-US" altLang="zh-CN" sz="2800" b="1" err="1"/>
              <a:t>Topflag</a:t>
            </a:r>
            <a:r>
              <a:rPr lang="en-US" altLang="zh-CN" sz="2800" b="1"/>
              <a:t>=0</a:t>
            </a:r>
            <a:r>
              <a:rPr lang="zh-CN" altLang="en-US" sz="2800" b="1" dirty="0"/>
              <a:t>时不加顶盖，非零时加一顶盖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endParaRPr lang="zh-CN" altLang="en-US" sz="2800" b="1"/>
          </a:p>
        </p:txBody>
      </p:sp>
      <p:graphicFrame>
        <p:nvGraphicFramePr>
          <p:cNvPr id="71684" name="对象 71683"/>
          <p:cNvGraphicFramePr/>
          <p:nvPr/>
        </p:nvGraphicFramePr>
        <p:xfrm>
          <a:off x="7086600" y="4953000"/>
          <a:ext cx="16383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047875" imgH="2381250" progId="Paint.Picture">
                  <p:embed/>
                </p:oleObj>
              </mc:Choice>
              <mc:Fallback>
                <p:oleObj name="" r:id="rId1" imgW="2047875" imgH="2381250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86600" y="4953000"/>
                        <a:ext cx="1638300" cy="190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>
          <a:xfrm>
            <a:off x="1066800" y="609600"/>
            <a:ext cx="7620000" cy="3048000"/>
          </a:xfrm>
          <a:ln/>
        </p:spPr>
        <p:txBody>
          <a:bodyPr/>
          <a:p>
            <a:r>
              <a:rPr lang="zh-CN" altLang="en-US" b="1" dirty="0">
                <a:solidFill>
                  <a:schemeClr val="hlink"/>
                </a:solidFill>
              </a:rPr>
              <a:t>例：</a:t>
            </a:r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 err="1">
                <a:solidFill>
                  <a:srgbClr val="FF0066"/>
                </a:solidFill>
              </a:rPr>
              <a:t>setfillstyle(SOLID_FILL,GREEN</a:t>
            </a:r>
            <a:r>
              <a:rPr lang="en-US" altLang="zh-CN" b="1">
                <a:solidFill>
                  <a:srgbClr val="FF0066"/>
                </a:solidFill>
              </a:rPr>
              <a:t>);</a:t>
            </a:r>
            <a:endParaRPr lang="en-US" altLang="zh-CN" b="1">
              <a:solidFill>
                <a:srgbClr val="FF0066"/>
              </a:solidFill>
            </a:endParaRPr>
          </a:p>
          <a:p>
            <a:r>
              <a:rPr lang="en-US" altLang="zh-CN" b="1"/>
              <a:t>Bar(60,80,220,160)</a:t>
            </a:r>
            <a:endParaRPr lang="en-US" altLang="zh-CN" b="1"/>
          </a:p>
          <a:p>
            <a:r>
              <a:rPr lang="en-US" altLang="zh-CN" b="1" err="1"/>
              <a:t>Setfillstyle(SOLID_FILL,RED</a:t>
            </a:r>
            <a:r>
              <a:rPr lang="en-US" altLang="zh-CN" b="1"/>
              <a:t>);</a:t>
            </a:r>
            <a:endParaRPr lang="en-US" altLang="zh-CN" b="1"/>
          </a:p>
          <a:p>
            <a:r>
              <a:rPr lang="en-US" altLang="zh-CN" b="1"/>
              <a:t>Bar3d(260,180,360,240,20,1)</a:t>
            </a:r>
            <a:endParaRPr lang="en-US" altLang="zh-CN" b="1"/>
          </a:p>
          <a:p>
            <a:endParaRPr lang="en-US" altLang="zh-CN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>
          <a:xfrm>
            <a:off x="1066800" y="1066800"/>
            <a:ext cx="7620000" cy="3276600"/>
          </a:xfrm>
          <a:ln/>
        </p:spPr>
        <p:txBody>
          <a:bodyPr/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fillpoly(int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numpoints</a:t>
            </a:r>
            <a:r>
              <a:rPr lang="en-US" altLang="zh-CN" b="1">
                <a:solidFill>
                  <a:schemeClr val="hlink"/>
                </a:solidFill>
              </a:rPr>
              <a:t>, </a:t>
            </a:r>
            <a:r>
              <a:rPr lang="en-US" altLang="zh-CN" b="1" err="1">
                <a:solidFill>
                  <a:schemeClr val="hlink"/>
                </a:solidFill>
              </a:rPr>
              <a:t>int</a:t>
            </a:r>
            <a:r>
              <a:rPr lang="en-US" altLang="zh-CN" b="1">
                <a:solidFill>
                  <a:schemeClr val="hlink"/>
                </a:solidFill>
              </a:rPr>
              <a:t> *</a:t>
            </a:r>
            <a:r>
              <a:rPr lang="en-US" altLang="zh-CN" b="1" err="1">
                <a:solidFill>
                  <a:schemeClr val="hlink"/>
                </a:solidFill>
              </a:rPr>
              <a:t>polypoints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画一顶点数为</a:t>
            </a:r>
            <a:r>
              <a:rPr lang="en-US" altLang="zh-CN" b="1" err="1"/>
              <a:t>numpoints</a:t>
            </a:r>
            <a:r>
              <a:rPr lang="zh-CN" altLang="en-US" b="1" dirty="0"/>
              <a:t>的多边形，多边形的顶点坐标存放在数组</a:t>
            </a:r>
            <a:r>
              <a:rPr lang="en-US" altLang="zh-CN" b="1" err="1"/>
              <a:t>polypoints</a:t>
            </a:r>
            <a:r>
              <a:rPr lang="en-US" altLang="zh-CN" b="1"/>
              <a:t>[]</a:t>
            </a:r>
            <a:r>
              <a:rPr lang="zh-CN" altLang="en-US" b="1" dirty="0"/>
              <a:t>中，用</a:t>
            </a:r>
            <a:endParaRPr lang="zh-CN" altLang="en-US" b="1" dirty="0"/>
          </a:p>
          <a:p>
            <a:r>
              <a:rPr lang="en-US" altLang="zh-CN" b="1" err="1"/>
              <a:t>Setfillstyle</a:t>
            </a:r>
            <a:r>
              <a:rPr lang="en-US" altLang="zh-CN" b="1"/>
              <a:t> ()</a:t>
            </a:r>
            <a:r>
              <a:rPr lang="zh-CN" altLang="en-US" b="1" dirty="0"/>
              <a:t>设置填充模式</a:t>
            </a:r>
            <a:endParaRPr lang="zh-CN" altLang="en-US" b="1" dirty="0"/>
          </a:p>
          <a:p>
            <a:endParaRPr lang="zh-CN" altLang="en-US" b="1" dirty="0"/>
          </a:p>
        </p:txBody>
      </p:sp>
      <p:graphicFrame>
        <p:nvGraphicFramePr>
          <p:cNvPr id="29700" name="标题 29699"/>
          <p:cNvGraphicFramePr/>
          <p:nvPr>
            <p:ph type="title"/>
          </p:nvPr>
        </p:nvGraphicFramePr>
        <p:xfrm>
          <a:off x="6477000" y="4038600"/>
          <a:ext cx="19272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819150" imgH="485775" progId="Paint.Picture">
                  <p:embed/>
                </p:oleObj>
              </mc:Choice>
              <mc:Fallback>
                <p:oleObj name="" r:id="rId1" imgW="819150" imgH="485775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77000" y="4038600"/>
                        <a:ext cx="1927225" cy="1143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9875" name="文本占位符 79874"/>
          <p:cNvGraphicFramePr>
            <a:graphicFrameLocks noGrp="1"/>
          </p:cNvGraphicFramePr>
          <p:nvPr>
            <p:ph type="body" idx="1"/>
          </p:nvPr>
        </p:nvGraphicFramePr>
        <p:xfrm>
          <a:off x="2859088" y="838200"/>
          <a:ext cx="403542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905125" imgH="2962275" progId="Paint.Picture">
                  <p:embed/>
                </p:oleObj>
              </mc:Choice>
              <mc:Fallback>
                <p:oleObj name="" r:id="rId1" imgW="2905125" imgH="2962275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9088" y="838200"/>
                        <a:ext cx="4035425" cy="4114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文本框 79876"/>
          <p:cNvSpPr txBox="1"/>
          <p:nvPr/>
        </p:nvSpPr>
        <p:spPr>
          <a:xfrm>
            <a:off x="2057400" y="5257800"/>
            <a:ext cx="5029200" cy="1133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3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图形模式下文本的处理</a:t>
            </a:r>
            <a:endParaRPr lang="zh-CN" altLang="en-US" sz="3600" b="1" dirty="0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文本占位符 55297"/>
          <p:cNvSpPr>
            <a:spLocks noGrp="1"/>
          </p:cNvSpPr>
          <p:nvPr>
            <p:ph type="body" idx="1"/>
          </p:nvPr>
        </p:nvSpPr>
        <p:spPr>
          <a:xfrm>
            <a:off x="250825" y="404813"/>
            <a:ext cx="10058400" cy="5410200"/>
          </a:xfrm>
          <a:ln/>
        </p:spPr>
        <p:txBody>
          <a:bodyPr/>
          <a:p>
            <a:r>
              <a:rPr lang="en-US" altLang="zh-CN" sz="3600" b="1">
                <a:solidFill>
                  <a:srgbClr val="FF0066"/>
                </a:solidFill>
              </a:rPr>
              <a:t>9.</a:t>
            </a:r>
            <a:r>
              <a:rPr lang="zh-CN" altLang="en-US" sz="3600" b="1" dirty="0">
                <a:solidFill>
                  <a:srgbClr val="FF0066"/>
                </a:solidFill>
              </a:rPr>
              <a:t>图形模式下文本的处理</a:t>
            </a:r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outtext(</a:t>
            </a:r>
            <a:r>
              <a:rPr lang="en-US" altLang="zh-CN" b="1" err="1">
                <a:solidFill>
                  <a:srgbClr val="FF0066"/>
                </a:solidFill>
              </a:rPr>
              <a:t>char</a:t>
            </a:r>
            <a:r>
              <a:rPr lang="en-US" altLang="zh-CN" b="1">
                <a:solidFill>
                  <a:srgbClr val="FF0066"/>
                </a:solidFill>
              </a:rPr>
              <a:t>*</a:t>
            </a:r>
            <a:r>
              <a:rPr lang="en-US" altLang="zh-CN" b="1" err="1">
                <a:solidFill>
                  <a:schemeClr val="hlink"/>
                </a:solidFill>
              </a:rPr>
              <a:t>textstring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/>
              <a:t>作用：将当前位置上输出一字符串，</a:t>
            </a:r>
            <a:endParaRPr lang="zh-CN" altLang="en-US" b="1" dirty="0"/>
          </a:p>
          <a:p>
            <a:r>
              <a:rPr lang="zh-CN" altLang="en-US" b="1" dirty="0"/>
              <a:t>参数</a:t>
            </a:r>
            <a:r>
              <a:rPr lang="en-US" altLang="zh-CN" b="1" err="1"/>
              <a:t>textstring</a:t>
            </a:r>
            <a:r>
              <a:rPr lang="zh-CN" altLang="en-US" b="1" dirty="0"/>
              <a:t>为文本字符串</a:t>
            </a:r>
            <a:endParaRPr lang="zh-CN" altLang="en-US" b="1" dirty="0"/>
          </a:p>
          <a:p>
            <a:r>
              <a:rPr lang="zh-CN" altLang="en-US" b="1" dirty="0"/>
              <a:t>例：</a:t>
            </a:r>
            <a:r>
              <a:rPr lang="en-US" altLang="zh-CN" b="1" err="1"/>
              <a:t>outtext(“hello</a:t>
            </a:r>
            <a:r>
              <a:rPr lang="en-US" altLang="zh-CN" b="1"/>
              <a:t> </a:t>
            </a:r>
            <a:r>
              <a:rPr lang="en-US" altLang="zh-CN" b="1" err="1"/>
              <a:t>wellcom</a:t>
            </a:r>
            <a:r>
              <a:rPr lang="en-US" altLang="zh-CN" b="1"/>
              <a:t> to study CG”)</a:t>
            </a:r>
            <a:endParaRPr lang="en-US" altLang="zh-CN" b="1"/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outtex</a:t>
            </a:r>
            <a:r>
              <a:rPr lang="en-US" altLang="zh-CN" b="1" err="1">
                <a:solidFill>
                  <a:srgbClr val="FF0066"/>
                </a:solidFill>
              </a:rPr>
              <a:t>xy</a:t>
            </a:r>
            <a:r>
              <a:rPr lang="en-US" altLang="zh-CN" b="1" err="1">
                <a:solidFill>
                  <a:schemeClr val="hlink"/>
                </a:solidFill>
              </a:rPr>
              <a:t>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x,int</a:t>
            </a:r>
            <a:r>
              <a:rPr lang="en-US" altLang="zh-CN" b="1">
                <a:solidFill>
                  <a:schemeClr val="hlink"/>
                </a:solidFill>
              </a:rPr>
              <a:t> y,</a:t>
            </a:r>
            <a:r>
              <a:rPr lang="en-US" altLang="zh-CN" b="1">
                <a:solidFill>
                  <a:srgbClr val="FF0066"/>
                </a:solidFill>
              </a:rPr>
              <a:t>char *</a:t>
            </a:r>
            <a:r>
              <a:rPr lang="en-US" altLang="zh-CN" b="1" err="1">
                <a:solidFill>
                  <a:schemeClr val="hlink"/>
                </a:solidFill>
              </a:rPr>
              <a:t>textstring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在指定位置</a:t>
            </a:r>
            <a:r>
              <a:rPr lang="en-US" altLang="zh-CN" b="1"/>
              <a:t>(x,y)</a:t>
            </a:r>
            <a:r>
              <a:rPr lang="zh-CN" altLang="en-US" b="1" dirty="0"/>
              <a:t>输出一字符串</a:t>
            </a:r>
            <a:endParaRPr lang="zh-CN" altLang="en-US" b="1" dirty="0"/>
          </a:p>
          <a:p>
            <a:r>
              <a:rPr lang="zh-CN" altLang="en-US" b="1" dirty="0"/>
              <a:t>例：</a:t>
            </a:r>
            <a:r>
              <a:rPr lang="en-US" altLang="zh-CN" b="1"/>
              <a:t>outtext(100,150, “I am a teacher”)</a:t>
            </a:r>
            <a:endParaRPr lang="en-US" altLang="zh-CN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3" name="文本占位符 87042"/>
          <p:cNvSpPr>
            <a:spLocks noGrp="1"/>
          </p:cNvSpPr>
          <p:nvPr>
            <p:ph type="body" idx="1"/>
          </p:nvPr>
        </p:nvSpPr>
        <p:spPr>
          <a:xfrm>
            <a:off x="107950" y="188913"/>
            <a:ext cx="8915400" cy="61722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-</a:t>
            </a:r>
            <a:r>
              <a:rPr lang="en-US" altLang="zh-CN" sz="2800" b="1" err="1">
                <a:solidFill>
                  <a:schemeClr val="hlink"/>
                </a:solidFill>
              </a:rPr>
              <a:t>Settextstyle(int</a:t>
            </a:r>
            <a:r>
              <a:rPr lang="en-US" altLang="zh-CN" sz="2800" b="1">
                <a:solidFill>
                  <a:schemeClr val="hlink"/>
                </a:solidFill>
              </a:rPr>
              <a:t> font ,</a:t>
            </a:r>
            <a:r>
              <a:rPr lang="en-US" altLang="zh-CN" sz="2800" b="1" err="1">
                <a:solidFill>
                  <a:schemeClr val="hlink"/>
                </a:solidFill>
              </a:rPr>
              <a:t>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direction,int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r>
              <a:rPr lang="en-US" altLang="zh-CN" sz="2800" b="1" err="1">
                <a:solidFill>
                  <a:schemeClr val="hlink"/>
                </a:solidFill>
              </a:rPr>
              <a:t>charize</a:t>
            </a:r>
            <a:r>
              <a:rPr lang="en-US" altLang="zh-CN" sz="2800" b="1">
                <a:solidFill>
                  <a:schemeClr val="hlink"/>
                </a:solidFill>
              </a:rPr>
              <a:t>)</a:t>
            </a:r>
            <a:endParaRPr lang="en-US" altLang="zh-CN" sz="28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hlink"/>
                </a:solidFill>
              </a:rPr>
              <a:t>作用：</a:t>
            </a:r>
            <a:r>
              <a:rPr lang="zh-CN" altLang="en-US" sz="2800" b="1" dirty="0"/>
              <a:t>设置文本当前字体，文本显示方向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以及字符的大小。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说明</a:t>
            </a:r>
            <a:r>
              <a:rPr lang="en-US" altLang="zh-CN" sz="2400" b="1">
                <a:solidFill>
                  <a:schemeClr val="hlink"/>
                </a:solidFill>
              </a:rPr>
              <a:t>font</a:t>
            </a:r>
            <a:r>
              <a:rPr lang="zh-CN" altLang="en-US" sz="2400" b="1">
                <a:solidFill>
                  <a:schemeClr val="hlink"/>
                </a:solidFill>
              </a:rPr>
              <a:t>：</a:t>
            </a:r>
            <a:r>
              <a:rPr lang="zh-CN" altLang="en-US" sz="2400" b="1" dirty="0">
                <a:solidFill>
                  <a:schemeClr val="hlink"/>
                </a:solidFill>
              </a:rPr>
              <a:t>文本字体参数； </a:t>
            </a:r>
            <a:r>
              <a:rPr lang="en-US" altLang="zh-CN" sz="2400" b="1">
                <a:solidFill>
                  <a:schemeClr val="hlink"/>
                </a:solidFill>
              </a:rPr>
              <a:t>direction: </a:t>
            </a:r>
            <a:r>
              <a:rPr lang="zh-CN" altLang="en-US" sz="2400" b="1" dirty="0">
                <a:solidFill>
                  <a:schemeClr val="hlink"/>
                </a:solidFill>
              </a:rPr>
              <a:t>文本显示方向参数</a:t>
            </a:r>
            <a:endParaRPr lang="zh-CN" altLang="en-US" sz="24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chemeClr val="hlink"/>
                </a:solidFill>
              </a:rPr>
              <a:t>          </a:t>
            </a:r>
            <a:r>
              <a:rPr lang="en-US" altLang="zh-CN" sz="2400" b="1" err="1">
                <a:solidFill>
                  <a:schemeClr val="hlink"/>
                </a:solidFill>
              </a:rPr>
              <a:t>charize</a:t>
            </a:r>
            <a:r>
              <a:rPr lang="en-US" altLang="zh-CN" sz="2400" b="1">
                <a:solidFill>
                  <a:schemeClr val="hlink"/>
                </a:solidFill>
              </a:rPr>
              <a:t>:  </a:t>
            </a:r>
            <a:r>
              <a:rPr lang="zh-CN" altLang="en-US" sz="2400" b="1" dirty="0">
                <a:solidFill>
                  <a:schemeClr val="hlink"/>
                </a:solidFill>
              </a:rPr>
              <a:t>字体大小参数（</a:t>
            </a:r>
            <a:r>
              <a:rPr lang="en-US" altLang="zh-CN" sz="2400" b="1">
                <a:solidFill>
                  <a:schemeClr val="hlink"/>
                </a:solidFill>
              </a:rPr>
              <a:t>1-10</a:t>
            </a:r>
            <a:r>
              <a:rPr lang="zh-CN" altLang="en-US" sz="2400" b="1" dirty="0">
                <a:solidFill>
                  <a:schemeClr val="hlink"/>
                </a:solidFill>
              </a:rPr>
              <a:t>）</a:t>
            </a:r>
            <a:endParaRPr lang="zh-CN" altLang="en-US" sz="2800" b="1"/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66"/>
                </a:solidFill>
              </a:rPr>
              <a:t>例：</a:t>
            </a:r>
            <a:r>
              <a:rPr lang="en-US" altLang="zh-CN" sz="2800" b="1"/>
              <a:t>main(){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</a:t>
            </a:r>
            <a:r>
              <a:rPr lang="en-US" altLang="zh-CN" sz="2800" b="1" err="1"/>
              <a:t>int</a:t>
            </a:r>
            <a:r>
              <a:rPr lang="en-US" altLang="zh-CN" sz="2800" b="1"/>
              <a:t> driver =DETECT,mode;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</a:t>
            </a:r>
            <a:r>
              <a:rPr lang="en-US" altLang="zh-CN" sz="2800" b="1" err="1"/>
              <a:t>initgraph(&amp;driver,&amp;mode,"c:\\turboc</a:t>
            </a:r>
            <a:r>
              <a:rPr lang="en-US" altLang="zh-CN" sz="2800" b="1"/>
              <a:t>");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outtextxy(100,100,"normal") ;             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settextstyle(GOTHIC_FONT,HORIZ_DIR,5);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outtextxy(100,200,"gothic");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          </a:t>
            </a:r>
            <a:r>
              <a:rPr lang="en-US" altLang="zh-CN" sz="2800" b="1" err="1"/>
              <a:t>closegraph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      }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9" name="文本框 52228"/>
          <p:cNvSpPr txBox="1"/>
          <p:nvPr/>
        </p:nvSpPr>
        <p:spPr>
          <a:xfrm>
            <a:off x="250825" y="188913"/>
            <a:ext cx="8359775" cy="2074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程序设计：</a:t>
            </a:r>
            <a:r>
              <a:rPr lang="zh-CN" altLang="en-US" sz="2800" b="1" dirty="0">
                <a:latin typeface="Times New Roman" panose="02020603050405020304" pitchFamily="18" charset="0"/>
              </a:rPr>
              <a:t>画出下图的饼状图</a:t>
            </a:r>
            <a:r>
              <a:rPr lang="en-US" altLang="zh-CN" sz="2800" b="1">
                <a:latin typeface="Times New Roman" panose="02020603050405020304" pitchFamily="18" charset="0"/>
              </a:rPr>
              <a:t>[p_new_pie]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某公司上半年产品销售状况是：计算机</a:t>
            </a:r>
            <a:r>
              <a:rPr lang="en-US" altLang="zh-CN" sz="2800" b="1">
                <a:latin typeface="Times New Roman" panose="02020603050405020304" pitchFamily="18" charset="0"/>
              </a:rPr>
              <a:t>50%</a:t>
            </a:r>
            <a:r>
              <a:rPr lang="zh-CN" altLang="en-US" sz="2800" b="1" dirty="0">
                <a:latin typeface="Times New Roman" panose="02020603050405020304" pitchFamily="18" charset="0"/>
              </a:rPr>
              <a:t>、打印机</a:t>
            </a:r>
            <a:r>
              <a:rPr lang="en-US" altLang="zh-CN" sz="2800" b="1">
                <a:latin typeface="Times New Roman" panose="02020603050405020304" pitchFamily="18" charset="0"/>
              </a:rPr>
              <a:t>20%</a:t>
            </a:r>
            <a:r>
              <a:rPr lang="zh-CN" altLang="en-US" sz="2800" b="1" dirty="0">
                <a:latin typeface="Times New Roman" panose="02020603050405020304" pitchFamily="18" charset="0"/>
              </a:rPr>
              <a:t>、绘图机</a:t>
            </a:r>
            <a:r>
              <a:rPr lang="en-US" altLang="zh-CN" sz="2800" b="1">
                <a:latin typeface="Times New Roman" panose="02020603050405020304" pitchFamily="18" charset="0"/>
              </a:rPr>
              <a:t>10%</a:t>
            </a:r>
            <a:r>
              <a:rPr lang="zh-CN" altLang="en-US" sz="2800" b="1" dirty="0">
                <a:latin typeface="Times New Roman" panose="02020603050405020304" pitchFamily="18" charset="0"/>
              </a:rPr>
              <a:t>图形扫描仪</a:t>
            </a:r>
            <a:r>
              <a:rPr lang="en-US" altLang="zh-CN" sz="2800" b="1">
                <a:latin typeface="Times New Roman" panose="02020603050405020304" pitchFamily="18" charset="0"/>
              </a:rPr>
              <a:t>5%</a:t>
            </a:r>
            <a:r>
              <a:rPr lang="zh-CN" altLang="en-US" sz="2800" b="1" dirty="0">
                <a:latin typeface="Times New Roman" panose="02020603050405020304" pitchFamily="18" charset="0"/>
              </a:rPr>
              <a:t>、打印纸</a:t>
            </a:r>
            <a:r>
              <a:rPr lang="en-US" altLang="zh-CN" sz="2800" b="1">
                <a:latin typeface="Times New Roman" panose="02020603050405020304" pitchFamily="18" charset="0"/>
              </a:rPr>
              <a:t>10%</a:t>
            </a:r>
            <a:r>
              <a:rPr lang="zh-CN" altLang="en-US" sz="2800" b="1" dirty="0">
                <a:latin typeface="Times New Roman" panose="02020603050405020304" pitchFamily="18" charset="0"/>
              </a:rPr>
              <a:t>、硬盘销售</a:t>
            </a:r>
            <a:r>
              <a:rPr lang="en-US" altLang="zh-CN" sz="2800" b="1">
                <a:latin typeface="Times New Roman" panose="02020603050405020304" pitchFamily="18" charset="0"/>
              </a:rPr>
              <a:t>5%</a:t>
            </a:r>
            <a:r>
              <a:rPr lang="zh-CN" altLang="en-US" sz="2800" b="1" dirty="0">
                <a:latin typeface="Times New Roman" panose="02020603050405020304" pitchFamily="18" charset="0"/>
              </a:rPr>
              <a:t>。试画出下图所示的饼状图。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34" name="文本框 52233"/>
          <p:cNvSpPr txBox="1"/>
          <p:nvPr/>
        </p:nvSpPr>
        <p:spPr>
          <a:xfrm>
            <a:off x="6781800" y="3263900"/>
            <a:ext cx="1600200" cy="2679700"/>
          </a:xfrm>
          <a:prstGeom prst="rect">
            <a:avLst/>
          </a:prstGeom>
          <a:solidFill>
            <a:srgbClr val="99CC00"/>
          </a:solidFill>
          <a:ln w="317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分析：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Percent[5]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Text[5]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Fillstyle[5]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  <p:pic>
        <p:nvPicPr>
          <p:cNvPr id="52236" name="图片 52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2319338"/>
            <a:ext cx="5545137" cy="3989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31" name="直接连接符 56330"/>
          <p:cNvSpPr/>
          <p:nvPr/>
        </p:nvSpPr>
        <p:spPr>
          <a:xfrm>
            <a:off x="1524000" y="6861175"/>
            <a:ext cx="7239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6344" name="组合 56343"/>
          <p:cNvGrpSpPr/>
          <p:nvPr/>
        </p:nvGrpSpPr>
        <p:grpSpPr>
          <a:xfrm>
            <a:off x="1219200" y="838200"/>
            <a:ext cx="7543800" cy="5638800"/>
            <a:chOff x="960" y="480"/>
            <a:chExt cx="4752" cy="3552"/>
          </a:xfrm>
        </p:grpSpPr>
        <p:grpSp>
          <p:nvGrpSpPr>
            <p:cNvPr id="56343" name="组合 56342"/>
            <p:cNvGrpSpPr/>
            <p:nvPr/>
          </p:nvGrpSpPr>
          <p:grpSpPr>
            <a:xfrm>
              <a:off x="960" y="480"/>
              <a:ext cx="4560" cy="3552"/>
              <a:chOff x="960" y="480"/>
              <a:chExt cx="4560" cy="3552"/>
            </a:xfrm>
          </p:grpSpPr>
          <p:sp>
            <p:nvSpPr>
              <p:cNvPr id="56324" name="矩形 56323"/>
              <p:cNvSpPr/>
              <p:nvPr/>
            </p:nvSpPr>
            <p:spPr>
              <a:xfrm>
                <a:off x="960" y="480"/>
                <a:ext cx="4560" cy="355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25" name="直接连接符 56324"/>
              <p:cNvSpPr/>
              <p:nvPr/>
            </p:nvSpPr>
            <p:spPr>
              <a:xfrm>
                <a:off x="960" y="816"/>
                <a:ext cx="45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6" name="直接连接符 56325"/>
              <p:cNvSpPr/>
              <p:nvPr/>
            </p:nvSpPr>
            <p:spPr>
              <a:xfrm>
                <a:off x="960" y="1152"/>
                <a:ext cx="45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7" name="直接连接符 56326"/>
              <p:cNvSpPr/>
              <p:nvPr/>
            </p:nvSpPr>
            <p:spPr>
              <a:xfrm>
                <a:off x="960" y="1680"/>
                <a:ext cx="450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8" name="直接连接符 56327"/>
              <p:cNvSpPr/>
              <p:nvPr/>
            </p:nvSpPr>
            <p:spPr>
              <a:xfrm flipH="1">
                <a:off x="1440" y="1928"/>
                <a:ext cx="0" cy="1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9" name="直接连接符 56328"/>
              <p:cNvSpPr/>
              <p:nvPr/>
            </p:nvSpPr>
            <p:spPr>
              <a:xfrm>
                <a:off x="1472" y="1968"/>
                <a:ext cx="399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30" name="直接连接符 56329"/>
              <p:cNvSpPr/>
              <p:nvPr/>
            </p:nvSpPr>
            <p:spPr>
              <a:xfrm>
                <a:off x="960" y="3744"/>
                <a:ext cx="45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6342" name="组合 56341"/>
            <p:cNvGrpSpPr/>
            <p:nvPr/>
          </p:nvGrpSpPr>
          <p:grpSpPr>
            <a:xfrm>
              <a:off x="1037" y="528"/>
              <a:ext cx="4675" cy="3456"/>
              <a:chOff x="1037" y="528"/>
              <a:chExt cx="4675" cy="3456"/>
            </a:xfrm>
          </p:grpSpPr>
          <p:sp>
            <p:nvSpPr>
              <p:cNvPr id="56333" name="文本框 56332"/>
              <p:cNvSpPr txBox="1"/>
              <p:nvPr/>
            </p:nvSpPr>
            <p:spPr>
              <a:xfrm>
                <a:off x="1037" y="528"/>
                <a:ext cx="4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输入圆饼半径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Radius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和圆心（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x,y</a:t>
                </a:r>
                <a:r>
                  <a:rPr lang="zh-CN" altLang="en-US" sz="2400" b="1">
                    <a:latin typeface="Times New Roman" panose="02020603050405020304" pitchFamily="18" charset="0"/>
                  </a:rPr>
                  <a:t>）</a:t>
                </a:r>
                <a:endParaRPr lang="zh-CN" altLang="en-US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4" name="文本框 56333"/>
              <p:cNvSpPr txBox="1"/>
              <p:nvPr/>
            </p:nvSpPr>
            <p:spPr>
              <a:xfrm>
                <a:off x="1063" y="864"/>
                <a:ext cx="414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求出百分之一的圆弧对应的夹角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θ=360/100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5" name="文本框 56334"/>
              <p:cNvSpPr txBox="1"/>
              <p:nvPr/>
            </p:nvSpPr>
            <p:spPr>
              <a:xfrm>
                <a:off x="1200" y="1142"/>
                <a:ext cx="4512" cy="5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设置一起始角度</a:t>
                </a:r>
                <a:r>
                  <a:rPr lang="en-US" altLang="zh-CN" sz="2000" b="1" err="1">
                    <a:latin typeface="Times New Roman" panose="02020603050405020304" pitchFamily="18" charset="0"/>
                  </a:rPr>
                  <a:t>stangle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=0,  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设置图标的起始位置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(top,left),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图例的宽度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w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和高度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h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6" name="文本框 56335"/>
              <p:cNvSpPr txBox="1"/>
              <p:nvPr/>
            </p:nvSpPr>
            <p:spPr>
              <a:xfrm>
                <a:off x="1370" y="1680"/>
                <a:ext cx="153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For(i=0 ;i&lt;n;i++)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7" name="文本框 56336"/>
              <p:cNvSpPr txBox="1"/>
              <p:nvPr/>
            </p:nvSpPr>
            <p:spPr>
              <a:xfrm>
                <a:off x="1524" y="2016"/>
                <a:ext cx="3432" cy="18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设置填充模式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000" b="1" err="1">
                    <a:latin typeface="Times New Roman" panose="02020603050405020304" pitchFamily="18" charset="0"/>
                  </a:rPr>
                  <a:t>endangle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=stangle+100*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百分比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*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d </a:t>
                </a: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Char char="•"/>
                </a:pPr>
                <a:r>
                  <a:rPr lang="en-US" altLang="zh-CN" sz="2000" b="1" err="1">
                    <a:latin typeface="Times New Roman" panose="02020603050405020304" pitchFamily="18" charset="0"/>
                  </a:rPr>
                  <a:t>pieslice(x,y,stangle,endangle,radius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 ;(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饼图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Char char="•"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Rectangle(top,left,top+h,left+w);(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图例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)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Char char="•"/>
                </a:pPr>
                <a:r>
                  <a:rPr lang="en-US" altLang="zh-CN" sz="2000" b="1" err="1">
                    <a:latin typeface="Times New Roman" panose="02020603050405020304" pitchFamily="18" charset="0"/>
                  </a:rPr>
                  <a:t>stangle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err="1">
                    <a:latin typeface="Times New Roman" panose="02020603050405020304" pitchFamily="18" charset="0"/>
                  </a:rPr>
                  <a:t>endangle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Char char="•"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top=top+h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buChar char="•"/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标注百分比，填写文字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8" name="文本框 56337"/>
              <p:cNvSpPr txBox="1"/>
              <p:nvPr/>
            </p:nvSpPr>
            <p:spPr>
              <a:xfrm>
                <a:off x="2190" y="3696"/>
                <a:ext cx="292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程序结束</a:t>
                </a:r>
                <a:endParaRPr lang="zh-CN" altLang="en-US" sz="2400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6341" name="文本框 56340"/>
          <p:cNvSpPr txBox="1"/>
          <p:nvPr/>
        </p:nvSpPr>
        <p:spPr>
          <a:xfrm>
            <a:off x="1219200" y="228600"/>
            <a:ext cx="5943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饼图流程图：</a:t>
            </a:r>
            <a:r>
              <a:rPr lang="en-US" altLang="zh-CN" sz="3600" b="1">
                <a:solidFill>
                  <a:schemeClr val="tx2"/>
                </a:solidFill>
                <a:latin typeface="Times New Roman" panose="02020603050405020304" pitchFamily="18" charset="0"/>
              </a:rPr>
              <a:t>[pie]</a:t>
            </a:r>
            <a:endParaRPr lang="en-US" altLang="zh-CN" sz="36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标题 83969"/>
          <p:cNvSpPr>
            <a:spLocks noGrp="1"/>
          </p:cNvSpPr>
          <p:nvPr>
            <p:ph type="title"/>
          </p:nvPr>
        </p:nvSpPr>
        <p:spPr>
          <a:xfrm>
            <a:off x="685800" y="152400"/>
            <a:ext cx="3670300" cy="1600200"/>
          </a:xfrm>
          <a:ln/>
        </p:spPr>
        <p:txBody>
          <a:bodyPr anchor="b" anchorCtr="0"/>
          <a:p>
            <a:r>
              <a:rPr lang="en-US" altLang="zh-CN" sz="3600" b="1">
                <a:solidFill>
                  <a:srgbClr val="FF0066"/>
                </a:solidFill>
              </a:rPr>
              <a:t>10</a:t>
            </a:r>
            <a:r>
              <a:rPr lang="zh-CN" altLang="en-US" sz="3600" b="1" dirty="0">
                <a:solidFill>
                  <a:srgbClr val="FF0066"/>
                </a:solidFill>
              </a:rPr>
              <a:t>象素函数</a:t>
            </a:r>
            <a:endParaRPr lang="zh-CN" altLang="en-US" sz="3600" b="1">
              <a:solidFill>
                <a:srgbClr val="FF0066"/>
              </a:solidFill>
            </a:endParaRPr>
          </a:p>
        </p:txBody>
      </p:sp>
      <p:sp>
        <p:nvSpPr>
          <p:cNvPr id="83971" name="文本占位符 83970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putpixel(int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x,int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y,int</a:t>
            </a:r>
            <a:r>
              <a:rPr lang="en-US" altLang="zh-CN" b="1">
                <a:solidFill>
                  <a:schemeClr val="hlink"/>
                </a:solidFill>
              </a:rPr>
              <a:t> color)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在图形模式下，屏幕上显示一个象素点</a:t>
            </a:r>
            <a:endParaRPr lang="zh-CN" altLang="en-US" b="1" dirty="0"/>
          </a:p>
          <a:p>
            <a:r>
              <a:rPr lang="zh-CN" altLang="en-US" b="1" dirty="0"/>
              <a:t>例：</a:t>
            </a:r>
            <a:r>
              <a:rPr lang="en-US" altLang="zh-CN" b="1"/>
              <a:t>putpixel(6,8,RED)</a:t>
            </a:r>
            <a:endParaRPr lang="en-US" altLang="zh-CN" b="1"/>
          </a:p>
          <a:p>
            <a:r>
              <a:rPr lang="en-US" altLang="zh-CN" b="1">
                <a:solidFill>
                  <a:schemeClr val="hlink"/>
                </a:solidFill>
              </a:rPr>
              <a:t>-</a:t>
            </a:r>
            <a:r>
              <a:rPr lang="en-US" altLang="zh-CN" b="1" err="1">
                <a:solidFill>
                  <a:schemeClr val="hlink"/>
                </a:solidFill>
              </a:rPr>
              <a:t>getpixel(int</a:t>
            </a:r>
            <a:r>
              <a:rPr lang="en-US" altLang="zh-CN" b="1">
                <a:solidFill>
                  <a:schemeClr val="hlink"/>
                </a:solidFill>
              </a:rPr>
              <a:t> </a:t>
            </a:r>
            <a:r>
              <a:rPr lang="en-US" altLang="zh-CN" b="1" err="1">
                <a:solidFill>
                  <a:schemeClr val="hlink"/>
                </a:solidFill>
              </a:rPr>
              <a:t>x,int</a:t>
            </a:r>
            <a:r>
              <a:rPr lang="en-US" altLang="zh-CN" b="1">
                <a:solidFill>
                  <a:schemeClr val="hlink"/>
                </a:solidFill>
              </a:rPr>
              <a:t> y)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返回一个象素点色彩值</a:t>
            </a:r>
            <a:endParaRPr lang="zh-CN" altLang="en-US" b="1" dirty="0"/>
          </a:p>
          <a:p>
            <a:r>
              <a:rPr lang="zh-CN" altLang="en-US" b="1" dirty="0"/>
              <a:t>例：</a:t>
            </a:r>
            <a:r>
              <a:rPr lang="en-US" altLang="zh-CN" b="1"/>
              <a:t>color=getpixel(8,6)</a:t>
            </a:r>
            <a:endParaRPr lang="en-US" altLang="zh-CN"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文本占位符 33794"/>
          <p:cNvSpPr>
            <a:spLocks noGrp="1"/>
          </p:cNvSpPr>
          <p:nvPr>
            <p:ph type="body" idx="1"/>
          </p:nvPr>
        </p:nvSpPr>
        <p:spPr>
          <a:xfrm>
            <a:off x="323850" y="333375"/>
            <a:ext cx="8569325" cy="6524625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FF0066"/>
                </a:solidFill>
              </a:rPr>
              <a:t>10</a:t>
            </a:r>
            <a:r>
              <a:rPr lang="zh-CN" altLang="en-US" b="1" dirty="0">
                <a:solidFill>
                  <a:srgbClr val="FF0066"/>
                </a:solidFill>
              </a:rPr>
              <a:t>图形存取处理</a:t>
            </a:r>
            <a:endParaRPr lang="zh-CN" altLang="en-US" b="1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原理：</a:t>
            </a:r>
            <a:r>
              <a:rPr lang="zh-CN" altLang="en-US" sz="2800" b="1" dirty="0"/>
              <a:t>把屏幕上某个区域的信息存入缓存区，然后再另一个区域将图像重新显示。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（这是图形动画的基础）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en-US" altLang="zh-CN" sz="4000" b="1">
                <a:solidFill>
                  <a:schemeClr val="tx2"/>
                </a:solidFill>
              </a:rPr>
              <a:t>[car]</a:t>
            </a:r>
            <a:endParaRPr lang="en-US" altLang="zh-CN" sz="4000" b="1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/>
              <a:t>-</a:t>
            </a:r>
            <a:r>
              <a:rPr lang="zh-CN" altLang="en-US" sz="2800" b="1" dirty="0"/>
              <a:t>检测内存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chemeClr val="folHlink"/>
                </a:solidFill>
              </a:rPr>
              <a:t>-</a:t>
            </a:r>
            <a:r>
              <a:rPr lang="en-US" altLang="zh-CN" b="1" err="1">
                <a:solidFill>
                  <a:schemeClr val="folHlink"/>
                </a:solidFill>
              </a:rPr>
              <a:t>imagesize(int</a:t>
            </a:r>
            <a:r>
              <a:rPr lang="en-US" altLang="zh-CN" b="1">
                <a:solidFill>
                  <a:schemeClr val="folHlink"/>
                </a:solidFill>
              </a:rPr>
              <a:t> x1,int y1,int x2,int y2);</a:t>
            </a:r>
            <a:endParaRPr lang="en-US" altLang="zh-CN" b="1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</a:rPr>
              <a:t>函数作用：</a:t>
            </a:r>
            <a:r>
              <a:rPr lang="zh-CN" altLang="en-US" sz="2800" b="1" dirty="0"/>
              <a:t>获得屏幕保存左上角为</a:t>
            </a:r>
            <a:r>
              <a:rPr lang="en-US" altLang="zh-CN" sz="2800" b="1"/>
              <a:t>(x1,y1),</a:t>
            </a:r>
            <a:r>
              <a:rPr lang="zh-CN" altLang="en-US" sz="2800" b="1" dirty="0"/>
              <a:t>右上角为</a:t>
            </a:r>
            <a:r>
              <a:rPr lang="zh-CN" altLang="en-US" sz="2800" b="1"/>
              <a:t>（</a:t>
            </a:r>
            <a:r>
              <a:rPr lang="en-US" altLang="zh-CN" sz="2800" b="1"/>
              <a:t>x2,y2</a:t>
            </a:r>
            <a:r>
              <a:rPr lang="zh-CN" altLang="en-US" sz="2800" b="1"/>
              <a:t>）的</a:t>
            </a:r>
            <a:r>
              <a:rPr lang="zh-CN" altLang="en-US" sz="2800" b="1" dirty="0"/>
              <a:t>矩形屏幕区域所需的内存字节数。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例：  </a:t>
            </a:r>
            <a:r>
              <a:rPr lang="en-US" altLang="zh-CN" sz="2800" b="1"/>
              <a:t>unsigned   size;</a:t>
            </a:r>
            <a:endParaRPr lang="en-US" altLang="zh-CN" sz="2800" b="1"/>
          </a:p>
          <a:p>
            <a:pPr eaLnBrk="0" hangingPunc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b="1"/>
              <a:t>       size=imagesize(520,220,630,270)</a:t>
            </a:r>
            <a:endParaRPr lang="en-US" altLang="zh-CN" sz="2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>
          <a:xfrm>
            <a:off x="0" y="533400"/>
            <a:ext cx="8820150" cy="5334000"/>
          </a:xfrm>
          <a:ln/>
        </p:spPr>
        <p:txBody>
          <a:bodyPr/>
          <a:p>
            <a:r>
              <a:rPr lang="en-US" altLang="zh-CN" sz="2800" b="1">
                <a:solidFill>
                  <a:schemeClr val="hlink"/>
                </a:solidFill>
              </a:rPr>
              <a:t>void    * </a:t>
            </a:r>
            <a:r>
              <a:rPr lang="en-US" altLang="zh-CN" b="1">
                <a:solidFill>
                  <a:schemeClr val="hlink"/>
                </a:solidFill>
              </a:rPr>
              <a:t>bitmap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chemeClr val="hlink"/>
                </a:solidFill>
              </a:rPr>
              <a:t>bitmap =</a:t>
            </a:r>
            <a:r>
              <a:rPr lang="en-US" altLang="zh-CN" b="1" err="1">
                <a:solidFill>
                  <a:schemeClr val="hlink"/>
                </a:solidFill>
              </a:rPr>
              <a:t>malloc(size</a:t>
            </a:r>
            <a:r>
              <a:rPr lang="en-US" altLang="zh-CN" b="1">
                <a:solidFill>
                  <a:schemeClr val="hlink"/>
                </a:solidFill>
              </a:rPr>
              <a:t>)</a:t>
            </a:r>
            <a:endParaRPr lang="en-US" altLang="zh-CN" b="1">
              <a:solidFill>
                <a:schemeClr val="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分配存储图像的内存</a:t>
            </a:r>
            <a:r>
              <a:rPr lang="zh-CN" altLang="en-US" b="1"/>
              <a:t> </a:t>
            </a:r>
            <a:endParaRPr lang="zh-CN" altLang="en-US" b="1"/>
          </a:p>
          <a:p>
            <a:endParaRPr lang="zh-CN" altLang="en-US" b="1" dirty="0">
              <a:solidFill>
                <a:schemeClr val="hlink"/>
              </a:solidFill>
            </a:endParaRPr>
          </a:p>
          <a:p>
            <a:r>
              <a:rPr lang="en-US" altLang="zh-CN" b="1">
                <a:solidFill>
                  <a:schemeClr val="folHlink"/>
                </a:solidFill>
              </a:rPr>
              <a:t>-</a:t>
            </a:r>
            <a:r>
              <a:rPr lang="en-US" altLang="zh-CN" b="1" err="1">
                <a:solidFill>
                  <a:schemeClr val="folHlink"/>
                </a:solidFill>
              </a:rPr>
              <a:t>getimage(int</a:t>
            </a:r>
            <a:r>
              <a:rPr lang="en-US" altLang="zh-CN" b="1">
                <a:solidFill>
                  <a:schemeClr val="folHlink"/>
                </a:solidFill>
              </a:rPr>
              <a:t> x1,int y1,int x2,int y2,void *bitmap)</a:t>
            </a:r>
            <a:endParaRPr lang="en-US" altLang="zh-CN" b="1">
              <a:solidFill>
                <a:schemeClr val="folHlink"/>
              </a:solidFill>
            </a:endParaRPr>
          </a:p>
          <a:p>
            <a:r>
              <a:rPr lang="zh-CN" altLang="en-US" b="1" dirty="0">
                <a:solidFill>
                  <a:schemeClr val="hlink"/>
                </a:solidFill>
              </a:rPr>
              <a:t>作用：</a:t>
            </a:r>
            <a:r>
              <a:rPr lang="zh-CN" altLang="en-US" b="1" dirty="0"/>
              <a:t>将指定屏幕（</a:t>
            </a:r>
            <a:r>
              <a:rPr lang="en-US" altLang="zh-CN" b="1"/>
              <a:t>x1,y1</a:t>
            </a:r>
            <a:r>
              <a:rPr lang="zh-CN" altLang="en-US" b="1"/>
              <a:t>）</a:t>
            </a:r>
            <a:r>
              <a:rPr lang="zh-CN" altLang="en-US" b="1" dirty="0"/>
              <a:t>和（</a:t>
            </a:r>
            <a:r>
              <a:rPr lang="en-US" altLang="zh-CN" b="1"/>
              <a:t>x2,y2</a:t>
            </a:r>
            <a:r>
              <a:rPr lang="zh-CN" altLang="en-US" b="1"/>
              <a:t>）</a:t>
            </a:r>
            <a:r>
              <a:rPr lang="zh-CN" altLang="en-US" b="1" dirty="0"/>
              <a:t>区域的图形拷贝到内存中。屏幕区域保存在</a:t>
            </a:r>
            <a:r>
              <a:rPr lang="en-US" altLang="zh-CN" b="1"/>
              <a:t>bitmap</a:t>
            </a:r>
            <a:r>
              <a:rPr lang="zh-CN" altLang="en-US" b="1" dirty="0"/>
              <a:t>指定的数组中</a:t>
            </a:r>
            <a:endParaRPr lang="zh-CN" altLang="en-US" b="1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9" name="文本占位符 86018"/>
          <p:cNvSpPr>
            <a:spLocks noGrp="1"/>
          </p:cNvSpPr>
          <p:nvPr>
            <p:ph type="body" idx="1"/>
          </p:nvPr>
        </p:nvSpPr>
        <p:spPr>
          <a:xfrm>
            <a:off x="323850" y="914400"/>
            <a:ext cx="8362950" cy="51054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zh-CN" altLang="en-US" b="1" dirty="0"/>
              <a:t>例：</a:t>
            </a:r>
            <a:r>
              <a:rPr lang="en-US" altLang="zh-CN" b="1"/>
              <a:t>unsigned  size;  </a:t>
            </a:r>
            <a:r>
              <a:rPr lang="en-US" altLang="zh-CN" sz="2000" b="1">
                <a:solidFill>
                  <a:schemeClr val="hlink"/>
                </a:solidFill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</a:rPr>
              <a:t>屏幕区域的大小</a:t>
            </a:r>
            <a:endParaRPr lang="zh-CN" altLang="en-US" sz="20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/>
              <a:t>          </a:t>
            </a:r>
            <a:r>
              <a:rPr lang="en-US" altLang="zh-CN" b="1"/>
              <a:t>size=imagesize(10,10,100,100) 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//</a:t>
            </a:r>
            <a:r>
              <a:rPr lang="zh-CN" altLang="en-US" sz="2400" b="1" dirty="0">
                <a:solidFill>
                  <a:schemeClr val="hlink"/>
                </a:solidFill>
              </a:rPr>
              <a:t>获得屏幕区域的大小并且将  获得的值放入变量</a:t>
            </a:r>
            <a:r>
              <a:rPr lang="en-US" altLang="zh-CN" sz="2400" b="1">
                <a:solidFill>
                  <a:schemeClr val="hlink"/>
                </a:solidFill>
              </a:rPr>
              <a:t>size</a:t>
            </a:r>
            <a:r>
              <a:rPr lang="zh-CN" altLang="en-US" sz="2400" b="1" dirty="0">
                <a:solidFill>
                  <a:schemeClr val="hlink"/>
                </a:solidFill>
              </a:rPr>
              <a:t>中</a:t>
            </a:r>
            <a:endParaRPr lang="zh-CN" altLang="en-US" sz="24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/>
              <a:t>        </a:t>
            </a:r>
            <a:r>
              <a:rPr lang="en-US" altLang="zh-CN" b="1"/>
              <a:t>w=</a:t>
            </a:r>
            <a:r>
              <a:rPr lang="en-US" altLang="zh-CN" b="1" err="1"/>
              <a:t>malloc(size</a:t>
            </a:r>
            <a:r>
              <a:rPr lang="en-US" altLang="zh-CN" b="1"/>
              <a:t>);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chemeClr val="hlink"/>
                </a:solidFill>
              </a:rPr>
              <a:t>//</a:t>
            </a:r>
            <a:r>
              <a:rPr lang="zh-CN" altLang="en-US" sz="2400" b="1" dirty="0">
                <a:solidFill>
                  <a:schemeClr val="hlink"/>
                </a:solidFill>
              </a:rPr>
              <a:t>分配大小为</a:t>
            </a:r>
            <a:r>
              <a:rPr lang="en-US" altLang="zh-CN" sz="2400" b="1">
                <a:solidFill>
                  <a:schemeClr val="hlink"/>
                </a:solidFill>
              </a:rPr>
              <a:t>size</a:t>
            </a:r>
            <a:r>
              <a:rPr lang="zh-CN" altLang="en-US" sz="2400" b="1" dirty="0">
                <a:solidFill>
                  <a:schemeClr val="hlink"/>
                </a:solidFill>
              </a:rPr>
              <a:t>的内存空间，指针</a:t>
            </a:r>
            <a:r>
              <a:rPr lang="en-US" altLang="zh-CN" sz="2400" b="1">
                <a:solidFill>
                  <a:schemeClr val="hlink"/>
                </a:solidFill>
              </a:rPr>
              <a:t>w</a:t>
            </a:r>
            <a:r>
              <a:rPr lang="zh-CN" altLang="en-US" sz="2400" b="1" dirty="0">
                <a:solidFill>
                  <a:schemeClr val="hlink"/>
                </a:solidFill>
              </a:rPr>
              <a:t>指向该数组</a:t>
            </a:r>
            <a:endParaRPr lang="zh-CN" altLang="en-US" sz="24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b="1" dirty="0"/>
              <a:t>       </a:t>
            </a:r>
            <a:r>
              <a:rPr lang="en-US" altLang="zh-CN" b="1"/>
              <a:t>getimage(10,10,100,100,w);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  </a:t>
            </a:r>
            <a:r>
              <a:rPr lang="en-US" altLang="zh-CN" sz="2000" b="1">
                <a:solidFill>
                  <a:schemeClr val="hlink"/>
                </a:solidFill>
              </a:rPr>
              <a:t>//</a:t>
            </a:r>
            <a:r>
              <a:rPr lang="zh-CN" altLang="en-US" sz="2000" b="1" dirty="0">
                <a:solidFill>
                  <a:schemeClr val="hlink"/>
                </a:solidFill>
              </a:rPr>
              <a:t>获取屏幕上左上角为</a:t>
            </a:r>
            <a:endParaRPr lang="zh-CN" altLang="en-US" sz="20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solidFill>
                  <a:srgbClr val="0000FF"/>
                </a:solidFill>
              </a:rPr>
              <a:t>(10,10)</a:t>
            </a:r>
            <a:r>
              <a:rPr lang="zh-CN" altLang="en-US" b="1" dirty="0">
                <a:solidFill>
                  <a:srgbClr val="0000FF"/>
                </a:solidFill>
              </a:rPr>
              <a:t>和右上角为</a:t>
            </a:r>
            <a:r>
              <a:rPr lang="en-US" altLang="zh-CN" b="1">
                <a:solidFill>
                  <a:srgbClr val="0000FF"/>
                </a:solidFill>
              </a:rPr>
              <a:t>(100,100)</a:t>
            </a:r>
            <a:r>
              <a:rPr lang="zh-CN" altLang="en-US" b="1" dirty="0">
                <a:solidFill>
                  <a:srgbClr val="0000FF"/>
                </a:solidFill>
              </a:rPr>
              <a:t>的屏幕区域，并将其保存在数组</a:t>
            </a:r>
            <a:r>
              <a:rPr lang="en-US" altLang="zh-CN" b="1">
                <a:solidFill>
                  <a:srgbClr val="0000FF"/>
                </a:solidFill>
              </a:rPr>
              <a:t>w</a:t>
            </a:r>
            <a:r>
              <a:rPr lang="zh-CN" altLang="en-US" b="1">
                <a:solidFill>
                  <a:srgbClr val="0000FF"/>
                </a:solidFill>
              </a:rPr>
              <a:t>中</a:t>
            </a:r>
            <a:endParaRPr lang="zh-CN" altLang="en-US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文本占位符 49154"/>
          <p:cNvSpPr>
            <a:spLocks noGrp="1"/>
          </p:cNvSpPr>
          <p:nvPr>
            <p:ph type="body" idx="1"/>
          </p:nvPr>
        </p:nvSpPr>
        <p:spPr>
          <a:xfrm>
            <a:off x="323850" y="476250"/>
            <a:ext cx="8424863" cy="3744913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b="1">
                <a:solidFill>
                  <a:schemeClr val="folHlink"/>
                </a:solidFill>
              </a:rPr>
              <a:t>-</a:t>
            </a:r>
            <a:r>
              <a:rPr lang="en-US" altLang="zh-CN" b="1" err="1">
                <a:solidFill>
                  <a:schemeClr val="folHlink"/>
                </a:solidFill>
              </a:rPr>
              <a:t>putimage(int</a:t>
            </a:r>
            <a:r>
              <a:rPr lang="en-US" altLang="zh-CN" b="1">
                <a:solidFill>
                  <a:schemeClr val="folHlink"/>
                </a:solidFill>
              </a:rPr>
              <a:t>  </a:t>
            </a:r>
            <a:r>
              <a:rPr lang="en-US" altLang="zh-CN" b="1" err="1">
                <a:solidFill>
                  <a:schemeClr val="folHlink"/>
                </a:solidFill>
              </a:rPr>
              <a:t>x,int</a:t>
            </a:r>
            <a:r>
              <a:rPr lang="en-US" altLang="zh-CN" b="1">
                <a:solidFill>
                  <a:schemeClr val="folHlink"/>
                </a:solidFill>
              </a:rPr>
              <a:t> y, void *bitmap, </a:t>
            </a:r>
            <a:r>
              <a:rPr lang="en-US" altLang="zh-CN" b="1" err="1">
                <a:solidFill>
                  <a:schemeClr val="folHlink"/>
                </a:solidFill>
              </a:rPr>
              <a:t>int</a:t>
            </a:r>
            <a:r>
              <a:rPr lang="en-US" altLang="zh-CN" b="1">
                <a:solidFill>
                  <a:schemeClr val="folHlink"/>
                </a:solidFill>
              </a:rPr>
              <a:t> op)</a:t>
            </a:r>
            <a:endParaRPr lang="en-US" altLang="zh-CN" b="1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folHlink"/>
                </a:solidFill>
              </a:rPr>
              <a:t>作用：</a:t>
            </a:r>
            <a:r>
              <a:rPr lang="zh-CN" altLang="en-US" sz="2400" b="1" dirty="0"/>
              <a:t>将使用</a:t>
            </a:r>
            <a:r>
              <a:rPr lang="en-US" altLang="zh-CN" sz="2400" b="1" err="1"/>
              <a:t>getimage</a:t>
            </a:r>
            <a:r>
              <a:rPr lang="zh-CN" altLang="en-US" sz="2400" b="1" dirty="0"/>
              <a:t>函数保存起来的图形重新送回到屏幕上制定的位置。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chemeClr val="hlink"/>
                </a:solidFill>
              </a:rPr>
              <a:t>（</a:t>
            </a:r>
            <a:r>
              <a:rPr lang="en-US" altLang="zh-CN" sz="2400" b="1">
                <a:solidFill>
                  <a:schemeClr val="hlink"/>
                </a:solidFill>
              </a:rPr>
              <a:t>x,y</a:t>
            </a:r>
            <a:r>
              <a:rPr lang="zh-CN" altLang="en-US" sz="2400" b="1">
                <a:solidFill>
                  <a:schemeClr val="hlink"/>
                </a:solidFill>
              </a:rPr>
              <a:t>）</a:t>
            </a:r>
            <a:r>
              <a:rPr lang="zh-CN" altLang="en-US" sz="2400" b="1" dirty="0"/>
              <a:t>指定图形显示位置的左上角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chemeClr val="hlink"/>
                </a:solidFill>
              </a:rPr>
              <a:t> </a:t>
            </a:r>
            <a:r>
              <a:rPr lang="en-US" altLang="zh-CN" sz="2800" b="1">
                <a:solidFill>
                  <a:schemeClr val="hlink"/>
                </a:solidFill>
              </a:rPr>
              <a:t>bitmap</a:t>
            </a:r>
            <a:r>
              <a:rPr lang="en-US" altLang="zh-CN" sz="2800" b="1"/>
              <a:t>   </a:t>
            </a:r>
            <a:r>
              <a:rPr lang="zh-CN" altLang="en-US" sz="2400" b="1" dirty="0"/>
              <a:t>用来保存由</a:t>
            </a:r>
            <a:r>
              <a:rPr lang="en-US" altLang="zh-CN" sz="2400" b="1" err="1"/>
              <a:t>getimage</a:t>
            </a:r>
            <a:r>
              <a:rPr lang="en-US" altLang="zh-CN" sz="2400" b="1"/>
              <a:t>()</a:t>
            </a:r>
            <a:r>
              <a:rPr lang="zh-CN" altLang="en-US" sz="2400" b="1" dirty="0"/>
              <a:t>获得的图形指针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chemeClr val="hlink"/>
                </a:solidFill>
              </a:rPr>
              <a:t>Op</a:t>
            </a:r>
            <a:r>
              <a:rPr lang="en-US" altLang="zh-CN" sz="2800" b="1"/>
              <a:t>  </a:t>
            </a:r>
            <a:r>
              <a:rPr lang="zh-CN" altLang="en-US" sz="2400" b="1" dirty="0"/>
              <a:t>整型数图形复制到屏幕上的显示模式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en-US" altLang="zh-CN" sz="2400"/>
              <a:t>[</a:t>
            </a:r>
            <a:r>
              <a:rPr lang="en-US" altLang="zh-CN" sz="2400" err="1"/>
              <a:t>pthree_mode_CAR</a:t>
            </a:r>
            <a:r>
              <a:rPr lang="en-US" altLang="zh-CN" sz="2400"/>
              <a:t>]</a:t>
            </a:r>
            <a:endParaRPr lang="en-US" altLang="zh-CN" sz="2400"/>
          </a:p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graphicFrame>
        <p:nvGraphicFramePr>
          <p:cNvPr id="49277" name="表格 49276"/>
          <p:cNvGraphicFramePr/>
          <p:nvPr/>
        </p:nvGraphicFramePr>
        <p:xfrm>
          <a:off x="395288" y="4724400"/>
          <a:ext cx="7993062" cy="1774825"/>
        </p:xfrm>
        <a:graphic>
          <a:graphicData uri="http://schemas.openxmlformats.org/drawingml/2006/table">
            <a:tbl>
              <a:tblPr/>
              <a:tblGrid>
                <a:gridCol w="2414588"/>
                <a:gridCol w="831850"/>
                <a:gridCol w="4746625"/>
              </a:tblGrid>
              <a:tr h="8302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folHlink"/>
                          </a:solidFill>
                        </a:rPr>
                        <a:t>COPY_PUT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folHlink"/>
                          </a:solidFill>
                        </a:rPr>
                        <a:t>0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solidFill>
                            <a:schemeClr val="folHlink"/>
                          </a:solidFill>
                        </a:rPr>
                        <a:t>原样拷贝到屏幕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445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folHlink"/>
                          </a:solidFill>
                        </a:rPr>
                        <a:t>XOR_PUT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>
                          <a:solidFill>
                            <a:schemeClr val="folHlink"/>
                          </a:solidFill>
                        </a:rPr>
                        <a:t>1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solidFill>
                            <a:schemeClr val="folHlink"/>
                          </a:solidFill>
                        </a:rPr>
                        <a:t>与屏幕像素异或后拷贝（可有效擦除图形）</a:t>
                      </a:r>
                      <a:endParaRPr lang="zh-CN" altLang="en-US" b="1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9" name="文本占位符 45058"/>
          <p:cNvSpPr>
            <a:spLocks noGrp="1"/>
          </p:cNvSpPr>
          <p:nvPr>
            <p:ph type="body" idx="1"/>
          </p:nvPr>
        </p:nvSpPr>
        <p:spPr>
          <a:xfrm>
            <a:off x="611188" y="446088"/>
            <a:ext cx="8281987" cy="57912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chemeClr val="hlink"/>
                </a:solidFill>
              </a:rPr>
              <a:t>一辆停止的车的程序代码</a:t>
            </a:r>
            <a:endParaRPr lang="zh-CN" altLang="en-US" sz="24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400" b="1"/>
              <a:t>void main()</a:t>
            </a:r>
            <a:endParaRPr lang="en-US" altLang="zh-CN" sz="24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{  void *w;</a:t>
            </a:r>
            <a:r>
              <a:rPr lang="zh-CN" altLang="en-US" sz="2400" b="1" dirty="0"/>
              <a:t>存放图片的变量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      </a:t>
            </a:r>
            <a:r>
              <a:rPr lang="en-US" altLang="zh-CN" sz="2400" b="1" err="1"/>
              <a:t>int</a:t>
            </a:r>
            <a:r>
              <a:rPr lang="en-US" altLang="zh-CN" sz="2400" b="1"/>
              <a:t> i;</a:t>
            </a:r>
            <a:endParaRPr lang="en-US" altLang="zh-CN" sz="24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  </a:t>
            </a:r>
            <a:r>
              <a:rPr lang="en-US" altLang="zh-CN" sz="2400" b="1" err="1"/>
              <a:t>int</a:t>
            </a:r>
            <a:r>
              <a:rPr lang="en-US" altLang="zh-CN" sz="2400" b="1"/>
              <a:t> </a:t>
            </a:r>
            <a:r>
              <a:rPr lang="en-US" altLang="zh-CN" sz="2400" b="1" err="1"/>
              <a:t>gdriver</a:t>
            </a:r>
            <a:r>
              <a:rPr lang="en-US" altLang="zh-CN" sz="2400" b="1"/>
              <a:t>=</a:t>
            </a:r>
            <a:r>
              <a:rPr lang="en-US" altLang="zh-CN" sz="2400" b="1" err="1"/>
              <a:t>DETECT,gmode</a:t>
            </a:r>
            <a:r>
              <a:rPr lang="en-US" altLang="zh-CN" sz="2400" b="1"/>
              <a:t>;</a:t>
            </a:r>
            <a:endParaRPr lang="en-US" altLang="zh-CN" sz="24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  </a:t>
            </a:r>
            <a:r>
              <a:rPr lang="en-US" altLang="zh-CN" sz="2400" b="1" err="1"/>
              <a:t>initgraph(&amp;gdriver,&amp;gmode</a:t>
            </a:r>
            <a:r>
              <a:rPr lang="en-US" altLang="zh-CN" sz="2400" b="1"/>
              <a:t>,"</a:t>
            </a:r>
            <a:r>
              <a:rPr lang="en-US" altLang="zh-CN" sz="2400"/>
              <a:t>");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400"/>
              <a:t>  </a:t>
            </a:r>
            <a:r>
              <a:rPr lang="en-US" altLang="zh-CN" sz="2800" err="1"/>
              <a:t>setbkcolor(GREEN</a:t>
            </a:r>
            <a:r>
              <a:rPr lang="en-US" altLang="zh-CN" sz="2800"/>
              <a:t>) ;      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</a:rPr>
              <a:t>/*</a:t>
            </a:r>
            <a:r>
              <a:rPr lang="zh-CN" altLang="en-US" sz="2800" dirty="0">
                <a:solidFill>
                  <a:schemeClr val="folHlink"/>
                </a:solidFill>
                <a:latin typeface="宋体" panose="02010600030101010101" pitchFamily="2" charset="-122"/>
              </a:rPr>
              <a:t>设置背景色</a:t>
            </a:r>
            <a:r>
              <a:rPr lang="en-US" altLang="zh-CN" sz="2800" dirty="0">
                <a:solidFill>
                  <a:schemeClr val="folHlink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</a:rPr>
              <a:t>/</a:t>
            </a:r>
            <a:endParaRPr lang="en-US" altLang="zh-CN" sz="280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  setcolor(4) ;                  </a:t>
            </a:r>
            <a:r>
              <a:rPr lang="en-US" altLang="zh-CN" sz="2800">
                <a:solidFill>
                  <a:schemeClr val="folHlink"/>
                </a:solidFill>
              </a:rPr>
              <a:t>/*</a:t>
            </a:r>
            <a:r>
              <a:rPr lang="zh-CN" altLang="en-US" sz="2800" dirty="0">
                <a:solidFill>
                  <a:schemeClr val="folHlink"/>
                </a:solidFill>
              </a:rPr>
              <a:t>设置前景色</a:t>
            </a:r>
            <a:r>
              <a:rPr lang="en-US" altLang="zh-CN" sz="2800" dirty="0">
                <a:solidFill>
                  <a:schemeClr val="folHlink"/>
                </a:solidFill>
              </a:rPr>
              <a:t>*</a:t>
            </a:r>
            <a:r>
              <a:rPr lang="en-US" altLang="zh-CN" sz="2800">
                <a:solidFill>
                  <a:schemeClr val="folHlink"/>
                </a:solidFill>
              </a:rPr>
              <a:t>/</a:t>
            </a:r>
            <a:endParaRPr lang="en-US" altLang="zh-CN" sz="280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  bar3d(520,245,550,260,8,1) ; 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bar3d(550,230,600,260,8,1) ;  </a:t>
            </a:r>
            <a:r>
              <a:rPr lang="en-US" altLang="zh-CN" sz="2800">
                <a:solidFill>
                  <a:schemeClr val="folHlink"/>
                </a:solidFill>
              </a:rPr>
              <a:t>/*</a:t>
            </a:r>
            <a:r>
              <a:rPr lang="zh-CN" altLang="en-US" sz="2800" dirty="0">
                <a:solidFill>
                  <a:schemeClr val="folHlink"/>
                </a:solidFill>
              </a:rPr>
              <a:t>画车身</a:t>
            </a:r>
            <a:r>
              <a:rPr lang="en-US" altLang="zh-CN" sz="2800" dirty="0">
                <a:solidFill>
                  <a:schemeClr val="folHlink"/>
                </a:solidFill>
              </a:rPr>
              <a:t>*</a:t>
            </a:r>
            <a:r>
              <a:rPr lang="en-US" altLang="zh-CN" sz="2800">
                <a:solidFill>
                  <a:schemeClr val="folHlink"/>
                </a:solidFill>
              </a:rPr>
              <a:t>/</a:t>
            </a:r>
            <a:endParaRPr lang="en-US" altLang="zh-CN" sz="280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/>
              <a:t>  circle(535,260,8) ;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  circle(575,260,8) ;          </a:t>
            </a:r>
            <a:r>
              <a:rPr lang="en-US" altLang="zh-CN" sz="2800">
                <a:solidFill>
                  <a:schemeClr val="folHlink"/>
                </a:solidFill>
              </a:rPr>
              <a:t>/*</a:t>
            </a:r>
            <a:r>
              <a:rPr lang="zh-CN" altLang="en-US" sz="2800" dirty="0">
                <a:solidFill>
                  <a:schemeClr val="folHlink"/>
                </a:solidFill>
              </a:rPr>
              <a:t>画车轮</a:t>
            </a:r>
            <a:r>
              <a:rPr lang="en-US" altLang="zh-CN" sz="2800" dirty="0">
                <a:solidFill>
                  <a:schemeClr val="folHlink"/>
                </a:solidFill>
              </a:rPr>
              <a:t>*</a:t>
            </a:r>
            <a:r>
              <a:rPr lang="en-US" altLang="zh-CN" sz="2800">
                <a:solidFill>
                  <a:schemeClr val="folHlink"/>
                </a:solidFill>
              </a:rPr>
              <a:t>/</a:t>
            </a:r>
            <a:endParaRPr lang="en-US" altLang="zh-CN" sz="2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395288" y="762000"/>
            <a:ext cx="8291512" cy="57150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zh-CN" b="1"/>
              <a:t>w=malloc(imagesize(520,220,630,270)); 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/*</a:t>
            </a:r>
            <a:r>
              <a:rPr lang="zh-CN" altLang="en-US" sz="2000" b="1" dirty="0">
                <a:solidFill>
                  <a:schemeClr val="hlink"/>
                </a:solidFill>
              </a:rPr>
              <a:t>检测图形区域所占内存区</a:t>
            </a:r>
            <a:r>
              <a:rPr lang="en-US" altLang="zh-CN" sz="2000" b="1" dirty="0">
                <a:solidFill>
                  <a:schemeClr val="hlink"/>
                </a:solidFill>
              </a:rPr>
              <a:t>*</a:t>
            </a:r>
            <a:r>
              <a:rPr lang="en-US" altLang="zh-CN" sz="2000" b="1">
                <a:solidFill>
                  <a:schemeClr val="hlink"/>
                </a:solidFill>
              </a:rPr>
              <a:t>/</a:t>
            </a:r>
            <a:endParaRPr lang="en-US" altLang="zh-CN" sz="2000" b="1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400" b="1"/>
              <a:t>  </a:t>
            </a:r>
            <a:r>
              <a:rPr lang="en-US" altLang="zh-CN" b="1"/>
              <a:t>getimage(520,220,630,270,w) 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sz="2400" b="1"/>
              <a:t> </a:t>
            </a:r>
            <a:r>
              <a:rPr lang="en-US" altLang="zh-CN" sz="2000" b="1">
                <a:solidFill>
                  <a:schemeClr val="hlink"/>
                </a:solidFill>
              </a:rPr>
              <a:t>/*</a:t>
            </a:r>
            <a:r>
              <a:rPr lang="zh-CN" altLang="en-US" sz="2000" b="1" dirty="0">
                <a:solidFill>
                  <a:schemeClr val="hlink"/>
                </a:solidFill>
              </a:rPr>
              <a:t>将图形存入内存 </a:t>
            </a:r>
            <a:r>
              <a:rPr lang="en-US" altLang="zh-CN" sz="2000" b="1" dirty="0">
                <a:solidFill>
                  <a:schemeClr val="hlink"/>
                </a:solidFill>
              </a:rPr>
              <a:t>*</a:t>
            </a:r>
            <a:r>
              <a:rPr lang="en-US" altLang="zh-CN" sz="2000" b="1">
                <a:solidFill>
                  <a:schemeClr val="hlink"/>
                </a:solidFill>
              </a:rPr>
              <a:t>/</a:t>
            </a:r>
            <a:r>
              <a:rPr lang="en-US" altLang="zh-CN" sz="2400" b="1"/>
              <a:t>       </a:t>
            </a:r>
            <a:endParaRPr lang="en-US" altLang="zh-CN" sz="24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</a:t>
            </a:r>
            <a:r>
              <a:rPr lang="en-US" altLang="zh-CN" sz="2800" b="1" err="1"/>
              <a:t>getch</a:t>
            </a:r>
            <a:r>
              <a:rPr lang="en-US" altLang="zh-CN" sz="2800" b="1"/>
              <a:t>();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800" b="1"/>
              <a:t>  putimage(520,220,w,XOR_PUT) ;  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/*</a:t>
            </a:r>
            <a:r>
              <a:rPr lang="zh-CN" altLang="en-US" sz="2000" b="1" dirty="0">
                <a:solidFill>
                  <a:schemeClr val="hlink"/>
                </a:solidFill>
              </a:rPr>
              <a:t>在原图形的位置异或显示图形，在原图的位置上异或显示图形就相当于消除图像</a:t>
            </a:r>
            <a:endParaRPr lang="zh-CN" altLang="en-US" sz="20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  </a:t>
            </a:r>
            <a:r>
              <a:rPr lang="en-US" altLang="zh-CN" b="1"/>
              <a:t>putimage(200,350,w,COPY_PUT) ;</a:t>
            </a:r>
            <a:r>
              <a:rPr lang="en-US" altLang="zh-CN" sz="2800" b="1"/>
              <a:t>  </a:t>
            </a: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</a:t>
            </a:r>
            <a:r>
              <a:rPr lang="en-US" altLang="zh-CN" sz="2000" b="1">
                <a:solidFill>
                  <a:schemeClr val="hlink"/>
                </a:solidFill>
              </a:rPr>
              <a:t>/*</a:t>
            </a:r>
            <a:r>
              <a:rPr lang="zh-CN" altLang="en-US" sz="2000" b="1" dirty="0">
                <a:solidFill>
                  <a:schemeClr val="hlink"/>
                </a:solidFill>
              </a:rPr>
              <a:t>将保存起来的图形在别的位置上复制显示</a:t>
            </a:r>
            <a:endParaRPr lang="zh-CN" altLang="en-US" sz="2000" b="1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  </a:t>
            </a:r>
            <a:r>
              <a:rPr lang="en-US" altLang="zh-CN" b="1" err="1"/>
              <a:t>getch</a:t>
            </a:r>
            <a:r>
              <a:rPr lang="en-US" altLang="zh-CN" b="1"/>
              <a:t>();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  </a:t>
            </a:r>
            <a:r>
              <a:rPr lang="en-US" altLang="zh-CN" b="1" err="1"/>
              <a:t>closegraph</a:t>
            </a:r>
            <a:r>
              <a:rPr lang="en-US" altLang="zh-CN" b="1"/>
              <a:t>();</a:t>
            </a: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sz="2400" b="1"/>
              <a:t>  }_x001A_</a:t>
            </a:r>
            <a:endParaRPr lang="en-US" altLang="zh-CN" sz="2400" b="1"/>
          </a:p>
          <a:p>
            <a:pPr>
              <a:lnSpc>
                <a:spcPct val="90000"/>
              </a:lnSpc>
            </a:pPr>
            <a:endParaRPr lang="en-US" altLang="zh-CN" sz="2400"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标题 9728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rPr lang="zh-CN" altLang="en-US" dirty="0"/>
              <a:t>坐标转换</a:t>
            </a:r>
            <a:endParaRPr lang="zh-CN" altLang="en-US"/>
          </a:p>
        </p:txBody>
      </p:sp>
      <p:sp>
        <p:nvSpPr>
          <p:cNvPr id="97283" name="矩形 97282"/>
          <p:cNvSpPr/>
          <p:nvPr/>
        </p:nvSpPr>
        <p:spPr>
          <a:xfrm>
            <a:off x="1905000" y="2286000"/>
            <a:ext cx="5638800" cy="40386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7284" name="组合 97283"/>
          <p:cNvGrpSpPr/>
          <p:nvPr/>
        </p:nvGrpSpPr>
        <p:grpSpPr>
          <a:xfrm>
            <a:off x="3657600" y="2971800"/>
            <a:ext cx="2362200" cy="2382838"/>
            <a:chOff x="3984" y="336"/>
            <a:chExt cx="1248" cy="1021"/>
          </a:xfrm>
        </p:grpSpPr>
        <p:graphicFrame>
          <p:nvGraphicFramePr>
            <p:cNvPr id="97285" name="对象 97284"/>
            <p:cNvGraphicFramePr/>
            <p:nvPr/>
          </p:nvGraphicFramePr>
          <p:xfrm>
            <a:off x="3984" y="336"/>
            <a:ext cx="1236" cy="1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1809750" imgH="1495425" progId="Paint.Picture">
                    <p:embed/>
                  </p:oleObj>
                </mc:Choice>
                <mc:Fallback>
                  <p:oleObj name="" r:id="rId1" imgW="1809750" imgH="1495425" progId="Paint.Picture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84" y="336"/>
                          <a:ext cx="1236" cy="10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86" name="文本框 97285"/>
            <p:cNvSpPr txBox="1"/>
            <p:nvPr/>
          </p:nvSpPr>
          <p:spPr>
            <a:xfrm>
              <a:off x="4992" y="528"/>
              <a:ext cx="240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97287" name="文本框 97286"/>
            <p:cNvSpPr txBox="1"/>
            <p:nvPr/>
          </p:nvSpPr>
          <p:spPr>
            <a:xfrm>
              <a:off x="4608" y="393"/>
              <a:ext cx="240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97288" name="矩形 97287"/>
          <p:cNvSpPr/>
          <p:nvPr/>
        </p:nvSpPr>
        <p:spPr>
          <a:xfrm>
            <a:off x="49530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err="1">
                <a:latin typeface="Times New Roman" panose="02020603050405020304" pitchFamily="18" charset="0"/>
              </a:rPr>
              <a:t>Xc,Yc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289" name="矩形 97288"/>
          <p:cNvSpPr/>
          <p:nvPr/>
        </p:nvSpPr>
        <p:spPr>
          <a:xfrm>
            <a:off x="1981200" y="2286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(0,0)</a:t>
            </a:r>
            <a:r>
              <a:rPr lang="en-US" altLang="zh-CN" sz="2400">
                <a:latin typeface="Times New Roman" panose="02020603050405020304" pitchFamily="18" charset="0"/>
              </a:rPr>
              <a:t>   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290" name="直接连接符 97289"/>
          <p:cNvSpPr/>
          <p:nvPr/>
        </p:nvSpPr>
        <p:spPr>
          <a:xfrm>
            <a:off x="1905000" y="2286000"/>
            <a:ext cx="0" cy="4267200"/>
          </a:xfrm>
          <a:prstGeom prst="line">
            <a:avLst/>
          </a:prstGeom>
          <a:ln w="349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91" name="直接连接符 97290"/>
          <p:cNvSpPr/>
          <p:nvPr/>
        </p:nvSpPr>
        <p:spPr>
          <a:xfrm>
            <a:off x="1981200" y="2286000"/>
            <a:ext cx="61722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92" name="矩形 97291"/>
          <p:cNvSpPr/>
          <p:nvPr/>
        </p:nvSpPr>
        <p:spPr>
          <a:xfrm>
            <a:off x="7924800" y="23622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X’+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93" name="矩形 97292"/>
          <p:cNvSpPr/>
          <p:nvPr/>
        </p:nvSpPr>
        <p:spPr>
          <a:xfrm>
            <a:off x="1219200" y="6324600"/>
            <a:ext cx="457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</a:rPr>
              <a:t>Y’+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94" name="矩形 97293"/>
          <p:cNvSpPr/>
          <p:nvPr/>
        </p:nvSpPr>
        <p:spPr>
          <a:xfrm>
            <a:off x="6248400" y="44958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X+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295" name="矩形 97294"/>
          <p:cNvSpPr/>
          <p:nvPr/>
        </p:nvSpPr>
        <p:spPr>
          <a:xfrm>
            <a:off x="4876800" y="2590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Y+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296" name="直接连接符 97295"/>
          <p:cNvSpPr/>
          <p:nvPr/>
        </p:nvSpPr>
        <p:spPr>
          <a:xfrm>
            <a:off x="2667000" y="4419600"/>
            <a:ext cx="4267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97" name="直接连接符 97296"/>
          <p:cNvSpPr/>
          <p:nvPr/>
        </p:nvSpPr>
        <p:spPr>
          <a:xfrm flipV="1">
            <a:off x="4800600" y="2590800"/>
            <a:ext cx="0" cy="304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98" name="椭圆 97297"/>
          <p:cNvSpPr/>
          <p:nvPr/>
        </p:nvSpPr>
        <p:spPr>
          <a:xfrm>
            <a:off x="54102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7299" name="矩形 97298"/>
          <p:cNvSpPr/>
          <p:nvPr/>
        </p:nvSpPr>
        <p:spPr>
          <a:xfrm>
            <a:off x="5257800" y="3810000"/>
            <a:ext cx="8382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(x,y)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300" name="直接连接符 97299"/>
          <p:cNvSpPr/>
          <p:nvPr/>
        </p:nvSpPr>
        <p:spPr>
          <a:xfrm>
            <a:off x="5486400" y="37338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301" name="直接连接符 97300"/>
          <p:cNvSpPr/>
          <p:nvPr/>
        </p:nvSpPr>
        <p:spPr>
          <a:xfrm flipH="1">
            <a:off x="4800600" y="3733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302" name="直接连接符 97301"/>
          <p:cNvSpPr/>
          <p:nvPr/>
        </p:nvSpPr>
        <p:spPr>
          <a:xfrm flipH="1">
            <a:off x="1847850" y="3695700"/>
            <a:ext cx="36576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303" name="直接连接符 97302"/>
          <p:cNvSpPr/>
          <p:nvPr/>
        </p:nvSpPr>
        <p:spPr>
          <a:xfrm flipV="1">
            <a:off x="5486400" y="2286000"/>
            <a:ext cx="0" cy="13716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97304" name="组合 97303"/>
          <p:cNvGrpSpPr/>
          <p:nvPr/>
        </p:nvGrpSpPr>
        <p:grpSpPr>
          <a:xfrm>
            <a:off x="2133600" y="5410200"/>
            <a:ext cx="2971800" cy="914400"/>
            <a:chOff x="1344" y="3408"/>
            <a:chExt cx="1872" cy="576"/>
          </a:xfrm>
        </p:grpSpPr>
        <p:sp>
          <p:nvSpPr>
            <p:cNvPr id="97305" name="矩形 97304"/>
            <p:cNvSpPr/>
            <p:nvPr/>
          </p:nvSpPr>
          <p:spPr>
            <a:xfrm>
              <a:off x="1344" y="3408"/>
              <a:ext cx="1872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X’=</a:t>
              </a:r>
              <a:r>
                <a:rPr lang="en-US" altLang="zh-CN" sz="3200" b="1" err="1">
                  <a:solidFill>
                    <a:srgbClr val="FF0066"/>
                  </a:solidFill>
                  <a:latin typeface="Times New Roman" panose="02020603050405020304" pitchFamily="18" charset="0"/>
                </a:rPr>
                <a:t>Xc+X</a:t>
              </a:r>
              <a:endPara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Y’=</a:t>
              </a:r>
              <a:r>
                <a:rPr lang="en-US" altLang="zh-CN" sz="3200" b="1" err="1">
                  <a:solidFill>
                    <a:srgbClr val="FF0066"/>
                  </a:solidFill>
                  <a:latin typeface="Times New Roman" panose="02020603050405020304" pitchFamily="18" charset="0"/>
                </a:rPr>
                <a:t>Yc</a:t>
              </a:r>
              <a:r>
                <a:rPr lang="en-US" altLang="zh-CN" sz="32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-Y</a:t>
              </a:r>
              <a:endPara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06" name="左大括号 97305"/>
            <p:cNvSpPr/>
            <p:nvPr/>
          </p:nvSpPr>
          <p:spPr>
            <a:xfrm>
              <a:off x="1584" y="3504"/>
              <a:ext cx="192" cy="432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jZhNjgyNWU2ZjBkYmYxM2ExMGJhNjc3NmQwOWZhOTAifQ=="/>
</p:tagLst>
</file>

<file path=ppt/theme/theme1.xml><?xml version="1.0" encoding="utf-8"?>
<a:theme xmlns:a="http://schemas.openxmlformats.org/drawingml/2006/main" name="Crayons">
  <a:themeElements>
    <a:clrScheme name="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5B9"/>
      </a:accent5>
      <a:accent6>
        <a:srgbClr val="000000"/>
      </a:accent6>
      <a:hlink>
        <a:srgbClr val="00B200"/>
      </a:hlink>
      <a:folHlink>
        <a:srgbClr val="703DFF"/>
      </a:folHlink>
    </a:clrScheme>
    <a:fontScheme name="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5B9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B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272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808000"/>
        </a:lt2>
        <a:accent1>
          <a:srgbClr val="99CC00"/>
        </a:accent1>
        <a:accent2>
          <a:srgbClr val="003300"/>
        </a:accent2>
        <a:accent3>
          <a:srgbClr val="ADB9AA"/>
        </a:accent3>
        <a:accent4>
          <a:srgbClr val="DCDCDC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ECFF"/>
        </a:dk2>
        <a:lt2>
          <a:srgbClr val="808080"/>
        </a:lt2>
        <a:accent1>
          <a:srgbClr val="33CCCC"/>
        </a:accent1>
        <a:accent2>
          <a:srgbClr val="006699"/>
        </a:accent2>
        <a:accent3>
          <a:srgbClr val="AAADB9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00FF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6666FF"/>
        </a:lt2>
        <a:accent1>
          <a:srgbClr val="33CCFF"/>
        </a:accent1>
        <a:accent2>
          <a:srgbClr val="0000FF"/>
        </a:accent2>
        <a:accent3>
          <a:srgbClr val="AAAAB9"/>
        </a:accent3>
        <a:accent4>
          <a:srgbClr val="DCDCDC"/>
        </a:accent4>
        <a:accent5>
          <a:srgbClr val="ADE2FF"/>
        </a:accent5>
        <a:accent6>
          <a:srgbClr val="0000E5"/>
        </a:accent6>
        <a:hlink>
          <a:srgbClr val="FFFF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80"/>
        </a:lt1>
        <a:dk2>
          <a:srgbClr val="FFFFFF"/>
        </a:dk2>
        <a:lt2>
          <a:srgbClr val="000000"/>
        </a:lt2>
        <a:accent1>
          <a:srgbClr val="CC66FF"/>
        </a:accent1>
        <a:accent2>
          <a:srgbClr val="990099"/>
        </a:accent2>
        <a:accent3>
          <a:srgbClr val="C1AAC1"/>
        </a:accent3>
        <a:accent4>
          <a:srgbClr val="DCDCDC"/>
        </a:accent4>
        <a:accent5>
          <a:srgbClr val="E2B9FF"/>
        </a:accent5>
        <a:accent6>
          <a:srgbClr val="890089"/>
        </a:accent6>
        <a:hlink>
          <a:srgbClr val="FF99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FFFFCC"/>
        </a:dk2>
        <a:lt2>
          <a:srgbClr val="FF3300"/>
        </a:lt2>
        <a:accent1>
          <a:srgbClr val="FF7C80"/>
        </a:accent1>
        <a:accent2>
          <a:srgbClr val="990000"/>
        </a:accent2>
        <a:accent3>
          <a:srgbClr val="C1AAAA"/>
        </a:accent3>
        <a:accent4>
          <a:srgbClr val="DCDCDC"/>
        </a:accent4>
        <a:accent5>
          <a:srgbClr val="FFBFC1"/>
        </a:accent5>
        <a:accent6>
          <a:srgbClr val="890000"/>
        </a:accent6>
        <a:hlink>
          <a:srgbClr val="FF66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rayons">
  <a:themeElements>
    <a:clrScheme name="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5B9"/>
      </a:accent5>
      <a:accent6>
        <a:srgbClr val="000000"/>
      </a:accent6>
      <a:hlink>
        <a:srgbClr val="00B200"/>
      </a:hlink>
      <a:folHlink>
        <a:srgbClr val="703DFF"/>
      </a:folHlink>
    </a:clrScheme>
    <a:fontScheme name="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5B9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B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272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808000"/>
        </a:lt2>
        <a:accent1>
          <a:srgbClr val="99CC00"/>
        </a:accent1>
        <a:accent2>
          <a:srgbClr val="003300"/>
        </a:accent2>
        <a:accent3>
          <a:srgbClr val="ADB9AA"/>
        </a:accent3>
        <a:accent4>
          <a:srgbClr val="DCDCDC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ECFF"/>
        </a:dk2>
        <a:lt2>
          <a:srgbClr val="808080"/>
        </a:lt2>
        <a:accent1>
          <a:srgbClr val="33CCCC"/>
        </a:accent1>
        <a:accent2>
          <a:srgbClr val="006699"/>
        </a:accent2>
        <a:accent3>
          <a:srgbClr val="AAADB9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00FF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66"/>
        </a:lt1>
        <a:dk2>
          <a:srgbClr val="FFFFFF"/>
        </a:dk2>
        <a:lt2>
          <a:srgbClr val="6666FF"/>
        </a:lt2>
        <a:accent1>
          <a:srgbClr val="33CCFF"/>
        </a:accent1>
        <a:accent2>
          <a:srgbClr val="0000FF"/>
        </a:accent2>
        <a:accent3>
          <a:srgbClr val="AAAAB9"/>
        </a:accent3>
        <a:accent4>
          <a:srgbClr val="DCDCDC"/>
        </a:accent4>
        <a:accent5>
          <a:srgbClr val="ADE2FF"/>
        </a:accent5>
        <a:accent6>
          <a:srgbClr val="0000E5"/>
        </a:accent6>
        <a:hlink>
          <a:srgbClr val="FFFF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80"/>
        </a:lt1>
        <a:dk2>
          <a:srgbClr val="FFFFFF"/>
        </a:dk2>
        <a:lt2>
          <a:srgbClr val="000000"/>
        </a:lt2>
        <a:accent1>
          <a:srgbClr val="CC66FF"/>
        </a:accent1>
        <a:accent2>
          <a:srgbClr val="990099"/>
        </a:accent2>
        <a:accent3>
          <a:srgbClr val="C1AAC1"/>
        </a:accent3>
        <a:accent4>
          <a:srgbClr val="DCDCDC"/>
        </a:accent4>
        <a:accent5>
          <a:srgbClr val="E2B9FF"/>
        </a:accent5>
        <a:accent6>
          <a:srgbClr val="890089"/>
        </a:accent6>
        <a:hlink>
          <a:srgbClr val="FF99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FFFFCC"/>
        </a:dk2>
        <a:lt2>
          <a:srgbClr val="FF3300"/>
        </a:lt2>
        <a:accent1>
          <a:srgbClr val="FF7C80"/>
        </a:accent1>
        <a:accent2>
          <a:srgbClr val="990000"/>
        </a:accent2>
        <a:accent3>
          <a:srgbClr val="C1AAAA"/>
        </a:accent3>
        <a:accent4>
          <a:srgbClr val="DCDCDC"/>
        </a:accent4>
        <a:accent5>
          <a:srgbClr val="FFBFC1"/>
        </a:accent5>
        <a:accent6>
          <a:srgbClr val="890000"/>
        </a:accent6>
        <a:hlink>
          <a:srgbClr val="FF66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10738</Words>
  <Application>WPS 演示</Application>
  <PresentationFormat>在屏幕上显示</PresentationFormat>
  <Paragraphs>815</Paragraphs>
  <Slides>67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67</vt:i4>
      </vt:variant>
    </vt:vector>
  </HeadingPairs>
  <TitlesOfParts>
    <vt:vector size="107" baseType="lpstr">
      <vt:lpstr>Arial</vt:lpstr>
      <vt:lpstr>宋体</vt:lpstr>
      <vt:lpstr>Wingdings</vt:lpstr>
      <vt:lpstr>Times New Roman</vt:lpstr>
      <vt:lpstr>Comic Sans MS</vt:lpstr>
      <vt:lpstr>Tahoma</vt:lpstr>
      <vt:lpstr>黑体</vt:lpstr>
      <vt:lpstr>隶书</vt:lpstr>
      <vt:lpstr>微软雅黑</vt:lpstr>
      <vt:lpstr>Arial Unicode MS</vt:lpstr>
      <vt:lpstr>Calibri</vt:lpstr>
      <vt:lpstr>-apple-system</vt:lpstr>
      <vt:lpstr>Segoe Print</vt:lpstr>
      <vt:lpstr>Crayons</vt:lpstr>
      <vt:lpstr>1_Crayons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天晴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谢忠红</dc:creator>
  <cp:lastModifiedBy>谢老师</cp:lastModifiedBy>
  <cp:revision>248</cp:revision>
  <dcterms:created xsi:type="dcterms:W3CDTF">2000-08-17T07:39:01Z</dcterms:created>
  <dcterms:modified xsi:type="dcterms:W3CDTF">2024-09-25T12:43:12Z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40CBDC01E2BF41D08DAFDE6822BCDC11_12</vt:lpwstr>
  </property>
  <property fmtid="{D5CDD505-2E9C-101B-9397-08002B2CF9AE}" pid="3" name="KSOProductBuildVer">
    <vt:lpwstr>2052-12.1.0.18276</vt:lpwstr>
  </property>
</Properties>
</file>